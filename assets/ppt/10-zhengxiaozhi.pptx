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64" r:id="rId2"/>
    <p:sldId id="265" r:id="rId3"/>
    <p:sldId id="258" r:id="rId4"/>
    <p:sldId id="1472" r:id="rId5"/>
    <p:sldId id="6535" r:id="rId6"/>
    <p:sldId id="1423" r:id="rId7"/>
    <p:sldId id="1459" r:id="rId8"/>
    <p:sldId id="1440" r:id="rId9"/>
    <p:sldId id="6538" r:id="rId10"/>
    <p:sldId id="1456" r:id="rId11"/>
    <p:sldId id="1457" r:id="rId12"/>
    <p:sldId id="6536" r:id="rId13"/>
    <p:sldId id="1447" r:id="rId14"/>
    <p:sldId id="1427" r:id="rId15"/>
    <p:sldId id="1469" r:id="rId16"/>
    <p:sldId id="1465" r:id="rId17"/>
    <p:sldId id="6520" r:id="rId18"/>
    <p:sldId id="6539" r:id="rId19"/>
    <p:sldId id="1458" r:id="rId20"/>
    <p:sldId id="1450" r:id="rId21"/>
    <p:sldId id="6533" r:id="rId22"/>
    <p:sldId id="6534" r:id="rId23"/>
    <p:sldId id="1466" r:id="rId24"/>
    <p:sldId id="6531" r:id="rId25"/>
    <p:sldId id="1454" r:id="rId26"/>
    <p:sldId id="6532" r:id="rId27"/>
    <p:sldId id="6529" r:id="rId28"/>
    <p:sldId id="6527" r:id="rId29"/>
    <p:sldId id="1464" r:id="rId30"/>
    <p:sldId id="6528" r:id="rId31"/>
    <p:sldId id="260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49" userDrawn="1">
          <p15:clr>
            <a:srgbClr val="A4A3A4"/>
          </p15:clr>
        </p15:guide>
        <p15:guide id="3" orient="horz" pos="142" userDrawn="1">
          <p15:clr>
            <a:srgbClr val="A4A3A4"/>
          </p15:clr>
        </p15:guide>
        <p15:guide id="4" orient="horz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FCD"/>
    <a:srgbClr val="006800"/>
    <a:srgbClr val="007600"/>
    <a:srgbClr val="008A00"/>
    <a:srgbClr val="009900"/>
    <a:srgbClr val="B3FFB3"/>
    <a:srgbClr val="69FF69"/>
    <a:srgbClr val="00E200"/>
    <a:srgbClr val="B6B7F7"/>
    <a:srgbClr val="037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1" autoAdjust="0"/>
  </p:normalViewPr>
  <p:slideViewPr>
    <p:cSldViewPr snapToGrid="0" showGuides="1">
      <p:cViewPr varScale="1">
        <p:scale>
          <a:sx n="84" d="100"/>
          <a:sy n="84" d="100"/>
        </p:scale>
        <p:origin x="210" y="45"/>
      </p:cViewPr>
      <p:guideLst>
        <p:guide pos="3749"/>
        <p:guide orient="horz" pos="142"/>
        <p:guide orient="horz" pos="2137"/>
      </p:guideLst>
    </p:cSldViewPr>
  </p:slideViewPr>
  <p:outlineViewPr>
    <p:cViewPr>
      <p:scale>
        <a:sx n="33" d="100"/>
        <a:sy n="33" d="100"/>
      </p:scale>
      <p:origin x="0" y="-2996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3065E8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  <c:pt idx="4">
                  <c:v>2025E</c:v>
                </c:pt>
                <c:pt idx="5">
                  <c:v>2026E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6"/>
                <c:pt idx="0">
                  <c:v>38.76</c:v>
                </c:pt>
                <c:pt idx="1">
                  <c:v>76.849999999999994</c:v>
                </c:pt>
                <c:pt idx="2">
                  <c:v>141.34</c:v>
                </c:pt>
                <c:pt idx="3">
                  <c:v>294.16000000000003</c:v>
                </c:pt>
                <c:pt idx="4">
                  <c:v>495.39</c:v>
                </c:pt>
                <c:pt idx="5">
                  <c:v>738.57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48-48AC-BA63-551228988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9120656"/>
        <c:axId val="156912257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1.05207767945131E-2"/>
                  <c:y val="-1.80044202978337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148-48AC-BA63-551228988BBD}"/>
                </c:ext>
              </c:extLst>
            </c:dLbl>
            <c:dLbl>
              <c:idx val="4"/>
              <c:layout>
                <c:manualLayout>
                  <c:x val="1.8937398230123699E-2"/>
                  <c:y val="-1.80044202978337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48-48AC-BA63-551228988BBD}"/>
                </c:ext>
              </c:extLst>
            </c:dLbl>
            <c:dLbl>
              <c:idx val="5"/>
              <c:layout>
                <c:manualLayout>
                  <c:x val="8.4166214356105294E-3"/>
                  <c:y val="-6.00147343261125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48-48AC-BA63-551228988B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  <c:pt idx="4">
                  <c:v>2025E</c:v>
                </c:pt>
                <c:pt idx="5">
                  <c:v>2026E</c:v>
                </c:pt>
              </c:strCache>
            </c:strRef>
          </c:cat>
          <c:val>
            <c:numRef>
              <c:f>Sheet1!$C$2:$C$8</c:f>
              <c:numCache>
                <c:formatCode>0.00%</c:formatCode>
                <c:ptCount val="6"/>
                <c:pt idx="0">
                  <c:v>1.3882000000000001</c:v>
                </c:pt>
                <c:pt idx="1">
                  <c:v>0.98270000000000002</c:v>
                </c:pt>
                <c:pt idx="2">
                  <c:v>0.83919999999999995</c:v>
                </c:pt>
                <c:pt idx="3">
                  <c:v>1.0811999999999999</c:v>
                </c:pt>
                <c:pt idx="4">
                  <c:v>0.68410000000000004</c:v>
                </c:pt>
                <c:pt idx="5">
                  <c:v>0.4909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148-48AC-BA63-551228988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5581840"/>
        <c:axId val="1575576080"/>
      </c:lineChart>
      <c:catAx>
        <c:axId val="156912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69122576"/>
        <c:crosses val="autoZero"/>
        <c:auto val="1"/>
        <c:lblAlgn val="ctr"/>
        <c:lblOffset val="100"/>
        <c:noMultiLvlLbl val="0"/>
      </c:catAx>
      <c:valAx>
        <c:axId val="1569122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69120656"/>
        <c:crosses val="autoZero"/>
        <c:crossBetween val="between"/>
        <c:majorUnit val="100"/>
        <c:minorUnit val="100"/>
      </c:valAx>
      <c:catAx>
        <c:axId val="157558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75576080"/>
        <c:crosses val="autoZero"/>
        <c:auto val="1"/>
        <c:lblAlgn val="ctr"/>
        <c:lblOffset val="100"/>
        <c:noMultiLvlLbl val="0"/>
      </c:catAx>
      <c:valAx>
        <c:axId val="1575576080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7558184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340b92a-e350-440b-9201-9ea3c88f3959}"/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655DB-653D-4703-B26A-4D5581D6A391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629DF-72D5-44A0-9F9B-653E9DD127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629DF-72D5-44A0-9F9B-653E9DD127A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629DF-72D5-44A0-9F9B-653E9DD127A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629DF-72D5-44A0-9F9B-653E9DD127A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629DF-72D5-44A0-9F9B-653E9DD127A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629DF-72D5-44A0-9F9B-653E9DD127AD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629DF-72D5-44A0-9F9B-653E9DD127AD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81" y="218315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396240"/>
            <a:ext cx="246743" cy="62230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81" y="218315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81" y="218315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29.xml"/><Relationship Id="rId21" Type="http://schemas.openxmlformats.org/officeDocument/2006/relationships/tags" Target="../tags/tag24.xml"/><Relationship Id="rId42" Type="http://schemas.openxmlformats.org/officeDocument/2006/relationships/tags" Target="../tags/tag45.xml"/><Relationship Id="rId47" Type="http://schemas.openxmlformats.org/officeDocument/2006/relationships/tags" Target="../tags/tag50.xml"/><Relationship Id="rId63" Type="http://schemas.openxmlformats.org/officeDocument/2006/relationships/tags" Target="../tags/tag66.xml"/><Relationship Id="rId68" Type="http://schemas.openxmlformats.org/officeDocument/2006/relationships/tags" Target="../tags/tag71.xml"/><Relationship Id="rId84" Type="http://schemas.openxmlformats.org/officeDocument/2006/relationships/tags" Target="../tags/tag87.xml"/><Relationship Id="rId89" Type="http://schemas.openxmlformats.org/officeDocument/2006/relationships/image" Target="../media/image19.png"/><Relationship Id="rId16" Type="http://schemas.openxmlformats.org/officeDocument/2006/relationships/tags" Target="../tags/tag19.xml"/><Relationship Id="rId11" Type="http://schemas.openxmlformats.org/officeDocument/2006/relationships/tags" Target="../tags/tag14.xml"/><Relationship Id="rId32" Type="http://schemas.openxmlformats.org/officeDocument/2006/relationships/tags" Target="../tags/tag35.xml"/><Relationship Id="rId37" Type="http://schemas.openxmlformats.org/officeDocument/2006/relationships/tags" Target="../tags/tag40.xml"/><Relationship Id="rId53" Type="http://schemas.openxmlformats.org/officeDocument/2006/relationships/tags" Target="../tags/tag56.xml"/><Relationship Id="rId58" Type="http://schemas.openxmlformats.org/officeDocument/2006/relationships/tags" Target="../tags/tag61.xml"/><Relationship Id="rId74" Type="http://schemas.openxmlformats.org/officeDocument/2006/relationships/tags" Target="../tags/tag77.xml"/><Relationship Id="rId79" Type="http://schemas.openxmlformats.org/officeDocument/2006/relationships/tags" Target="../tags/tag82.xml"/><Relationship Id="rId5" Type="http://schemas.openxmlformats.org/officeDocument/2006/relationships/tags" Target="../tags/tag8.xml"/><Relationship Id="rId90" Type="http://schemas.openxmlformats.org/officeDocument/2006/relationships/image" Target="../media/image20.png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43" Type="http://schemas.openxmlformats.org/officeDocument/2006/relationships/tags" Target="../tags/tag46.xml"/><Relationship Id="rId48" Type="http://schemas.openxmlformats.org/officeDocument/2006/relationships/tags" Target="../tags/tag51.xml"/><Relationship Id="rId56" Type="http://schemas.openxmlformats.org/officeDocument/2006/relationships/tags" Target="../tags/tag59.xml"/><Relationship Id="rId64" Type="http://schemas.openxmlformats.org/officeDocument/2006/relationships/tags" Target="../tags/tag67.xml"/><Relationship Id="rId69" Type="http://schemas.openxmlformats.org/officeDocument/2006/relationships/tags" Target="../tags/tag72.xml"/><Relationship Id="rId77" Type="http://schemas.openxmlformats.org/officeDocument/2006/relationships/tags" Target="../tags/tag80.xml"/><Relationship Id="rId8" Type="http://schemas.openxmlformats.org/officeDocument/2006/relationships/tags" Target="../tags/tag11.xml"/><Relationship Id="rId51" Type="http://schemas.openxmlformats.org/officeDocument/2006/relationships/tags" Target="../tags/tag54.xml"/><Relationship Id="rId72" Type="http://schemas.openxmlformats.org/officeDocument/2006/relationships/tags" Target="../tags/tag75.xml"/><Relationship Id="rId80" Type="http://schemas.openxmlformats.org/officeDocument/2006/relationships/tags" Target="../tags/tag83.xml"/><Relationship Id="rId85" Type="http://schemas.openxmlformats.org/officeDocument/2006/relationships/slideLayout" Target="../slideLayouts/slideLayout4.xml"/><Relationship Id="rId3" Type="http://schemas.openxmlformats.org/officeDocument/2006/relationships/tags" Target="../tags/tag6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38" Type="http://schemas.openxmlformats.org/officeDocument/2006/relationships/tags" Target="../tags/tag41.xml"/><Relationship Id="rId46" Type="http://schemas.openxmlformats.org/officeDocument/2006/relationships/tags" Target="../tags/tag49.xml"/><Relationship Id="rId59" Type="http://schemas.openxmlformats.org/officeDocument/2006/relationships/tags" Target="../tags/tag62.xml"/><Relationship Id="rId67" Type="http://schemas.openxmlformats.org/officeDocument/2006/relationships/tags" Target="../tags/tag70.xml"/><Relationship Id="rId20" Type="http://schemas.openxmlformats.org/officeDocument/2006/relationships/tags" Target="../tags/tag23.xml"/><Relationship Id="rId41" Type="http://schemas.openxmlformats.org/officeDocument/2006/relationships/tags" Target="../tags/tag44.xml"/><Relationship Id="rId54" Type="http://schemas.openxmlformats.org/officeDocument/2006/relationships/tags" Target="../tags/tag57.xml"/><Relationship Id="rId62" Type="http://schemas.openxmlformats.org/officeDocument/2006/relationships/tags" Target="../tags/tag65.xml"/><Relationship Id="rId70" Type="http://schemas.openxmlformats.org/officeDocument/2006/relationships/tags" Target="../tags/tag73.xml"/><Relationship Id="rId75" Type="http://schemas.openxmlformats.org/officeDocument/2006/relationships/tags" Target="../tags/tag78.xml"/><Relationship Id="rId83" Type="http://schemas.openxmlformats.org/officeDocument/2006/relationships/tags" Target="../tags/tag86.xml"/><Relationship Id="rId88" Type="http://schemas.openxmlformats.org/officeDocument/2006/relationships/image" Target="../media/image18.png"/><Relationship Id="rId91" Type="http://schemas.openxmlformats.org/officeDocument/2006/relationships/image" Target="../media/image21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tags" Target="../tags/tag39.xml"/><Relationship Id="rId49" Type="http://schemas.openxmlformats.org/officeDocument/2006/relationships/tags" Target="../tags/tag52.xml"/><Relationship Id="rId57" Type="http://schemas.openxmlformats.org/officeDocument/2006/relationships/tags" Target="../tags/tag60.xml"/><Relationship Id="rId10" Type="http://schemas.openxmlformats.org/officeDocument/2006/relationships/tags" Target="../tags/tag13.xml"/><Relationship Id="rId31" Type="http://schemas.openxmlformats.org/officeDocument/2006/relationships/tags" Target="../tags/tag34.xml"/><Relationship Id="rId44" Type="http://schemas.openxmlformats.org/officeDocument/2006/relationships/tags" Target="../tags/tag47.xml"/><Relationship Id="rId52" Type="http://schemas.openxmlformats.org/officeDocument/2006/relationships/tags" Target="../tags/tag55.xml"/><Relationship Id="rId60" Type="http://schemas.openxmlformats.org/officeDocument/2006/relationships/tags" Target="../tags/tag63.xml"/><Relationship Id="rId65" Type="http://schemas.openxmlformats.org/officeDocument/2006/relationships/tags" Target="../tags/tag68.xml"/><Relationship Id="rId73" Type="http://schemas.openxmlformats.org/officeDocument/2006/relationships/tags" Target="../tags/tag76.xml"/><Relationship Id="rId78" Type="http://schemas.openxmlformats.org/officeDocument/2006/relationships/tags" Target="../tags/tag81.xml"/><Relationship Id="rId81" Type="http://schemas.openxmlformats.org/officeDocument/2006/relationships/tags" Target="../tags/tag84.xml"/><Relationship Id="rId86" Type="http://schemas.openxmlformats.org/officeDocument/2006/relationships/notesSlide" Target="../notesSlides/notesSlide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39" Type="http://schemas.openxmlformats.org/officeDocument/2006/relationships/tags" Target="../tags/tag42.xml"/><Relationship Id="rId34" Type="http://schemas.openxmlformats.org/officeDocument/2006/relationships/tags" Target="../tags/tag37.xml"/><Relationship Id="rId50" Type="http://schemas.openxmlformats.org/officeDocument/2006/relationships/tags" Target="../tags/tag53.xml"/><Relationship Id="rId55" Type="http://schemas.openxmlformats.org/officeDocument/2006/relationships/tags" Target="../tags/tag58.xml"/><Relationship Id="rId76" Type="http://schemas.openxmlformats.org/officeDocument/2006/relationships/tags" Target="../tags/tag79.xml"/><Relationship Id="rId7" Type="http://schemas.openxmlformats.org/officeDocument/2006/relationships/tags" Target="../tags/tag10.xml"/><Relationship Id="rId71" Type="http://schemas.openxmlformats.org/officeDocument/2006/relationships/tags" Target="../tags/tag74.xml"/><Relationship Id="rId92" Type="http://schemas.openxmlformats.org/officeDocument/2006/relationships/image" Target="../media/image22.svg"/><Relationship Id="rId2" Type="http://schemas.openxmlformats.org/officeDocument/2006/relationships/tags" Target="../tags/tag5.xml"/><Relationship Id="rId29" Type="http://schemas.openxmlformats.org/officeDocument/2006/relationships/tags" Target="../tags/tag32.xml"/><Relationship Id="rId24" Type="http://schemas.openxmlformats.org/officeDocument/2006/relationships/tags" Target="../tags/tag27.xml"/><Relationship Id="rId40" Type="http://schemas.openxmlformats.org/officeDocument/2006/relationships/tags" Target="../tags/tag43.xml"/><Relationship Id="rId45" Type="http://schemas.openxmlformats.org/officeDocument/2006/relationships/tags" Target="../tags/tag48.xml"/><Relationship Id="rId66" Type="http://schemas.openxmlformats.org/officeDocument/2006/relationships/tags" Target="../tags/tag69.xml"/><Relationship Id="rId87" Type="http://schemas.openxmlformats.org/officeDocument/2006/relationships/image" Target="../media/image17.png"/><Relationship Id="rId61" Type="http://schemas.openxmlformats.org/officeDocument/2006/relationships/tags" Target="../tags/tag64.xml"/><Relationship Id="rId82" Type="http://schemas.openxmlformats.org/officeDocument/2006/relationships/tags" Target="../tags/tag85.xml"/><Relationship Id="rId19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26" Type="http://schemas.openxmlformats.org/officeDocument/2006/relationships/tags" Target="../tags/tag113.xml"/><Relationship Id="rId39" Type="http://schemas.openxmlformats.org/officeDocument/2006/relationships/tags" Target="../tags/tag126.xml"/><Relationship Id="rId21" Type="http://schemas.openxmlformats.org/officeDocument/2006/relationships/tags" Target="../tags/tag108.xml"/><Relationship Id="rId34" Type="http://schemas.openxmlformats.org/officeDocument/2006/relationships/tags" Target="../tags/tag121.xml"/><Relationship Id="rId42" Type="http://schemas.openxmlformats.org/officeDocument/2006/relationships/tags" Target="../tags/tag129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0" Type="http://schemas.openxmlformats.org/officeDocument/2006/relationships/tags" Target="../tags/tag107.xml"/><Relationship Id="rId29" Type="http://schemas.openxmlformats.org/officeDocument/2006/relationships/tags" Target="../tags/tag116.xml"/><Relationship Id="rId41" Type="http://schemas.openxmlformats.org/officeDocument/2006/relationships/tags" Target="../tags/tag128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24" Type="http://schemas.openxmlformats.org/officeDocument/2006/relationships/tags" Target="../tags/tag111.xml"/><Relationship Id="rId32" Type="http://schemas.openxmlformats.org/officeDocument/2006/relationships/tags" Target="../tags/tag119.xml"/><Relationship Id="rId37" Type="http://schemas.openxmlformats.org/officeDocument/2006/relationships/tags" Target="../tags/tag124.xml"/><Relationship Id="rId40" Type="http://schemas.openxmlformats.org/officeDocument/2006/relationships/tags" Target="../tags/tag127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23" Type="http://schemas.openxmlformats.org/officeDocument/2006/relationships/tags" Target="../tags/tag110.xml"/><Relationship Id="rId28" Type="http://schemas.openxmlformats.org/officeDocument/2006/relationships/tags" Target="../tags/tag115.xml"/><Relationship Id="rId36" Type="http://schemas.openxmlformats.org/officeDocument/2006/relationships/tags" Target="../tags/tag123.xml"/><Relationship Id="rId10" Type="http://schemas.openxmlformats.org/officeDocument/2006/relationships/tags" Target="../tags/tag97.xml"/><Relationship Id="rId19" Type="http://schemas.openxmlformats.org/officeDocument/2006/relationships/tags" Target="../tags/tag106.xml"/><Relationship Id="rId31" Type="http://schemas.openxmlformats.org/officeDocument/2006/relationships/tags" Target="../tags/tag118.xml"/><Relationship Id="rId44" Type="http://schemas.openxmlformats.org/officeDocument/2006/relationships/slideLayout" Target="../slideLayouts/slideLayout4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Relationship Id="rId22" Type="http://schemas.openxmlformats.org/officeDocument/2006/relationships/tags" Target="../tags/tag109.xml"/><Relationship Id="rId27" Type="http://schemas.openxmlformats.org/officeDocument/2006/relationships/tags" Target="../tags/tag114.xml"/><Relationship Id="rId30" Type="http://schemas.openxmlformats.org/officeDocument/2006/relationships/tags" Target="../tags/tag117.xml"/><Relationship Id="rId35" Type="http://schemas.openxmlformats.org/officeDocument/2006/relationships/tags" Target="../tags/tag122.xml"/><Relationship Id="rId43" Type="http://schemas.openxmlformats.org/officeDocument/2006/relationships/tags" Target="../tags/tag130.xml"/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5" Type="http://schemas.openxmlformats.org/officeDocument/2006/relationships/tags" Target="../tags/tag112.xml"/><Relationship Id="rId33" Type="http://schemas.openxmlformats.org/officeDocument/2006/relationships/tags" Target="../tags/tag120.xml"/><Relationship Id="rId38" Type="http://schemas.openxmlformats.org/officeDocument/2006/relationships/tags" Target="../tags/tag12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19" Type="http://schemas.openxmlformats.org/officeDocument/2006/relationships/image" Target="../media/image40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43.xml"/><Relationship Id="rId18" Type="http://schemas.openxmlformats.org/officeDocument/2006/relationships/tags" Target="../tags/tag148.xml"/><Relationship Id="rId26" Type="http://schemas.openxmlformats.org/officeDocument/2006/relationships/tags" Target="../tags/tag156.xml"/><Relationship Id="rId39" Type="http://schemas.openxmlformats.org/officeDocument/2006/relationships/tags" Target="../tags/tag169.xml"/><Relationship Id="rId21" Type="http://schemas.openxmlformats.org/officeDocument/2006/relationships/tags" Target="../tags/tag151.xml"/><Relationship Id="rId34" Type="http://schemas.openxmlformats.org/officeDocument/2006/relationships/tags" Target="../tags/tag164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5" Type="http://schemas.openxmlformats.org/officeDocument/2006/relationships/tags" Target="../tags/tag155.xml"/><Relationship Id="rId33" Type="http://schemas.openxmlformats.org/officeDocument/2006/relationships/tags" Target="../tags/tag163.xml"/><Relationship Id="rId38" Type="http://schemas.openxmlformats.org/officeDocument/2006/relationships/tags" Target="../tags/tag168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20" Type="http://schemas.openxmlformats.org/officeDocument/2006/relationships/tags" Target="../tags/tag150.xml"/><Relationship Id="rId29" Type="http://schemas.openxmlformats.org/officeDocument/2006/relationships/tags" Target="../tags/tag159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24" Type="http://schemas.openxmlformats.org/officeDocument/2006/relationships/tags" Target="../tags/tag154.xml"/><Relationship Id="rId32" Type="http://schemas.openxmlformats.org/officeDocument/2006/relationships/tags" Target="../tags/tag162.xml"/><Relationship Id="rId37" Type="http://schemas.openxmlformats.org/officeDocument/2006/relationships/tags" Target="../tags/tag167.xml"/><Relationship Id="rId40" Type="http://schemas.openxmlformats.org/officeDocument/2006/relationships/slideLayout" Target="../slideLayouts/slideLayout4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23" Type="http://schemas.openxmlformats.org/officeDocument/2006/relationships/tags" Target="../tags/tag153.xml"/><Relationship Id="rId28" Type="http://schemas.openxmlformats.org/officeDocument/2006/relationships/tags" Target="../tags/tag158.xml"/><Relationship Id="rId36" Type="http://schemas.openxmlformats.org/officeDocument/2006/relationships/tags" Target="../tags/tag166.xml"/><Relationship Id="rId10" Type="http://schemas.openxmlformats.org/officeDocument/2006/relationships/tags" Target="../tags/tag140.xml"/><Relationship Id="rId19" Type="http://schemas.openxmlformats.org/officeDocument/2006/relationships/tags" Target="../tags/tag149.xml"/><Relationship Id="rId31" Type="http://schemas.openxmlformats.org/officeDocument/2006/relationships/tags" Target="../tags/tag161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Relationship Id="rId22" Type="http://schemas.openxmlformats.org/officeDocument/2006/relationships/tags" Target="../tags/tag152.xml"/><Relationship Id="rId27" Type="http://schemas.openxmlformats.org/officeDocument/2006/relationships/tags" Target="../tags/tag157.xml"/><Relationship Id="rId30" Type="http://schemas.openxmlformats.org/officeDocument/2006/relationships/tags" Target="../tags/tag160.xml"/><Relationship Id="rId35" Type="http://schemas.openxmlformats.org/officeDocument/2006/relationships/tags" Target="../tags/tag165.xml"/><Relationship Id="rId8" Type="http://schemas.openxmlformats.org/officeDocument/2006/relationships/tags" Target="../tags/tag138.xml"/><Relationship Id="rId3" Type="http://schemas.openxmlformats.org/officeDocument/2006/relationships/tags" Target="../tags/tag13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tags" Target="../tags/tag182.xml"/><Relationship Id="rId18" Type="http://schemas.openxmlformats.org/officeDocument/2006/relationships/tags" Target="../tags/tag187.xml"/><Relationship Id="rId26" Type="http://schemas.openxmlformats.org/officeDocument/2006/relationships/tags" Target="../tags/tag195.xml"/><Relationship Id="rId3" Type="http://schemas.openxmlformats.org/officeDocument/2006/relationships/tags" Target="../tags/tag172.xml"/><Relationship Id="rId21" Type="http://schemas.openxmlformats.org/officeDocument/2006/relationships/tags" Target="../tags/tag190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17" Type="http://schemas.openxmlformats.org/officeDocument/2006/relationships/tags" Target="../tags/tag186.xml"/><Relationship Id="rId25" Type="http://schemas.openxmlformats.org/officeDocument/2006/relationships/tags" Target="../tags/tag194.xml"/><Relationship Id="rId2" Type="http://schemas.openxmlformats.org/officeDocument/2006/relationships/tags" Target="../tags/tag171.xml"/><Relationship Id="rId16" Type="http://schemas.openxmlformats.org/officeDocument/2006/relationships/tags" Target="../tags/tag185.xml"/><Relationship Id="rId20" Type="http://schemas.openxmlformats.org/officeDocument/2006/relationships/tags" Target="../tags/tag189.xml"/><Relationship Id="rId29" Type="http://schemas.openxmlformats.org/officeDocument/2006/relationships/notesSlide" Target="../notesSlides/notesSlide4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24" Type="http://schemas.openxmlformats.org/officeDocument/2006/relationships/tags" Target="../tags/tag193.xml"/><Relationship Id="rId5" Type="http://schemas.openxmlformats.org/officeDocument/2006/relationships/tags" Target="../tags/tag174.xml"/><Relationship Id="rId15" Type="http://schemas.openxmlformats.org/officeDocument/2006/relationships/tags" Target="../tags/tag184.xml"/><Relationship Id="rId23" Type="http://schemas.openxmlformats.org/officeDocument/2006/relationships/tags" Target="../tags/tag192.xml"/><Relationship Id="rId28" Type="http://schemas.openxmlformats.org/officeDocument/2006/relationships/slideLayout" Target="../slideLayouts/slideLayout4.xml"/><Relationship Id="rId10" Type="http://schemas.openxmlformats.org/officeDocument/2006/relationships/tags" Target="../tags/tag179.xml"/><Relationship Id="rId19" Type="http://schemas.openxmlformats.org/officeDocument/2006/relationships/tags" Target="../tags/tag188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tags" Target="../tags/tag183.xml"/><Relationship Id="rId22" Type="http://schemas.openxmlformats.org/officeDocument/2006/relationships/tags" Target="../tags/tag191.xml"/><Relationship Id="rId27" Type="http://schemas.openxmlformats.org/officeDocument/2006/relationships/tags" Target="../tags/tag19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文本框 546"/>
          <p:cNvSpPr txBox="1"/>
          <p:nvPr/>
        </p:nvSpPr>
        <p:spPr>
          <a:xfrm>
            <a:off x="583565" y="3254600"/>
            <a:ext cx="6184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en-US" altLang="zh-CN" sz="3600" b="1" spc="300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600" b="1" spc="300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政务智能咨询服务系统</a:t>
            </a:r>
            <a:endParaRPr lang="en-US" altLang="zh-CN" sz="3600" b="1" spc="300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8" name="文本框 547"/>
          <p:cNvSpPr txBox="1"/>
          <p:nvPr/>
        </p:nvSpPr>
        <p:spPr>
          <a:xfrm>
            <a:off x="580031" y="2201926"/>
            <a:ext cx="46762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800" b="1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政小智</a:t>
            </a:r>
            <a:r>
              <a:rPr lang="en-US" altLang="zh-CN" sz="4800" b="1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Seek</a:t>
            </a:r>
            <a:r>
              <a:rPr lang="en-US" altLang="zh-CN" sz="4800" b="1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Gov</a:t>
            </a:r>
          </a:p>
        </p:txBody>
      </p:sp>
      <p:sp>
        <p:nvSpPr>
          <p:cNvPr id="550" name="文本框 549"/>
          <p:cNvSpPr txBox="1"/>
          <p:nvPr>
            <p:custDataLst>
              <p:tags r:id="rId1"/>
            </p:custDataLst>
          </p:nvPr>
        </p:nvSpPr>
        <p:spPr>
          <a:xfrm flipH="1">
            <a:off x="628952" y="4622201"/>
            <a:ext cx="6020445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spc="300" dirty="0">
                <a:solidFill>
                  <a:schemeClr val="accent1">
                    <a:lumMod val="100000"/>
                    <a:alpha val="7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charset="-122"/>
                <a:sym typeface="+mn-ea"/>
              </a:rPr>
              <a:t>2025</a:t>
            </a:r>
            <a:r>
              <a:rPr lang="zh-CN" altLang="en-US" sz="2000" spc="300" dirty="0">
                <a:solidFill>
                  <a:schemeClr val="accent1">
                    <a:lumMod val="100000"/>
                    <a:alpha val="7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charset="-122"/>
                <a:sym typeface="+mn-ea"/>
              </a:rPr>
              <a:t>软件应用与开发 大数据与计算机学院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664303" y="1341947"/>
            <a:ext cx="5495340" cy="4569936"/>
            <a:chOff x="6257903" y="1321627"/>
            <a:chExt cx="5495340" cy="456993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hqprint"/>
            <a:srcRect l="37505" t="15449" r="2784" b="10067"/>
            <a:stretch>
              <a:fillRect/>
            </a:stretch>
          </p:blipFill>
          <p:spPr>
            <a:xfrm>
              <a:off x="6257903" y="1321627"/>
              <a:ext cx="5495340" cy="4569936"/>
            </a:xfrm>
            <a:prstGeom prst="rect">
              <a:avLst/>
            </a:prstGeom>
          </p:spPr>
        </p:pic>
        <p:pic>
          <p:nvPicPr>
            <p:cNvPr id="7" name="图形 6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2573" y="2223005"/>
              <a:ext cx="3816598" cy="3242940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21" y="198450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文本框 274"/>
          <p:cNvSpPr txBox="1"/>
          <p:nvPr/>
        </p:nvSpPr>
        <p:spPr>
          <a:xfrm>
            <a:off x="3177673" y="525184"/>
            <a:ext cx="65202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spc="3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</a:rPr>
              <a:t>CONTENTS</a:t>
            </a:r>
            <a:endParaRPr lang="zh-CN" altLang="en-US" sz="8800" b="1" spc="300" dirty="0">
              <a:solidFill>
                <a:schemeClr val="accent1">
                  <a:lumMod val="20000"/>
                  <a:lumOff val="80000"/>
                </a:schemeClr>
              </a:solidFill>
              <a:latin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3485696" y="443962"/>
            <a:ext cx="4917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37BF3"/>
                </a:solidFill>
                <a:latin typeface="+mj-ea"/>
                <a:ea typeface="+mj-ea"/>
              </a:rPr>
              <a:t>目录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23862" y="2693428"/>
            <a:ext cx="2831978" cy="2460703"/>
            <a:chOff x="123862" y="2970427"/>
            <a:chExt cx="2831978" cy="2460703"/>
          </a:xfrm>
        </p:grpSpPr>
        <p:sp>
          <p:nvSpPr>
            <p:cNvPr id="276" name="标题 1"/>
            <p:cNvSpPr txBox="1"/>
            <p:nvPr/>
          </p:nvSpPr>
          <p:spPr>
            <a:xfrm>
              <a:off x="123862" y="4603678"/>
              <a:ext cx="2831978" cy="43960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2400" b="1" dirty="0">
                  <a:ln w="12700">
                    <a:noFill/>
                  </a:ln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  <a:cs typeface="Source Han Sans CN Bold"/>
                </a:rPr>
                <a:t>项目概述</a:t>
              </a:r>
              <a:endParaRPr kumimoji="1" lang="zh-CN" altLang="en-US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615174" y="5154131"/>
              <a:ext cx="18493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Project overview</a:t>
              </a:r>
              <a:endParaRPr lang="zh-CN" altLang="en-US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762856" y="2970427"/>
              <a:ext cx="1410178" cy="1409664"/>
              <a:chOff x="762856" y="2970427"/>
              <a:chExt cx="1410178" cy="1409664"/>
            </a:xfrm>
          </p:grpSpPr>
          <p:sp>
            <p:nvSpPr>
              <p:cNvPr id="10" name="8"/>
              <p:cNvSpPr/>
              <p:nvPr/>
            </p:nvSpPr>
            <p:spPr>
              <a:xfrm>
                <a:off x="762856" y="2970427"/>
                <a:ext cx="1410178" cy="1409664"/>
              </a:xfrm>
              <a:prstGeom prst="ellipse">
                <a:avLst/>
              </a:prstGeom>
              <a:gradFill flip="none" rotWithShape="1">
                <a:gsLst>
                  <a:gs pos="5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30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9" name="8"/>
              <p:cNvSpPr/>
              <p:nvPr/>
            </p:nvSpPr>
            <p:spPr>
              <a:xfrm>
                <a:off x="902927" y="3105252"/>
                <a:ext cx="1130038" cy="1129630"/>
              </a:xfrm>
              <a:prstGeom prst="ellipse">
                <a:avLst/>
              </a:prstGeom>
              <a:gradFill>
                <a:gsLst>
                  <a:gs pos="1000">
                    <a:schemeClr val="accent1">
                      <a:lumMod val="100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132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6" name="104"/>
              <p:cNvSpPr txBox="1"/>
              <p:nvPr/>
            </p:nvSpPr>
            <p:spPr>
              <a:xfrm>
                <a:off x="968737" y="3377680"/>
                <a:ext cx="9984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ea"/>
                  </a:rPr>
                  <a:t>01</a:t>
                </a: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3095225" y="2693428"/>
            <a:ext cx="2831978" cy="2460703"/>
            <a:chOff x="3162275" y="2970427"/>
            <a:chExt cx="2831978" cy="2460703"/>
          </a:xfrm>
        </p:grpSpPr>
        <p:sp>
          <p:nvSpPr>
            <p:cNvPr id="279" name="标题 1"/>
            <p:cNvSpPr txBox="1"/>
            <p:nvPr/>
          </p:nvSpPr>
          <p:spPr>
            <a:xfrm>
              <a:off x="3162275" y="4603678"/>
              <a:ext cx="2831978" cy="43960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2400" b="1" dirty="0">
                  <a:ln w="12700">
                    <a:noFill/>
                  </a:ln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  <a:cs typeface="Source Han Sans CN Bold"/>
                </a:rPr>
                <a:t>建设目标</a:t>
              </a:r>
              <a:endParaRPr kumimoji="1" lang="zh-CN" altLang="en-US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80" name="文本框 279"/>
            <p:cNvSpPr txBox="1"/>
            <p:nvPr/>
          </p:nvSpPr>
          <p:spPr>
            <a:xfrm>
              <a:off x="4134713" y="5154131"/>
              <a:ext cx="8871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targets</a:t>
              </a:r>
              <a:endParaRPr lang="zh-CN" altLang="en-US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25238" y="2970427"/>
              <a:ext cx="1410178" cy="1409664"/>
              <a:chOff x="3727683" y="2970427"/>
              <a:chExt cx="1410178" cy="1409664"/>
            </a:xfrm>
          </p:grpSpPr>
          <p:sp>
            <p:nvSpPr>
              <p:cNvPr id="13" name="8"/>
              <p:cNvSpPr/>
              <p:nvPr/>
            </p:nvSpPr>
            <p:spPr>
              <a:xfrm>
                <a:off x="3727683" y="2970427"/>
                <a:ext cx="1410178" cy="1409664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20000"/>
                      <a:lumOff val="80000"/>
                    </a:schemeClr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15" name="8"/>
              <p:cNvSpPr/>
              <p:nvPr/>
            </p:nvSpPr>
            <p:spPr>
              <a:xfrm>
                <a:off x="3854068" y="3105252"/>
                <a:ext cx="1130038" cy="1129630"/>
              </a:xfrm>
              <a:prstGeom prst="ellipse">
                <a:avLst/>
              </a:prstGeom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50000"/>
                    </a:schemeClr>
                  </a:gs>
                </a:gsLst>
                <a:lin ang="132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16" name="104"/>
              <p:cNvSpPr txBox="1"/>
              <p:nvPr/>
            </p:nvSpPr>
            <p:spPr>
              <a:xfrm>
                <a:off x="3919878" y="3377680"/>
                <a:ext cx="9984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ea"/>
                  </a:rPr>
                  <a:t>02</a:t>
                </a: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9037950" y="2693428"/>
            <a:ext cx="2831978" cy="2460703"/>
            <a:chOff x="9239102" y="2970427"/>
            <a:chExt cx="2831978" cy="2460703"/>
          </a:xfrm>
        </p:grpSpPr>
        <p:sp>
          <p:nvSpPr>
            <p:cNvPr id="285" name="标题 1"/>
            <p:cNvSpPr txBox="1"/>
            <p:nvPr/>
          </p:nvSpPr>
          <p:spPr>
            <a:xfrm>
              <a:off x="9239102" y="4603678"/>
              <a:ext cx="2831978" cy="43960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2400" b="1" dirty="0">
                  <a:ln w="12700">
                    <a:noFill/>
                  </a:ln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项目总结</a:t>
              </a:r>
              <a:endParaRPr kumimoji="1" lang="zh-CN" altLang="en-US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86" name="文本框 285"/>
            <p:cNvSpPr txBox="1"/>
            <p:nvPr/>
          </p:nvSpPr>
          <p:spPr>
            <a:xfrm>
              <a:off x="9723065" y="5154131"/>
              <a:ext cx="20229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Project Summary</a:t>
              </a:r>
              <a:endParaRPr lang="zh-CN" altLang="en-US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9950002" y="2970427"/>
              <a:ext cx="1410178" cy="1409664"/>
              <a:chOff x="9950002" y="2970427"/>
              <a:chExt cx="1410178" cy="1409664"/>
            </a:xfrm>
          </p:grpSpPr>
          <p:sp>
            <p:nvSpPr>
              <p:cNvPr id="23" name="8"/>
              <p:cNvSpPr/>
              <p:nvPr/>
            </p:nvSpPr>
            <p:spPr>
              <a:xfrm>
                <a:off x="9950002" y="2970427"/>
                <a:ext cx="1410178" cy="1409664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25" name="8"/>
              <p:cNvSpPr/>
              <p:nvPr/>
            </p:nvSpPr>
            <p:spPr>
              <a:xfrm>
                <a:off x="10109045" y="3127024"/>
                <a:ext cx="1130038" cy="112963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50000"/>
                    </a:schemeClr>
                  </a:gs>
                </a:gsLst>
                <a:lin ang="132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26" name="104"/>
              <p:cNvSpPr txBox="1"/>
              <p:nvPr/>
            </p:nvSpPr>
            <p:spPr>
              <a:xfrm>
                <a:off x="10153083" y="3377680"/>
                <a:ext cx="9984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ea"/>
                  </a:rPr>
                  <a:t>04</a:t>
                </a: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21" y="198450"/>
            <a:ext cx="858608" cy="85860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6066588" y="2693428"/>
            <a:ext cx="2846764" cy="2460703"/>
            <a:chOff x="6200688" y="2970427"/>
            <a:chExt cx="2846764" cy="2460703"/>
          </a:xfrm>
        </p:grpSpPr>
        <p:sp>
          <p:nvSpPr>
            <p:cNvPr id="31" name="标题 1"/>
            <p:cNvSpPr txBox="1"/>
            <p:nvPr/>
          </p:nvSpPr>
          <p:spPr>
            <a:xfrm>
              <a:off x="6200688" y="4603678"/>
              <a:ext cx="2831978" cy="43960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rtlCol="0" anchor="t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2400" b="1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功能介绍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457256" y="5154131"/>
              <a:ext cx="25901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Function Introduction</a:t>
              </a:r>
              <a:endParaRPr lang="zh-CN" altLang="en-US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6887620" y="2970427"/>
              <a:ext cx="1410178" cy="1409664"/>
              <a:chOff x="6896742" y="2970427"/>
              <a:chExt cx="1410178" cy="1409664"/>
            </a:xfrm>
          </p:grpSpPr>
          <p:sp>
            <p:nvSpPr>
              <p:cNvPr id="34" name="8"/>
              <p:cNvSpPr/>
              <p:nvPr/>
            </p:nvSpPr>
            <p:spPr>
              <a:xfrm>
                <a:off x="6896742" y="2970427"/>
                <a:ext cx="1410178" cy="1409664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100000">
                    <a:schemeClr val="accent3">
                      <a:lumMod val="40000"/>
                      <a:lumOff val="60000"/>
                    </a:schemeClr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35" name="8"/>
              <p:cNvSpPr/>
              <p:nvPr/>
            </p:nvSpPr>
            <p:spPr>
              <a:xfrm>
                <a:off x="7023127" y="3105252"/>
                <a:ext cx="1130038" cy="1129630"/>
              </a:xfrm>
              <a:prstGeom prst="ellipse">
                <a:avLst/>
              </a:prstGeom>
              <a:gradFill>
                <a:gsLst>
                  <a:gs pos="2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132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2000" b="1" kern="0" dirty="0">
                  <a:solidFill>
                    <a:srgbClr val="C00000"/>
                  </a:solidFill>
                  <a:latin typeface="思源黑体 CN"/>
                </a:endParaRPr>
              </a:p>
            </p:txBody>
          </p:sp>
          <p:sp>
            <p:nvSpPr>
              <p:cNvPr id="36" name="104"/>
              <p:cNvSpPr txBox="1"/>
              <p:nvPr/>
            </p:nvSpPr>
            <p:spPr>
              <a:xfrm>
                <a:off x="7088937" y="3377680"/>
                <a:ext cx="9984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ea"/>
                  </a:rPr>
                  <a:t>03</a:t>
                </a: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椭圆 993"/>
          <p:cNvSpPr/>
          <p:nvPr/>
        </p:nvSpPr>
        <p:spPr>
          <a:xfrm>
            <a:off x="-1246356" y="2020719"/>
            <a:ext cx="2728686" cy="27286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42900" dist="38100" dir="2700000" sx="101000" sy="101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5" name="椭圆 994"/>
          <p:cNvSpPr/>
          <p:nvPr/>
        </p:nvSpPr>
        <p:spPr>
          <a:xfrm>
            <a:off x="-2207273" y="1059802"/>
            <a:ext cx="4650522" cy="465052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6" name="椭圆 995"/>
          <p:cNvSpPr/>
          <p:nvPr/>
        </p:nvSpPr>
        <p:spPr>
          <a:xfrm>
            <a:off x="-2938180" y="321643"/>
            <a:ext cx="6199418" cy="61994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7" name="椭圆 996"/>
          <p:cNvSpPr/>
          <p:nvPr/>
        </p:nvSpPr>
        <p:spPr>
          <a:xfrm>
            <a:off x="-3719230" y="-459407"/>
            <a:ext cx="7761518" cy="77615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0" name="椭圆 999"/>
          <p:cNvSpPr/>
          <p:nvPr/>
        </p:nvSpPr>
        <p:spPr>
          <a:xfrm>
            <a:off x="2241333" y="161986"/>
            <a:ext cx="319314" cy="319314"/>
          </a:xfrm>
          <a:prstGeom prst="ellipse">
            <a:avLst/>
          </a:prstGeom>
          <a:gradFill flip="none" rotWithShape="1">
            <a:gsLst>
              <a:gs pos="3000">
                <a:schemeClr val="accent1">
                  <a:lumMod val="75000"/>
                </a:schemeClr>
              </a:gs>
              <a:gs pos="93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1" name="椭圆 1000"/>
          <p:cNvSpPr/>
          <p:nvPr/>
        </p:nvSpPr>
        <p:spPr>
          <a:xfrm>
            <a:off x="3510575" y="4925918"/>
            <a:ext cx="319314" cy="319314"/>
          </a:xfrm>
          <a:prstGeom prst="ellipse">
            <a:avLst/>
          </a:prstGeom>
          <a:gradFill>
            <a:gsLst>
              <a:gs pos="3000">
                <a:schemeClr val="accent3">
                  <a:lumMod val="75000"/>
                </a:schemeClr>
              </a:gs>
              <a:gs pos="93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Freeform: Shape 685"/>
          <p:cNvSpPr/>
          <p:nvPr/>
        </p:nvSpPr>
        <p:spPr>
          <a:xfrm>
            <a:off x="-606218" y="2640115"/>
            <a:ext cx="1448412" cy="1448412"/>
          </a:xfrm>
          <a:custGeom>
            <a:avLst/>
            <a:gdLst>
              <a:gd name="connsiteX0" fmla="*/ 1328357 w 1328356"/>
              <a:gd name="connsiteY0" fmla="*/ 664178 h 1328356"/>
              <a:gd name="connsiteX1" fmla="*/ 664178 w 1328356"/>
              <a:gd name="connsiteY1" fmla="*/ 1328357 h 1328356"/>
              <a:gd name="connsiteX2" fmla="*/ 0 w 1328356"/>
              <a:gd name="connsiteY2" fmla="*/ 664178 h 1328356"/>
              <a:gd name="connsiteX3" fmla="*/ 664178 w 1328356"/>
              <a:gd name="connsiteY3" fmla="*/ 0 h 1328356"/>
              <a:gd name="connsiteX4" fmla="*/ 1328357 w 1328356"/>
              <a:gd name="connsiteY4" fmla="*/ 664178 h 13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356" h="1328356">
                <a:moveTo>
                  <a:pt x="1328357" y="664178"/>
                </a:moveTo>
                <a:cubicBezTo>
                  <a:pt x="1328357" y="1030994"/>
                  <a:pt x="1030994" y="1328357"/>
                  <a:pt x="664178" y="1328357"/>
                </a:cubicBezTo>
                <a:cubicBezTo>
                  <a:pt x="297363" y="1328357"/>
                  <a:pt x="0" y="1030994"/>
                  <a:pt x="0" y="664178"/>
                </a:cubicBezTo>
                <a:cubicBezTo>
                  <a:pt x="0" y="297363"/>
                  <a:pt x="297363" y="0"/>
                  <a:pt x="664178" y="0"/>
                </a:cubicBezTo>
                <a:cubicBezTo>
                  <a:pt x="1030994" y="0"/>
                  <a:pt x="1328357" y="297363"/>
                  <a:pt x="1328357" y="664178"/>
                </a:cubicBez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0"/>
                </a:schemeClr>
              </a:gs>
              <a:gs pos="74000">
                <a:schemeClr val="accent1"/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0" dist="444500" dir="8100000" sx="90000" sy="90000" algn="tr" rotWithShape="0">
              <a:prstClr val="black">
                <a:alpha val="8000"/>
              </a:prstClr>
            </a:outerShdw>
            <a:softEdge rad="0"/>
          </a:effectLst>
        </p:spPr>
        <p:txBody>
          <a:bodyPr rtlCol="0" anchor="ctr"/>
          <a:lstStyle/>
          <a:p>
            <a:pPr algn="ctr">
              <a:defRPr/>
            </a:pPr>
            <a:endParaRPr lang="en-ID" sz="4400" b="1" kern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40" name="标题 1"/>
          <p:cNvSpPr txBox="1"/>
          <p:nvPr/>
        </p:nvSpPr>
        <p:spPr>
          <a:xfrm>
            <a:off x="5824486" y="3046664"/>
            <a:ext cx="5645081" cy="98911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项目概述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824486" y="4189076"/>
            <a:ext cx="2025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  <a:alpha val="52000"/>
                  </a:schemeClr>
                </a:solidFill>
                <a:latin typeface="+mn-ea"/>
              </a:rPr>
              <a:t>Project overview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923016" y="4650148"/>
            <a:ext cx="5012594" cy="76182"/>
            <a:chOff x="867506" y="2506993"/>
            <a:chExt cx="5012594" cy="76182"/>
          </a:xfrm>
        </p:grpSpPr>
        <p:cxnSp>
          <p:nvCxnSpPr>
            <p:cNvPr id="3" name="直接连接符"/>
            <p:cNvCxnSpPr/>
            <p:nvPr/>
          </p:nvCxnSpPr>
          <p:spPr>
            <a:xfrm>
              <a:off x="867506" y="2550808"/>
              <a:ext cx="50125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"/>
            <p:cNvSpPr/>
            <p:nvPr/>
          </p:nvSpPr>
          <p:spPr>
            <a:xfrm>
              <a:off x="872586" y="2506993"/>
              <a:ext cx="2251614" cy="7618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accent2"/>
                </a:solidFill>
                <a:latin typeface="+mj-ea"/>
                <a:ea typeface="+mj-ea"/>
                <a:cs typeface="OPPOSans B" panose="00020600040101010101" pitchFamily="18" charset="-122"/>
              </a:endParaRPr>
            </a:p>
          </p:txBody>
        </p:sp>
      </p:grpSp>
      <p:sp>
        <p:nvSpPr>
          <p:cNvPr id="5" name="圆角矩形"/>
          <p:cNvSpPr/>
          <p:nvPr/>
        </p:nvSpPr>
        <p:spPr>
          <a:xfrm>
            <a:off x="5824487" y="2232228"/>
            <a:ext cx="2253732" cy="528081"/>
          </a:xfrm>
          <a:prstGeom prst="roundRect">
            <a:avLst>
              <a:gd name="adj" fmla="val 50000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OPPOSans B" panose="00020600040101010101" pitchFamily="18" charset="-122"/>
              </a:rPr>
              <a:t>第一部分</a:t>
            </a:r>
          </a:p>
        </p:txBody>
      </p:sp>
      <p:sp>
        <p:nvSpPr>
          <p:cNvPr id="23" name="觅知网-不倒翁ID:189359941"/>
          <p:cNvSpPr/>
          <p:nvPr/>
        </p:nvSpPr>
        <p:spPr>
          <a:xfrm>
            <a:off x="10828423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4" name="觅知网-不倒翁ID:189359941"/>
          <p:cNvSpPr/>
          <p:nvPr/>
        </p:nvSpPr>
        <p:spPr>
          <a:xfrm>
            <a:off x="1108991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5" name="觅知网-不倒翁ID:189359941"/>
          <p:cNvSpPr/>
          <p:nvPr/>
        </p:nvSpPr>
        <p:spPr>
          <a:xfrm>
            <a:off x="1135140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6" name="8"/>
          <p:cNvSpPr/>
          <p:nvPr/>
        </p:nvSpPr>
        <p:spPr>
          <a:xfrm>
            <a:off x="295228" y="-142653"/>
            <a:ext cx="928928" cy="928592"/>
          </a:xfrm>
          <a:prstGeom prst="ellipse">
            <a:avLst/>
          </a:prstGeom>
          <a:gradFill flip="none" rotWithShape="1">
            <a:gsLst>
              <a:gs pos="1000">
                <a:schemeClr val="accent1">
                  <a:lumMod val="10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7" name="8"/>
          <p:cNvSpPr/>
          <p:nvPr/>
        </p:nvSpPr>
        <p:spPr>
          <a:xfrm>
            <a:off x="2122468" y="3287559"/>
            <a:ext cx="526678" cy="526488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8" name="8"/>
          <p:cNvSpPr/>
          <p:nvPr/>
        </p:nvSpPr>
        <p:spPr>
          <a:xfrm>
            <a:off x="2500149" y="1494231"/>
            <a:ext cx="335200" cy="33507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9" name="8"/>
          <p:cNvSpPr/>
          <p:nvPr/>
        </p:nvSpPr>
        <p:spPr>
          <a:xfrm>
            <a:off x="1109519" y="6005663"/>
            <a:ext cx="442980" cy="44282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81" y="218315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7034" y="382369"/>
            <a:ext cx="745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01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322912" y="366248"/>
            <a:ext cx="4149527" cy="57778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政策支持及市场分析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249030" y="1775047"/>
          <a:ext cx="5667567" cy="3592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725767" y="5465331"/>
            <a:ext cx="2281572" cy="216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200" spc="16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阿里巴巴普惠体" panose="00020600040101010101" charset="-122"/>
              </a:defRPr>
            </a:lvl1pPr>
          </a:lstStyle>
          <a:p>
            <a:pPr algn="r"/>
            <a:r>
              <a:rPr lang="zh-CN" altLang="en-US" dirty="0">
                <a:sym typeface="阿里巴巴普惠体" panose="00020600040101010101" charset="-122"/>
              </a:rPr>
              <a:t>数据来源：艾媒数据中心</a:t>
            </a:r>
            <a:endParaRPr lang="zh-CN" altLang="en-US" spc="16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332" y="1181743"/>
            <a:ext cx="52343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kern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阿里巴巴普惠体" panose="00020600040101010101" charset="-122"/>
              </a:rPr>
              <a:t>2021-2026</a:t>
            </a:r>
            <a:r>
              <a:rPr lang="en-US" altLang="zh-CN" sz="1600" b="1" kern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阿里巴巴普惠体" panose="00020600040101010101" charset="-122"/>
              </a:rPr>
              <a:t>年中国AI大模型市场规模及预测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18093" y="1648167"/>
            <a:ext cx="479627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34764" y="1200100"/>
            <a:ext cx="5763372" cy="418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 新华网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习近平总书记关切事丨“人工智能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+”…》</a:t>
            </a:r>
          </a:p>
        </p:txBody>
      </p:sp>
      <p:sp>
        <p:nvSpPr>
          <p:cNvPr id="10" name="矩形 9"/>
          <p:cNvSpPr/>
          <p:nvPr/>
        </p:nvSpPr>
        <p:spPr>
          <a:xfrm>
            <a:off x="6234765" y="1750836"/>
            <a:ext cx="576337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习近平总书记对发展人工智能高度关注，指出：“中国高度重视人工智能发展，积极推动互联网、大数据、人工智能和实体经济深度融合，培育壮大智能产业，加快发展新质生产力，为高质量发展提供新动能。”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0791" y="5779584"/>
            <a:ext cx="5836547" cy="919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200" spc="16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阿里巴巴普惠体" panose="00020600040101010101" charset="-122"/>
              </a:defRPr>
            </a:lvl1pPr>
          </a:lstStyle>
          <a:p>
            <a:pPr algn="l"/>
            <a:r>
              <a:rPr lang="en-US" altLang="zh-CN" sz="1400" spc="160" dirty="0">
                <a:solidFill>
                  <a:schemeClr val="tx1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2021-2026</a:t>
            </a:r>
            <a:r>
              <a:rPr lang="zh-CN" altLang="en-US" sz="1400" spc="160" dirty="0">
                <a:solidFill>
                  <a:schemeClr val="tx1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年中国</a:t>
            </a:r>
            <a:r>
              <a:rPr lang="en-US" altLang="zh-CN" sz="1400" spc="160" dirty="0">
                <a:solidFill>
                  <a:schemeClr val="tx1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AI</a:t>
            </a:r>
            <a:r>
              <a:rPr lang="zh-CN" altLang="en-US" sz="1400" spc="160" dirty="0">
                <a:solidFill>
                  <a:schemeClr val="tx1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大模型市场规模</a:t>
            </a:r>
            <a:r>
              <a:rPr lang="zh-CN" altLang="en-US" sz="16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从</a:t>
            </a:r>
            <a:r>
              <a:rPr lang="en-US" altLang="zh-CN" sz="16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40</a:t>
            </a:r>
            <a:r>
              <a:rPr lang="zh-CN" altLang="en-US" sz="16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亿元增长至</a:t>
            </a:r>
            <a:r>
              <a:rPr lang="en-US" altLang="zh-CN" sz="16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700</a:t>
            </a:r>
            <a:r>
              <a:rPr lang="zh-CN" altLang="en-US" sz="16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亿元</a:t>
            </a:r>
            <a:r>
              <a:rPr lang="zh-CN" altLang="en-US" sz="1400" spc="160" dirty="0">
                <a:solidFill>
                  <a:schemeClr val="tx1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，增长率呈现</a:t>
            </a:r>
            <a:r>
              <a:rPr lang="zh-CN" altLang="en-US" sz="16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持续正向增长</a:t>
            </a:r>
            <a:r>
              <a:rPr lang="zh-CN" altLang="en-US" sz="1400" spc="160" dirty="0">
                <a:solidFill>
                  <a:schemeClr val="tx1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rPr>
              <a:t>，增速虽趋缓，但整体规模显著扩大，说明市场在不断扩张的同时逐渐趋于成熟稳定。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308634" y="4742584"/>
            <a:ext cx="5763372" cy="418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 网信办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生成式人工智能服务管理暂行办法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</a:p>
        </p:txBody>
      </p:sp>
      <p:sp>
        <p:nvSpPr>
          <p:cNvPr id="18" name="矩形 17"/>
          <p:cNvSpPr/>
          <p:nvPr/>
        </p:nvSpPr>
        <p:spPr>
          <a:xfrm>
            <a:off x="6308635" y="5293320"/>
            <a:ext cx="57633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鼓励生成式人工智能技术在各行业、各领域的创新应用，生成积极健康、向上向善的优质内容。支持行业组织、企业、教育和科研机构、公共文化机构、有关专业机构等在生成式人工智能技术创新、数据资源建设、转化应用、风险防范等方面开展协作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288315" y="2703724"/>
            <a:ext cx="5763372" cy="418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 国家数据局等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《“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数据要素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×”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三年行动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…》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88316" y="3254460"/>
            <a:ext cx="576337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《</a:t>
            </a:r>
            <a:r>
              <a:rPr lang="zh-CN" altLang="en-US" sz="1400" dirty="0"/>
              <a:t>征求意见稿</a:t>
            </a:r>
            <a:r>
              <a:rPr lang="en-US" altLang="zh-CN" sz="1400" dirty="0"/>
              <a:t>》</a:t>
            </a:r>
            <a:r>
              <a:rPr lang="zh-CN" altLang="en-US" sz="1400" dirty="0"/>
              <a:t>从激活数据要素潜能、总体要求、重点行动等五方面作出要求，部署了“数据要素</a:t>
            </a:r>
            <a:r>
              <a:rPr lang="en-US" altLang="zh-CN" sz="1400" dirty="0"/>
              <a:t>×</a:t>
            </a:r>
            <a:r>
              <a:rPr lang="zh-CN" altLang="en-US" sz="1400" dirty="0"/>
              <a:t>智能制造”、“数据要素</a:t>
            </a:r>
            <a:r>
              <a:rPr lang="en-US" altLang="zh-CN" sz="1400" dirty="0"/>
              <a:t>×</a:t>
            </a:r>
            <a:r>
              <a:rPr lang="zh-CN" altLang="en-US" sz="1400" dirty="0"/>
              <a:t>商贸流通”等</a:t>
            </a:r>
            <a:r>
              <a:rPr lang="en-US" altLang="zh-CN" sz="1400" dirty="0"/>
              <a:t>12</a:t>
            </a:r>
            <a:r>
              <a:rPr lang="zh-CN" altLang="en-US" sz="1400" dirty="0"/>
              <a:t>项重点行动。其中，在交通运输、金融服务、科技创新等多个场景均提到人工智能。</a:t>
            </a:r>
            <a:r>
              <a:rPr lang="en-US" altLang="zh-CN" sz="1400" dirty="0"/>
              <a:t>《</a:t>
            </a:r>
            <a:r>
              <a:rPr lang="zh-CN" altLang="en-US" sz="1400" dirty="0"/>
              <a:t>征求意见稿</a:t>
            </a:r>
            <a:r>
              <a:rPr lang="en-US" altLang="zh-CN" sz="1400" dirty="0"/>
              <a:t>》</a:t>
            </a:r>
            <a:r>
              <a:rPr lang="zh-CN" altLang="en-US" sz="1400" dirty="0"/>
              <a:t>提出，支持开展通用人工智能大模型和垂直领域人工智能大模型训练。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13521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01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1381729" y="355600"/>
            <a:ext cx="5294403" cy="593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政务服务现状与痛点</a:t>
            </a:r>
            <a:endParaRPr kumimoji="1" lang="zh-CN" altLang="en-US" sz="11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613521" y="1612415"/>
            <a:ext cx="5202332" cy="4889985"/>
          </a:xfrm>
          <a:prstGeom prst="roundRect">
            <a:avLst>
              <a:gd name="adj" fmla="val 3377"/>
            </a:avLst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264C6"/>
                </a:solidFill>
              </a:rPr>
              <a:t>服务效率低</a:t>
            </a:r>
            <a:r>
              <a:rPr lang="zh-CN" altLang="en-US" dirty="0"/>
              <a:t>：</a:t>
            </a:r>
            <a:r>
              <a:rPr lang="zh-CN" altLang="en-US" b="1" dirty="0"/>
              <a:t>传统咨询问答机器人</a:t>
            </a:r>
            <a:r>
              <a:rPr lang="zh-CN" altLang="en-US" dirty="0"/>
              <a:t>缺乏对人类意图的精确理解，仅通过</a:t>
            </a:r>
            <a:r>
              <a:rPr lang="zh-CN" altLang="en-US" b="1" dirty="0"/>
              <a:t>预置问答方式</a:t>
            </a:r>
            <a:r>
              <a:rPr lang="zh-CN" altLang="en-US" dirty="0"/>
              <a:t>，难以实现对群众、企业的诉求进行针对性解答。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264C6"/>
                </a:solidFill>
              </a:rPr>
              <a:t>人力成本高</a:t>
            </a:r>
            <a:r>
              <a:rPr lang="zh-CN" altLang="en-US" dirty="0"/>
              <a:t>：传统政务服务中，大量重复性工作（如审批、咨询、常规公文写作等）</a:t>
            </a:r>
            <a:r>
              <a:rPr lang="zh-CN" altLang="en-US" b="1" dirty="0"/>
              <a:t>需要人工完成，工作强度大，效率低</a:t>
            </a:r>
            <a:r>
              <a:rPr lang="zh-CN" altLang="en-US" dirty="0"/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264C6"/>
                </a:solidFill>
              </a:rPr>
              <a:t>数据利用不足</a:t>
            </a:r>
            <a:r>
              <a:rPr lang="zh-CN" altLang="en-US" dirty="0"/>
              <a:t>：政务数据分散在各个部门，信息数据变化较快，缺乏统一的数据采集、存储与共享机制，导致</a:t>
            </a:r>
            <a:r>
              <a:rPr lang="zh-CN" altLang="en-US" b="1" dirty="0"/>
              <a:t>数据孤岛现象严重</a:t>
            </a:r>
            <a:r>
              <a:rPr lang="zh-CN" altLang="en-US" dirty="0"/>
              <a:t>，影响政务服务质量和决策的科学性。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274425" y="1612414"/>
            <a:ext cx="5012482" cy="4889985"/>
          </a:xfrm>
          <a:prstGeom prst="roundRect">
            <a:avLst>
              <a:gd name="adj" fmla="val 3377"/>
            </a:avLst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b="1" kern="100" dirty="0">
                <a:solidFill>
                  <a:srgbClr val="0264C6"/>
                </a:solidFill>
                <a:effectLst/>
                <a:latin typeface="+mn-ea"/>
                <a:cs typeface="Times New Roman" panose="02020603050405020304" pitchFamily="18" charset="0"/>
              </a:rPr>
              <a:t>闭源模型</a:t>
            </a:r>
            <a:r>
              <a:rPr lang="zh-CN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目前大模型多为</a:t>
            </a:r>
            <a:r>
              <a:rPr lang="zh-CN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闭源模型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，技术细节和算法不公开，开发者和用户难以深入了解和定制。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b="1" kern="100" dirty="0">
                <a:solidFill>
                  <a:srgbClr val="0264C6"/>
                </a:solidFill>
                <a:effectLst/>
                <a:latin typeface="+mn-ea"/>
                <a:cs typeface="Times New Roman" panose="02020603050405020304" pitchFamily="18" charset="0"/>
              </a:rPr>
              <a:t>数据安全与隐私保护弱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：数据存储在</a:t>
            </a:r>
            <a:r>
              <a:rPr lang="zh-CN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外部服务器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，安全性和隐私保护较弱。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b="1" kern="100" dirty="0">
                <a:solidFill>
                  <a:srgbClr val="0264C6"/>
                </a:solidFill>
                <a:effectLst/>
                <a:latin typeface="+mn-ea"/>
                <a:cs typeface="Times New Roman" panose="02020603050405020304" pitchFamily="18" charset="0"/>
              </a:rPr>
              <a:t>训练成本高</a:t>
            </a:r>
            <a:r>
              <a:rPr lang="zh-CN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训练和部署成本高，算力需求大，对</a:t>
            </a:r>
            <a:r>
              <a:rPr lang="zh-CN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财政资源有限的政务部门有制约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b="1" kern="100" dirty="0">
                <a:solidFill>
                  <a:srgbClr val="0264C6"/>
                </a:solidFill>
                <a:effectLst/>
                <a:latin typeface="+mn-ea"/>
                <a:cs typeface="Times New Roman" panose="02020603050405020304" pitchFamily="18" charset="0"/>
              </a:rPr>
              <a:t>场景应用单一</a:t>
            </a:r>
            <a:r>
              <a:rPr lang="zh-CN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功能单一，多聚焦于特定功能，难以满足</a:t>
            </a:r>
            <a:r>
              <a:rPr lang="zh-CN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政务领域的多样化需求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2265830" y="1315538"/>
            <a:ext cx="1882588" cy="59375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     </a:t>
            </a:r>
            <a:r>
              <a:rPr lang="zh-CN" altLang="en-US" sz="2000" b="1" dirty="0"/>
              <a:t>政务咨询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7839372" y="1315538"/>
            <a:ext cx="1882588" cy="59375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     </a:t>
            </a:r>
            <a:r>
              <a:rPr lang="zh-CN" altLang="en-US" sz="2000" b="1" dirty="0"/>
              <a:t>技术支撑</a:t>
            </a:r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9424" y="1431726"/>
            <a:ext cx="356732" cy="356732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7560" y="1438451"/>
            <a:ext cx="363066" cy="363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521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381729" y="355600"/>
            <a:ext cx="5294403" cy="593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大模型让产业模式改变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83798" y="1025330"/>
            <a:ext cx="9890601" cy="8744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月，国产大模型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R1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上线，开源的同时支持私有化部署，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并且训练成本相对更低，功能更强大，为政务服务接入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大模型提供更多的可能性</a:t>
            </a:r>
          </a:p>
        </p:txBody>
      </p:sp>
      <p:sp>
        <p:nvSpPr>
          <p:cNvPr id="16" name="线条"/>
          <p:cNvSpPr/>
          <p:nvPr/>
        </p:nvSpPr>
        <p:spPr>
          <a:xfrm flipH="1">
            <a:off x="11654120" y="2439491"/>
            <a:ext cx="16229" cy="3730224"/>
          </a:xfrm>
          <a:prstGeom prst="line">
            <a:avLst/>
          </a:prstGeom>
          <a:solidFill>
            <a:srgbClr val="FFFFFF"/>
          </a:solidFill>
          <a:ln w="12700" cap="rnd">
            <a:solidFill>
              <a:srgbClr val="006DE8"/>
            </a:solidFill>
            <a:prstDash val="solid"/>
            <a:round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0">
                <a:solidFill>
                  <a:srgbClr val="EE220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400" b="0" i="0" u="none" strike="noStrike" kern="0" cap="none" spc="0" normalizeH="0" baseline="0" noProof="0" dirty="0">
              <a:ln>
                <a:noFill/>
              </a:ln>
              <a:solidFill>
                <a:srgbClr val="EE220C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7" name="圆形"/>
          <p:cNvSpPr/>
          <p:nvPr/>
        </p:nvSpPr>
        <p:spPr>
          <a:xfrm flipH="1">
            <a:off x="5260148" y="2251278"/>
            <a:ext cx="4230514" cy="4331590"/>
          </a:xfrm>
          <a:prstGeom prst="ellipse">
            <a:avLst/>
          </a:prstGeom>
          <a:gradFill flip="none" rotWithShape="1">
            <a:gsLst>
              <a:gs pos="0">
                <a:srgbClr val="9FA0A0">
                  <a:alpha val="15000"/>
                </a:srgbClr>
              </a:gs>
              <a:gs pos="21819">
                <a:srgbClr val="9FA0A0">
                  <a:alpha val="0"/>
                </a:srgbClr>
              </a:gs>
            </a:gsLst>
            <a:lin ang="0" scaled="0"/>
          </a:gradFill>
          <a:ln w="3175" cap="flat">
            <a:gradFill flip="none" rotWithShape="1">
              <a:gsLst>
                <a:gs pos="76000">
                  <a:srgbClr val="666666">
                    <a:lumMod val="40000"/>
                    <a:lumOff val="60000"/>
                    <a:alpha val="0"/>
                  </a:srgbClr>
                </a:gs>
                <a:gs pos="100000">
                  <a:srgbClr val="0070C0"/>
                </a:gs>
              </a:gsLst>
              <a:lin ang="10800000" scaled="1"/>
              <a:tileRect/>
            </a:gradFill>
            <a:prstDash val="solid"/>
            <a:round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8" name="圆形"/>
          <p:cNvSpPr/>
          <p:nvPr/>
        </p:nvSpPr>
        <p:spPr>
          <a:xfrm flipH="1">
            <a:off x="4364303" y="2804097"/>
            <a:ext cx="2738684" cy="3239247"/>
          </a:xfrm>
          <a:prstGeom prst="ellipse">
            <a:avLst/>
          </a:prstGeom>
          <a:gradFill flip="none" rotWithShape="1">
            <a:gsLst>
              <a:gs pos="0">
                <a:srgbClr val="9FA0A0">
                  <a:alpha val="15000"/>
                </a:srgbClr>
              </a:gs>
              <a:gs pos="21819">
                <a:srgbClr val="9FA0A0">
                  <a:alpha val="0"/>
                </a:srgbClr>
              </a:gs>
            </a:gsLst>
            <a:lin ang="0" scaled="0"/>
          </a:gradFill>
          <a:ln w="3175" cap="flat">
            <a:gradFill flip="none" rotWithShape="1">
              <a:gsLst>
                <a:gs pos="76000">
                  <a:srgbClr val="666666">
                    <a:lumMod val="40000"/>
                    <a:lumOff val="60000"/>
                    <a:alpha val="0"/>
                  </a:srgbClr>
                </a:gs>
                <a:gs pos="100000">
                  <a:srgbClr val="0070C0"/>
                </a:gs>
              </a:gsLst>
              <a:lin ang="10800000" scaled="1"/>
              <a:tileRect/>
            </a:gradFill>
            <a:prstDash val="solid"/>
            <a:round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9" name="圆形"/>
          <p:cNvSpPr/>
          <p:nvPr/>
        </p:nvSpPr>
        <p:spPr>
          <a:xfrm flipH="1">
            <a:off x="3051925" y="3300935"/>
            <a:ext cx="1801729" cy="2253268"/>
          </a:xfrm>
          <a:prstGeom prst="ellipse">
            <a:avLst/>
          </a:prstGeom>
          <a:gradFill flip="none" rotWithShape="1">
            <a:gsLst>
              <a:gs pos="0">
                <a:srgbClr val="9FA0A0">
                  <a:alpha val="15000"/>
                </a:srgbClr>
              </a:gs>
              <a:gs pos="21819">
                <a:srgbClr val="9FA0A0">
                  <a:alpha val="0"/>
                </a:srgbClr>
              </a:gs>
            </a:gsLst>
            <a:lin ang="0" scaled="0"/>
          </a:gradFill>
          <a:ln w="3175" cap="flat">
            <a:gradFill flip="none" rotWithShape="1">
              <a:gsLst>
                <a:gs pos="76000">
                  <a:srgbClr val="666666">
                    <a:lumMod val="40000"/>
                    <a:lumOff val="60000"/>
                    <a:alpha val="0"/>
                  </a:srgbClr>
                </a:gs>
                <a:gs pos="100000">
                  <a:srgbClr val="0070C0"/>
                </a:gs>
              </a:gsLst>
              <a:lin ang="10800000" scaled="1"/>
              <a:tileRect/>
            </a:gradFill>
            <a:prstDash val="solid"/>
            <a:round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20" name="线条"/>
          <p:cNvSpPr/>
          <p:nvPr/>
        </p:nvSpPr>
        <p:spPr>
          <a:xfrm>
            <a:off x="3135199" y="4405896"/>
            <a:ext cx="6672513" cy="0"/>
          </a:xfrm>
          <a:prstGeom prst="line">
            <a:avLst/>
          </a:prstGeom>
          <a:solidFill>
            <a:srgbClr val="FFFFFF"/>
          </a:solidFill>
          <a:ln w="12700" cap="rnd">
            <a:solidFill>
              <a:srgbClr val="006DE8"/>
            </a:solidFill>
            <a:prstDash val="solid"/>
            <a:round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0">
                <a:solidFill>
                  <a:srgbClr val="EE220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400" b="0" i="0" u="none" strike="noStrike" kern="0" cap="none" spc="0" normalizeH="0" baseline="0" noProof="0" dirty="0">
              <a:ln>
                <a:noFill/>
              </a:ln>
              <a:solidFill>
                <a:srgbClr val="EE220C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21" name="圆形"/>
          <p:cNvSpPr/>
          <p:nvPr/>
        </p:nvSpPr>
        <p:spPr>
          <a:xfrm>
            <a:off x="4807615" y="4363069"/>
            <a:ext cx="92506" cy="85653"/>
          </a:xfrm>
          <a:prstGeom prst="ellipse">
            <a:avLst/>
          </a:prstGeom>
          <a:solidFill>
            <a:srgbClr val="0070C0"/>
          </a:solidFill>
          <a:ln w="12700" cap="flat">
            <a:solidFill>
              <a:srgbClr val="006DE8"/>
            </a:solidFill>
            <a:prstDash val="solid"/>
            <a:miter lim="400000"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0">
                <a:solidFill>
                  <a:srgbClr val="EE220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400" b="0" i="0" u="none" strike="noStrike" kern="0" cap="none" spc="0" normalizeH="0" baseline="0" noProof="0">
              <a:ln>
                <a:noFill/>
              </a:ln>
              <a:solidFill>
                <a:srgbClr val="EE220C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22" name="圆形"/>
          <p:cNvSpPr/>
          <p:nvPr/>
        </p:nvSpPr>
        <p:spPr>
          <a:xfrm>
            <a:off x="6887899" y="4363069"/>
            <a:ext cx="92506" cy="85653"/>
          </a:xfrm>
          <a:prstGeom prst="ellipse">
            <a:avLst/>
          </a:prstGeom>
          <a:solidFill>
            <a:srgbClr val="0070C0"/>
          </a:solidFill>
          <a:ln w="12700" cap="flat">
            <a:solidFill>
              <a:srgbClr val="006DE8"/>
            </a:solidFill>
            <a:prstDash val="solid"/>
            <a:miter lim="400000"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0">
                <a:solidFill>
                  <a:srgbClr val="EE220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400" b="0" i="0" u="none" strike="noStrike" kern="0" cap="none" spc="0" normalizeH="0" baseline="0" noProof="0">
              <a:ln>
                <a:noFill/>
              </a:ln>
              <a:solidFill>
                <a:srgbClr val="EE220C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23" name="圆形"/>
          <p:cNvSpPr/>
          <p:nvPr/>
        </p:nvSpPr>
        <p:spPr>
          <a:xfrm>
            <a:off x="9284463" y="4363069"/>
            <a:ext cx="92506" cy="85653"/>
          </a:xfrm>
          <a:prstGeom prst="ellipse">
            <a:avLst/>
          </a:prstGeom>
          <a:solidFill>
            <a:srgbClr val="0070C0"/>
          </a:solidFill>
          <a:ln w="12700" cap="flat">
            <a:solidFill>
              <a:srgbClr val="006DE8"/>
            </a:solidFill>
            <a:prstDash val="solid"/>
            <a:miter lim="400000"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0">
                <a:solidFill>
                  <a:srgbClr val="EE220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400" b="0" i="0" u="none" strike="noStrike" kern="0" cap="none" spc="0" normalizeH="0" baseline="0" noProof="0">
              <a:ln>
                <a:noFill/>
              </a:ln>
              <a:solidFill>
                <a:srgbClr val="EE220C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grpSp>
        <p:nvGrpSpPr>
          <p:cNvPr id="24" name="Group 138"/>
          <p:cNvGrpSpPr/>
          <p:nvPr/>
        </p:nvGrpSpPr>
        <p:grpSpPr>
          <a:xfrm>
            <a:off x="2265624" y="4010898"/>
            <a:ext cx="853551" cy="790883"/>
            <a:chOff x="2256800" y="3169324"/>
            <a:chExt cx="1129207" cy="1130016"/>
          </a:xfrm>
        </p:grpSpPr>
        <p:sp>
          <p:nvSpPr>
            <p:cNvPr id="190" name="圆形"/>
            <p:cNvSpPr/>
            <p:nvPr/>
          </p:nvSpPr>
          <p:spPr>
            <a:xfrm flipH="1">
              <a:off x="2256800" y="3169324"/>
              <a:ext cx="1129207" cy="1130016"/>
            </a:xfrm>
            <a:prstGeom prst="ellipse">
              <a:avLst/>
            </a:prstGeom>
            <a:gradFill flip="none" rotWithShape="1">
              <a:gsLst>
                <a:gs pos="0">
                  <a:srgbClr val="9FA0A0">
                    <a:alpha val="30000"/>
                  </a:srgbClr>
                </a:gs>
                <a:gs pos="32285">
                  <a:srgbClr val="9FA0A0">
                    <a:alpha val="0"/>
                  </a:srgbClr>
                </a:gs>
              </a:gsLst>
              <a:lin ang="0" scaled="0"/>
            </a:gradFill>
            <a:ln w="38100" cap="rnd">
              <a:solidFill>
                <a:srgbClr val="0070C0"/>
              </a:solidFill>
              <a:prstDash val="solid"/>
              <a:round/>
            </a:ln>
            <a:effectLst/>
          </p:spPr>
          <p:txBody>
            <a:bodyPr wrap="square" lIns="64505" tIns="64505" rIns="64505" bIns="64505" numCol="1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692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00" b="0"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endParaRPr>
            </a:p>
          </p:txBody>
        </p:sp>
        <p:sp>
          <p:nvSpPr>
            <p:cNvPr id="191" name="TextBox 135"/>
            <p:cNvSpPr txBox="1"/>
            <p:nvPr/>
          </p:nvSpPr>
          <p:spPr>
            <a:xfrm>
              <a:off x="2356244" y="3586222"/>
              <a:ext cx="930318" cy="29194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大模型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TextBox 137"/>
          <p:cNvSpPr txBox="1"/>
          <p:nvPr/>
        </p:nvSpPr>
        <p:spPr>
          <a:xfrm>
            <a:off x="3294527" y="4326307"/>
            <a:ext cx="1252068" cy="166386"/>
          </a:xfrm>
          <a:prstGeom prst="rect">
            <a:avLst/>
          </a:prstGeom>
          <a:solidFill>
            <a:srgbClr val="FFFFFF"/>
          </a:solidFill>
          <a:ln w="3175" cap="flat">
            <a:noFill/>
            <a:prstDash val="solid"/>
            <a:round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defPPr>
              <a:defRPr lang="en-US"/>
            </a:defPPr>
            <a:lvl1pPr algn="ctr" defTabSz="469900">
              <a:defRPr sz="500" b="0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4692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模型基础能力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TextBox 139"/>
          <p:cNvSpPr txBox="1"/>
          <p:nvPr/>
        </p:nvSpPr>
        <p:spPr>
          <a:xfrm>
            <a:off x="5141054" y="4309797"/>
            <a:ext cx="1216200" cy="18516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模型能力开放</a:t>
            </a:r>
            <a:endParaRPr kumimoji="0" lang="en-US" altLang="zh-CN" sz="13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140"/>
          <p:cNvSpPr txBox="1"/>
          <p:nvPr/>
        </p:nvSpPr>
        <p:spPr>
          <a:xfrm>
            <a:off x="7483379" y="4309797"/>
            <a:ext cx="1141255" cy="18516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行业知识结合</a:t>
            </a:r>
            <a:endParaRPr kumimoji="0" lang="en-US" altLang="zh-CN" sz="13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142"/>
          <p:cNvSpPr txBox="1"/>
          <p:nvPr/>
        </p:nvSpPr>
        <p:spPr>
          <a:xfrm>
            <a:off x="3929892" y="3702629"/>
            <a:ext cx="616703" cy="14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智能对话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43"/>
          <p:cNvSpPr txBox="1"/>
          <p:nvPr/>
        </p:nvSpPr>
        <p:spPr>
          <a:xfrm>
            <a:off x="4071230" y="3983255"/>
            <a:ext cx="616703" cy="14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短文创作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46"/>
          <p:cNvSpPr txBox="1"/>
          <p:nvPr/>
        </p:nvSpPr>
        <p:spPr>
          <a:xfrm>
            <a:off x="4098760" y="4760531"/>
            <a:ext cx="616703" cy="14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图片生成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147"/>
          <p:cNvSpPr txBox="1"/>
          <p:nvPr/>
        </p:nvSpPr>
        <p:spPr>
          <a:xfrm>
            <a:off x="3967643" y="5059328"/>
            <a:ext cx="616703" cy="14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视频生成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54"/>
          <p:cNvSpPr txBox="1"/>
          <p:nvPr/>
        </p:nvSpPr>
        <p:spPr>
          <a:xfrm>
            <a:off x="6109771" y="5048472"/>
            <a:ext cx="61670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商业文案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156"/>
          <p:cNvSpPr txBox="1"/>
          <p:nvPr/>
        </p:nvSpPr>
        <p:spPr>
          <a:xfrm>
            <a:off x="6061066" y="3687043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代码开发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157"/>
          <p:cNvSpPr txBox="1"/>
          <p:nvPr/>
        </p:nvSpPr>
        <p:spPr>
          <a:xfrm>
            <a:off x="8621367" y="4222317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服务导办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TextBox 158"/>
          <p:cNvSpPr txBox="1"/>
          <p:nvPr/>
        </p:nvSpPr>
        <p:spPr>
          <a:xfrm>
            <a:off x="6611706" y="3392884"/>
            <a:ext cx="539615" cy="149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办公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TextBox 159"/>
          <p:cNvSpPr txBox="1"/>
          <p:nvPr/>
        </p:nvSpPr>
        <p:spPr>
          <a:xfrm>
            <a:off x="6128238" y="4808303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平面广告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TextBox 160"/>
          <p:cNvSpPr txBox="1"/>
          <p:nvPr/>
        </p:nvSpPr>
        <p:spPr>
          <a:xfrm>
            <a:off x="5773764" y="5528811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内容推荐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TextBox 161"/>
          <p:cNvSpPr txBox="1"/>
          <p:nvPr/>
        </p:nvSpPr>
        <p:spPr>
          <a:xfrm>
            <a:off x="6169404" y="3909558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网站制作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Box 162"/>
          <p:cNvSpPr txBox="1"/>
          <p:nvPr/>
        </p:nvSpPr>
        <p:spPr>
          <a:xfrm>
            <a:off x="5969129" y="5288641"/>
            <a:ext cx="61670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内容搜索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TextBox 163"/>
          <p:cNvSpPr txBox="1"/>
          <p:nvPr/>
        </p:nvSpPr>
        <p:spPr>
          <a:xfrm>
            <a:off x="8033799" y="2850715"/>
            <a:ext cx="61670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网络自治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TextBox 166"/>
          <p:cNvSpPr txBox="1"/>
          <p:nvPr/>
        </p:nvSpPr>
        <p:spPr>
          <a:xfrm>
            <a:off x="8334597" y="3310092"/>
            <a:ext cx="61670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智能风控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TextBox 167"/>
          <p:cNvSpPr txBox="1"/>
          <p:nvPr/>
        </p:nvSpPr>
        <p:spPr>
          <a:xfrm>
            <a:off x="8600300" y="3769468"/>
            <a:ext cx="61670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医疗咨询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TextBox 168"/>
          <p:cNvSpPr txBox="1"/>
          <p:nvPr/>
        </p:nvSpPr>
        <p:spPr>
          <a:xfrm>
            <a:off x="8627573" y="3999156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辅助诊断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TextBox 169"/>
          <p:cNvSpPr txBox="1"/>
          <p:nvPr/>
        </p:nvSpPr>
        <p:spPr>
          <a:xfrm>
            <a:off x="8474128" y="4721404"/>
            <a:ext cx="844659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</a:t>
            </a:r>
          </a:p>
        </p:txBody>
      </p:sp>
      <p:sp>
        <p:nvSpPr>
          <p:cNvPr id="128" name="TextBox 177"/>
          <p:cNvSpPr txBox="1"/>
          <p:nvPr/>
        </p:nvSpPr>
        <p:spPr>
          <a:xfrm>
            <a:off x="3792131" y="5506818"/>
            <a:ext cx="831208" cy="199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3~6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TextBox 178"/>
          <p:cNvSpPr txBox="1"/>
          <p:nvPr/>
        </p:nvSpPr>
        <p:spPr>
          <a:xfrm>
            <a:off x="5695983" y="5810040"/>
            <a:ext cx="831208" cy="199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6~12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TextBox 179"/>
          <p:cNvSpPr txBox="1"/>
          <p:nvPr/>
        </p:nvSpPr>
        <p:spPr>
          <a:xfrm>
            <a:off x="7937377" y="6221151"/>
            <a:ext cx="963222" cy="1994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12~24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TextBox 181"/>
          <p:cNvSpPr txBox="1"/>
          <p:nvPr/>
        </p:nvSpPr>
        <p:spPr>
          <a:xfrm>
            <a:off x="2284760" y="5002474"/>
            <a:ext cx="831208" cy="199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TextBox 182"/>
          <p:cNvSpPr txBox="1"/>
          <p:nvPr/>
        </p:nvSpPr>
        <p:spPr>
          <a:xfrm>
            <a:off x="7846158" y="5938512"/>
            <a:ext cx="831209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智能问答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TextBox 67"/>
          <p:cNvSpPr txBox="1"/>
          <p:nvPr/>
        </p:nvSpPr>
        <p:spPr>
          <a:xfrm>
            <a:off x="8478270" y="3539779"/>
            <a:ext cx="61670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量化交易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Freeform 139"/>
          <p:cNvSpPr/>
          <p:nvPr/>
        </p:nvSpPr>
        <p:spPr>
          <a:xfrm rot="222196" flipV="1">
            <a:off x="4487733" y="2646485"/>
            <a:ext cx="707847" cy="3573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vert="horz" wrap="square" lIns="35986" tIns="35986" rIns="35986" bIns="35986" anchor="ctr" anchorCtr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3462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C7000B"/>
                </a:solidFill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DDDDDD">
                  <a:lumMod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Freeform 139"/>
          <p:cNvSpPr/>
          <p:nvPr/>
        </p:nvSpPr>
        <p:spPr>
          <a:xfrm rot="222196" flipV="1">
            <a:off x="6873359" y="2353057"/>
            <a:ext cx="707847" cy="3573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vert="horz" wrap="square" lIns="35986" tIns="35986" rIns="35986" bIns="35986" anchor="ctr" anchorCtr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3462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>
                <a:solidFill>
                  <a:srgbClr val="C7000B"/>
                </a:solidFill>
              </a:defRPr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DDDDDD">
                  <a:lumMod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椭圆 135"/>
          <p:cNvSpPr>
            <a:spLocks noChangeAspect="1"/>
          </p:cNvSpPr>
          <p:nvPr/>
        </p:nvSpPr>
        <p:spPr>
          <a:xfrm>
            <a:off x="6609071" y="3419454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37" name="椭圆 136"/>
          <p:cNvSpPr>
            <a:spLocks noChangeAspect="1"/>
          </p:cNvSpPr>
          <p:nvPr/>
        </p:nvSpPr>
        <p:spPr>
          <a:xfrm>
            <a:off x="6816044" y="3864189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38" name="TextBox 61"/>
          <p:cNvSpPr txBox="1"/>
          <p:nvPr/>
        </p:nvSpPr>
        <p:spPr>
          <a:xfrm>
            <a:off x="5935254" y="3464528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文档写作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TextBox 62"/>
          <p:cNvSpPr txBox="1"/>
          <p:nvPr/>
        </p:nvSpPr>
        <p:spPr>
          <a:xfrm>
            <a:off x="6811657" y="3840467"/>
            <a:ext cx="539615" cy="149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TextBox 63"/>
          <p:cNvSpPr txBox="1"/>
          <p:nvPr/>
        </p:nvSpPr>
        <p:spPr>
          <a:xfrm>
            <a:off x="6865539" y="4781806"/>
            <a:ext cx="539615" cy="149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椭圆 140"/>
          <p:cNvSpPr>
            <a:spLocks noChangeAspect="1"/>
          </p:cNvSpPr>
          <p:nvPr/>
        </p:nvSpPr>
        <p:spPr>
          <a:xfrm>
            <a:off x="6843992" y="4815363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42" name="TextBox 65"/>
          <p:cNvSpPr txBox="1"/>
          <p:nvPr/>
        </p:nvSpPr>
        <p:spPr>
          <a:xfrm>
            <a:off x="6726297" y="5232636"/>
            <a:ext cx="539615" cy="149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椭圆 142"/>
          <p:cNvSpPr>
            <a:spLocks noChangeAspect="1"/>
          </p:cNvSpPr>
          <p:nvPr/>
        </p:nvSpPr>
        <p:spPr>
          <a:xfrm>
            <a:off x="6696396" y="5246803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44" name="TextBox 69"/>
          <p:cNvSpPr txBox="1"/>
          <p:nvPr/>
        </p:nvSpPr>
        <p:spPr>
          <a:xfrm>
            <a:off x="5750826" y="3242013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文档摘要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椭圆 144"/>
          <p:cNvSpPr>
            <a:spLocks noChangeAspect="1"/>
          </p:cNvSpPr>
          <p:nvPr/>
        </p:nvSpPr>
        <p:spPr>
          <a:xfrm>
            <a:off x="8708264" y="2894169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46" name="Rectangle 5"/>
          <p:cNvSpPr/>
          <p:nvPr/>
        </p:nvSpPr>
        <p:spPr>
          <a:xfrm>
            <a:off x="8793534" y="2821747"/>
            <a:ext cx="607623" cy="242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运营商</a:t>
            </a:r>
          </a:p>
        </p:txBody>
      </p:sp>
      <p:sp>
        <p:nvSpPr>
          <p:cNvPr id="147" name="椭圆 146"/>
          <p:cNvSpPr>
            <a:spLocks noChangeAspect="1"/>
          </p:cNvSpPr>
          <p:nvPr/>
        </p:nvSpPr>
        <p:spPr>
          <a:xfrm>
            <a:off x="9017201" y="3337050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48" name="Rectangle 72"/>
          <p:cNvSpPr/>
          <p:nvPr/>
        </p:nvSpPr>
        <p:spPr>
          <a:xfrm>
            <a:off x="9052631" y="3259472"/>
            <a:ext cx="466612" cy="242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金融</a:t>
            </a:r>
          </a:p>
        </p:txBody>
      </p:sp>
      <p:sp>
        <p:nvSpPr>
          <p:cNvPr id="149" name="椭圆 148"/>
          <p:cNvSpPr>
            <a:spLocks noChangeAspect="1"/>
          </p:cNvSpPr>
          <p:nvPr/>
        </p:nvSpPr>
        <p:spPr>
          <a:xfrm>
            <a:off x="9210982" y="3813798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50" name="Rectangle 74"/>
          <p:cNvSpPr/>
          <p:nvPr/>
        </p:nvSpPr>
        <p:spPr>
          <a:xfrm>
            <a:off x="9254831" y="3741374"/>
            <a:ext cx="466612" cy="242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</a:p>
        </p:txBody>
      </p:sp>
      <p:sp>
        <p:nvSpPr>
          <p:cNvPr id="151" name="椭圆 150"/>
          <p:cNvSpPr>
            <a:spLocks noChangeAspect="1"/>
          </p:cNvSpPr>
          <p:nvPr/>
        </p:nvSpPr>
        <p:spPr>
          <a:xfrm>
            <a:off x="9215670" y="4938285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52" name="Rectangle 79"/>
          <p:cNvSpPr/>
          <p:nvPr/>
        </p:nvSpPr>
        <p:spPr>
          <a:xfrm>
            <a:off x="9067799" y="5397122"/>
            <a:ext cx="466612" cy="242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生物</a:t>
            </a:r>
          </a:p>
        </p:txBody>
      </p:sp>
      <p:sp>
        <p:nvSpPr>
          <p:cNvPr id="153" name="Rectangle 80"/>
          <p:cNvSpPr/>
          <p:nvPr/>
        </p:nvSpPr>
        <p:spPr>
          <a:xfrm>
            <a:off x="8825124" y="5852551"/>
            <a:ext cx="466612" cy="242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</a:p>
        </p:txBody>
      </p:sp>
      <p:sp>
        <p:nvSpPr>
          <p:cNvPr id="154" name="椭圆 153"/>
          <p:cNvSpPr>
            <a:spLocks noChangeAspect="1"/>
          </p:cNvSpPr>
          <p:nvPr/>
        </p:nvSpPr>
        <p:spPr>
          <a:xfrm>
            <a:off x="9023384" y="5427849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55" name="椭圆 154"/>
          <p:cNvSpPr>
            <a:spLocks noChangeAspect="1"/>
          </p:cNvSpPr>
          <p:nvPr/>
        </p:nvSpPr>
        <p:spPr>
          <a:xfrm>
            <a:off x="8700564" y="5890638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56" name="TextBox 83"/>
          <p:cNvSpPr txBox="1"/>
          <p:nvPr/>
        </p:nvSpPr>
        <p:spPr>
          <a:xfrm>
            <a:off x="8621417" y="4477982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城市大脑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椭圆 156"/>
          <p:cNvSpPr>
            <a:spLocks noChangeAspect="1"/>
          </p:cNvSpPr>
          <p:nvPr/>
        </p:nvSpPr>
        <p:spPr>
          <a:xfrm>
            <a:off x="4689060" y="3835900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58" name="TextBox 86"/>
          <p:cNvSpPr txBox="1"/>
          <p:nvPr/>
        </p:nvSpPr>
        <p:spPr>
          <a:xfrm>
            <a:off x="4753322" y="3801487"/>
            <a:ext cx="462527" cy="149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社交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椭圆 158"/>
          <p:cNvSpPr>
            <a:spLocks noChangeAspect="1"/>
          </p:cNvSpPr>
          <p:nvPr/>
        </p:nvSpPr>
        <p:spPr>
          <a:xfrm>
            <a:off x="4696787" y="4958730"/>
            <a:ext cx="77088" cy="71377"/>
          </a:xfrm>
          <a:prstGeom prst="ellipse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6DE8"/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60" name="TextBox 88"/>
          <p:cNvSpPr txBox="1"/>
          <p:nvPr/>
        </p:nvSpPr>
        <p:spPr>
          <a:xfrm>
            <a:off x="4761050" y="4924317"/>
            <a:ext cx="462527" cy="149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消费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TextBox 92"/>
          <p:cNvSpPr txBox="1"/>
          <p:nvPr/>
        </p:nvSpPr>
        <p:spPr>
          <a:xfrm>
            <a:off x="8229566" y="3080404"/>
            <a:ext cx="61670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智能客服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TextBox 117"/>
          <p:cNvSpPr txBox="1"/>
          <p:nvPr/>
        </p:nvSpPr>
        <p:spPr>
          <a:xfrm>
            <a:off x="8468359" y="5208247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新闻采编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TextBox 119"/>
          <p:cNvSpPr txBox="1"/>
          <p:nvPr/>
        </p:nvSpPr>
        <p:spPr>
          <a:xfrm>
            <a:off x="8548065" y="4964825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内容剪辑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Rectangle 120"/>
          <p:cNvSpPr/>
          <p:nvPr/>
        </p:nvSpPr>
        <p:spPr>
          <a:xfrm>
            <a:off x="9266445" y="4870818"/>
            <a:ext cx="466612" cy="242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传媒</a:t>
            </a:r>
          </a:p>
        </p:txBody>
      </p:sp>
      <p:sp>
        <p:nvSpPr>
          <p:cNvPr id="165" name="TextBox 126"/>
          <p:cNvSpPr txBox="1"/>
          <p:nvPr/>
        </p:nvSpPr>
        <p:spPr>
          <a:xfrm>
            <a:off x="8185313" y="5451668"/>
            <a:ext cx="844659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分子生成</a:t>
            </a:r>
          </a:p>
        </p:txBody>
      </p:sp>
      <p:sp>
        <p:nvSpPr>
          <p:cNvPr id="166" name="TextBox 128"/>
          <p:cNvSpPr txBox="1"/>
          <p:nvPr/>
        </p:nvSpPr>
        <p:spPr>
          <a:xfrm>
            <a:off x="8055940" y="5695090"/>
            <a:ext cx="844659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智能教学</a:t>
            </a:r>
          </a:p>
        </p:txBody>
      </p:sp>
      <p:sp>
        <p:nvSpPr>
          <p:cNvPr id="167" name="Rectangle 131"/>
          <p:cNvSpPr/>
          <p:nvPr/>
        </p:nvSpPr>
        <p:spPr>
          <a:xfrm>
            <a:off x="9371536" y="4303807"/>
            <a:ext cx="466795" cy="242228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</a:p>
        </p:txBody>
      </p:sp>
      <p:sp>
        <p:nvSpPr>
          <p:cNvPr id="168" name="TextBox 155"/>
          <p:cNvSpPr txBox="1"/>
          <p:nvPr/>
        </p:nvSpPr>
        <p:spPr>
          <a:xfrm>
            <a:off x="6907604" y="4327897"/>
            <a:ext cx="539615" cy="149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营销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TextBox 164"/>
          <p:cNvSpPr txBox="1"/>
          <p:nvPr/>
        </p:nvSpPr>
        <p:spPr>
          <a:xfrm>
            <a:off x="6234585" y="4132072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精准获客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TextBox 165"/>
          <p:cNvSpPr txBox="1"/>
          <p:nvPr/>
        </p:nvSpPr>
        <p:spPr>
          <a:xfrm>
            <a:off x="6203419" y="4548057"/>
            <a:ext cx="721173" cy="128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调研报告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圆形"/>
          <p:cNvSpPr>
            <a:spLocks noChangeAspect="1"/>
          </p:cNvSpPr>
          <p:nvPr/>
        </p:nvSpPr>
        <p:spPr>
          <a:xfrm flipH="1">
            <a:off x="487998" y="3135509"/>
            <a:ext cx="548426" cy="507796"/>
          </a:xfrm>
          <a:prstGeom prst="ellipse">
            <a:avLst/>
          </a:prstGeom>
          <a:solidFill>
            <a:srgbClr val="FFFFFF">
              <a:lumMod val="95000"/>
            </a:srgbClr>
          </a:solidFill>
          <a:ln w="22225" cap="flat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wrap="none" lIns="17400" tIns="17400" rIns="17400" bIns="17400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9212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视觉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2" name="圆形"/>
          <p:cNvSpPr>
            <a:spLocks noChangeAspect="1"/>
          </p:cNvSpPr>
          <p:nvPr/>
        </p:nvSpPr>
        <p:spPr>
          <a:xfrm flipH="1">
            <a:off x="117087" y="3808180"/>
            <a:ext cx="548426" cy="507796"/>
          </a:xfrm>
          <a:prstGeom prst="ellipse">
            <a:avLst/>
          </a:prstGeom>
          <a:solidFill>
            <a:srgbClr val="FFFFFF">
              <a:lumMod val="95000"/>
            </a:srgbClr>
          </a:solidFill>
          <a:ln w="22225" cap="flat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wrap="none" lIns="17400" tIns="17400" rIns="17400" bIns="17400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9212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语音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3" name="圆形"/>
          <p:cNvSpPr>
            <a:spLocks noChangeAspect="1"/>
          </p:cNvSpPr>
          <p:nvPr/>
        </p:nvSpPr>
        <p:spPr>
          <a:xfrm flipH="1">
            <a:off x="117087" y="4554442"/>
            <a:ext cx="548426" cy="507796"/>
          </a:xfrm>
          <a:prstGeom prst="ellipse">
            <a:avLst/>
          </a:prstGeom>
          <a:solidFill>
            <a:srgbClr val="FFFFFF">
              <a:lumMod val="95000"/>
            </a:srgbClr>
          </a:solidFill>
          <a:ln w="22225" cap="flat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wrap="none" lIns="17400" tIns="17400" rIns="17400" bIns="17400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9212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语义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4" name="圆形"/>
          <p:cNvSpPr>
            <a:spLocks noChangeAspect="1"/>
          </p:cNvSpPr>
          <p:nvPr/>
        </p:nvSpPr>
        <p:spPr>
          <a:xfrm flipH="1">
            <a:off x="487998" y="5227113"/>
            <a:ext cx="548426" cy="507796"/>
          </a:xfrm>
          <a:prstGeom prst="ellipse">
            <a:avLst/>
          </a:prstGeom>
          <a:solidFill>
            <a:srgbClr val="FFFFFF">
              <a:lumMod val="95000"/>
            </a:srgbClr>
          </a:solidFill>
          <a:ln w="22225" cap="flat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wrap="none" lIns="17400" tIns="17400" rIns="17400" bIns="17400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9212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生成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5" name="Rectangle 199"/>
          <p:cNvSpPr/>
          <p:nvPr/>
        </p:nvSpPr>
        <p:spPr>
          <a:xfrm>
            <a:off x="718466" y="4088545"/>
            <a:ext cx="1486918" cy="6409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00" b="0" i="0" u="none" strike="noStrike" kern="0" cap="none" spc="1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海量离散小模型</a:t>
            </a:r>
            <a:endParaRPr kumimoji="1" lang="en-US" altLang="zh-CN" sz="1300" b="0" i="0" u="none" strike="noStrike" kern="0" cap="none" spc="1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00" b="0" i="0" u="none" strike="noStrike" kern="0" cap="none" spc="1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endParaRPr kumimoji="1" lang="en-US" altLang="zh-CN" sz="1300" b="0" i="0" u="none" strike="noStrike" kern="0" cap="none" spc="1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00" b="0" i="0" u="none" strike="noStrike" kern="0" cap="none" spc="1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少数大模型汇聚</a:t>
            </a:r>
            <a:endParaRPr kumimoji="0" lang="en-US" sz="1300" b="0" i="0" u="none" strike="noStrike" kern="0" cap="none" spc="13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Huawei Sans"/>
              <a:ea typeface="微软雅黑" panose="020B0503020204020204" pitchFamily="34" charset="-122"/>
            </a:endParaRPr>
          </a:p>
        </p:txBody>
      </p:sp>
      <p:sp>
        <p:nvSpPr>
          <p:cNvPr id="176" name="Rectangle 1"/>
          <p:cNvSpPr/>
          <p:nvPr/>
        </p:nvSpPr>
        <p:spPr>
          <a:xfrm>
            <a:off x="4869889" y="2627160"/>
            <a:ext cx="2377806" cy="4821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2B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行业通用场景数据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Rectangle 3"/>
          <p:cNvSpPr/>
          <p:nvPr/>
        </p:nvSpPr>
        <p:spPr>
          <a:xfrm>
            <a:off x="7375833" y="2258736"/>
            <a:ext cx="2603779" cy="4821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场景化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2B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行业生产场景核心数据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Rectangle 66"/>
          <p:cNvSpPr/>
          <p:nvPr/>
        </p:nvSpPr>
        <p:spPr>
          <a:xfrm>
            <a:off x="3003436" y="2991218"/>
            <a:ext cx="1866349" cy="4821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2C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现象级应用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公开数据集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9893471" y="3943556"/>
            <a:ext cx="1118389" cy="664125"/>
            <a:chOff x="9176252" y="408676"/>
            <a:chExt cx="1704862" cy="1012385"/>
          </a:xfrm>
        </p:grpSpPr>
        <p:pic>
          <p:nvPicPr>
            <p:cNvPr id="188" name="图片 187"/>
            <p:cNvPicPr>
              <a:picLocks noChangeAspect="1"/>
            </p:cNvPicPr>
            <p:nvPr/>
          </p:nvPicPr>
          <p:blipFill>
            <a:blip r:embed="rId3"/>
            <a:srcRect r="70300"/>
            <a:stretch>
              <a:fillRect/>
            </a:stretch>
          </p:blipFill>
          <p:spPr>
            <a:xfrm>
              <a:off x="9601776" y="408676"/>
              <a:ext cx="735532" cy="666750"/>
            </a:xfrm>
            <a:prstGeom prst="rect">
              <a:avLst/>
            </a:prstGeom>
          </p:spPr>
        </p:pic>
        <p:pic>
          <p:nvPicPr>
            <p:cNvPr id="189" name="图片 188"/>
            <p:cNvPicPr>
              <a:picLocks noChangeAspect="1"/>
            </p:cNvPicPr>
            <p:nvPr/>
          </p:nvPicPr>
          <p:blipFill>
            <a:blip r:embed="rId3"/>
            <a:srcRect l="31159" t="31003" b="17360"/>
            <a:stretch>
              <a:fillRect/>
            </a:stretch>
          </p:blipFill>
          <p:spPr>
            <a:xfrm>
              <a:off x="9176252" y="1076770"/>
              <a:ext cx="1704862" cy="344291"/>
            </a:xfrm>
            <a:prstGeom prst="rect">
              <a:avLst/>
            </a:prstGeom>
          </p:spPr>
        </p:pic>
      </p:grpSp>
      <p:sp>
        <p:nvSpPr>
          <p:cNvPr id="180" name="椭圆 179"/>
          <p:cNvSpPr/>
          <p:nvPr/>
        </p:nvSpPr>
        <p:spPr>
          <a:xfrm>
            <a:off x="9849131" y="3817085"/>
            <a:ext cx="1184298" cy="101003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1" name="文本框 149"/>
          <p:cNvSpPr txBox="1"/>
          <p:nvPr/>
        </p:nvSpPr>
        <p:spPr>
          <a:xfrm>
            <a:off x="11262937" y="2185213"/>
            <a:ext cx="791655" cy="4387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006D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</a:p>
          <a:p>
            <a:pPr algn="ctr"/>
            <a:endParaRPr lang="en-US" altLang="zh-CN" sz="2000" b="1" dirty="0">
              <a:solidFill>
                <a:srgbClr val="006D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文本框 150"/>
          <p:cNvSpPr txBox="1"/>
          <p:nvPr/>
        </p:nvSpPr>
        <p:spPr>
          <a:xfrm>
            <a:off x="11262937" y="3146127"/>
            <a:ext cx="791655" cy="4387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国产</a:t>
            </a:r>
          </a:p>
        </p:txBody>
      </p:sp>
      <p:sp>
        <p:nvSpPr>
          <p:cNvPr id="183" name="文本框 151"/>
          <p:cNvSpPr txBox="1"/>
          <p:nvPr/>
        </p:nvSpPr>
        <p:spPr>
          <a:xfrm>
            <a:off x="11262937" y="4107041"/>
            <a:ext cx="791655" cy="4387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</a:t>
            </a:r>
          </a:p>
        </p:txBody>
      </p:sp>
      <p:sp>
        <p:nvSpPr>
          <p:cNvPr id="184" name="文本框 152"/>
          <p:cNvSpPr txBox="1"/>
          <p:nvPr/>
        </p:nvSpPr>
        <p:spPr>
          <a:xfrm>
            <a:off x="11262937" y="5067955"/>
            <a:ext cx="791655" cy="4387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solidFill>
                  <a:srgbClr val="63B9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实惠</a:t>
            </a:r>
          </a:p>
        </p:txBody>
      </p:sp>
      <p:sp>
        <p:nvSpPr>
          <p:cNvPr id="185" name="文本框 153"/>
          <p:cNvSpPr txBox="1"/>
          <p:nvPr/>
        </p:nvSpPr>
        <p:spPr>
          <a:xfrm>
            <a:off x="11262937" y="6028868"/>
            <a:ext cx="791655" cy="4387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5A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强大</a:t>
            </a:r>
          </a:p>
        </p:txBody>
      </p:sp>
      <p:sp>
        <p:nvSpPr>
          <p:cNvPr id="186" name="线条"/>
          <p:cNvSpPr/>
          <p:nvPr/>
        </p:nvSpPr>
        <p:spPr>
          <a:xfrm>
            <a:off x="11051581" y="4360444"/>
            <a:ext cx="181707" cy="0"/>
          </a:xfrm>
          <a:prstGeom prst="line">
            <a:avLst/>
          </a:prstGeom>
          <a:solidFill>
            <a:srgbClr val="FFFFFF"/>
          </a:solidFill>
          <a:ln w="12700" cap="rnd">
            <a:solidFill>
              <a:srgbClr val="006DE8"/>
            </a:solidFill>
            <a:prstDash val="solid"/>
            <a:round/>
          </a:ln>
          <a:effectLst/>
        </p:spPr>
        <p:txBody>
          <a:bodyPr wrap="square" lIns="64505" tIns="64505" rIns="64505" bIns="64505" numCol="1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92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0">
                <a:solidFill>
                  <a:srgbClr val="EE220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400" b="0" i="0" u="none" strike="noStrike" kern="0" cap="none" spc="0" normalizeH="0" baseline="0" noProof="0" dirty="0">
              <a:ln>
                <a:noFill/>
              </a:ln>
              <a:solidFill>
                <a:srgbClr val="EE220C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87" name="TextBox 181"/>
          <p:cNvSpPr txBox="1"/>
          <p:nvPr/>
        </p:nvSpPr>
        <p:spPr>
          <a:xfrm>
            <a:off x="10046234" y="4951630"/>
            <a:ext cx="83120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2025.01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521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01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55600"/>
            <a:ext cx="5294403" cy="593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竞品分析</a:t>
            </a:r>
            <a:endParaRPr kumimoji="1" lang="zh-CN" altLang="en-US" sz="11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6659" y="1111882"/>
          <a:ext cx="11858682" cy="5695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2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732">
                <a:tc>
                  <a:txBody>
                    <a:bodyPr/>
                    <a:lstStyle/>
                    <a:p>
                      <a:pPr algn="l"/>
                      <a:endParaRPr lang="zh-CN" altLang="en-US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pc="300" dirty="0">
                          <a:latin typeface="+mn-lt"/>
                        </a:rPr>
                        <a:t>深小</a:t>
                      </a:r>
                      <a:r>
                        <a:rPr lang="en-US" altLang="zh-CN" sz="1800" b="1" i="0" kern="1200" spc="3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CN" altLang="en-US" spc="300" dirty="0"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spc="3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百度</a:t>
                      </a:r>
                      <a:r>
                        <a:rPr lang="en-US" altLang="zh-CN" sz="2000" b="1" i="0" kern="1200" spc="3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800" b="1" i="0" kern="1200" spc="3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开放平台</a:t>
                      </a:r>
                      <a:endParaRPr lang="zh-CN" altLang="en-US" spc="3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300" dirty="0">
                          <a:solidFill>
                            <a:schemeClr val="bg1"/>
                          </a:solidFill>
                          <a:latin typeface="+mn-lt"/>
                        </a:rPr>
                        <a:t>政小智</a:t>
                      </a:r>
                      <a:r>
                        <a:rPr lang="en-US" altLang="zh-CN" sz="2000" spc="0" dirty="0">
                          <a:solidFill>
                            <a:schemeClr val="bg1"/>
                          </a:solidFill>
                          <a:latin typeface="+mn-lt"/>
                        </a:rPr>
                        <a:t>SeekGov</a:t>
                      </a:r>
                      <a:endParaRPr lang="zh-CN" altLang="en-US" sz="2000" spc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1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zh-CN" altLang="en-US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产品定位</a:t>
                      </a:r>
                    </a:p>
                  </a:txBody>
                  <a:tcPr marL="101600" marR="10160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政务助手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能力的开放平台</a:t>
                      </a:r>
                      <a:endParaRPr lang="en-US" altLang="zh-CN" sz="1400" b="0" kern="120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政务专属智能体</a:t>
                      </a:r>
                      <a:endParaRPr lang="en-US" altLang="zh-CN" sz="1400" b="0" kern="120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37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zh-CN" altLang="en-US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技术特点</a:t>
                      </a:r>
                      <a:endParaRPr lang="zh-CN" altLang="en-US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大模型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知识图谱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拥有全栈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能力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en-US" altLang="zh-CN" sz="16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基于</a:t>
                      </a:r>
                      <a:r>
                        <a:rPr lang="en-US" altLang="zh-CN" sz="1600" b="1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DeepSeek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大模型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</a:t>
                      </a:r>
                      <a:r>
                        <a:rPr lang="zh-CN" altLang="en-US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多智能体协同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291"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zh-CN" altLang="en-US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核心能力</a:t>
                      </a:r>
                    </a:p>
                  </a:txBody>
                  <a:tcPr marL="101600" marR="10160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政策解答和办事引导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智能对话 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人脸实名认证 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文字识别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  <a:effectLst/>
                        </a:rPr>
                        <a:t>多模态交互 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</a:rPr>
                        <a:t>2. 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  <a:effectLst/>
                        </a:rPr>
                        <a:t>数据分析与可视化 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  <a:effectLst/>
                        </a:rPr>
                        <a:t>语音识别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zh-CN" altLang="en-US" sz="1400" b="0" spc="0" dirty="0">
                          <a:solidFill>
                            <a:schemeClr val="tx1"/>
                          </a:solidFill>
                          <a:effectLst/>
                        </a:rPr>
                        <a:t>上下文理解 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</a:rPr>
                        <a:t>5.</a:t>
                      </a:r>
                      <a:r>
                        <a:rPr lang="zh-CN" altLang="en-US" sz="1400" b="0" spc="0" dirty="0">
                          <a:solidFill>
                            <a:schemeClr val="tx1"/>
                          </a:solidFill>
                          <a:effectLst/>
                        </a:rPr>
                        <a:t>政务知识融合 </a:t>
                      </a:r>
                      <a:endParaRPr lang="zh-CN" altLang="en-US" sz="1400" b="1" spc="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555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zh-CN" altLang="en-US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优势</a:t>
                      </a:r>
                      <a:endParaRPr lang="zh-CN" altLang="en-US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>
                        <a:buNone/>
                      </a:pP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根据多条真实问题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制定了</a:t>
                      </a:r>
                      <a:r>
                        <a:rPr lang="en-US" altLang="zh-CN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余种话术模版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涵盖大量高频领域知识图谱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小时智能问答服务 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提供一站式政务解决方案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auto">
                        <a:lnSpc>
                          <a:spcPts val="1800"/>
                        </a:lnSpc>
                      </a:pP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</a:t>
                      </a:r>
                      <a:r>
                        <a:rPr lang="zh-CN" altLang="en-US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政务智能体专属设计，实现多模态交互与跨部门任务协同；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深度集成 </a:t>
                      </a:r>
                      <a:r>
                        <a:rPr lang="en-US" altLang="zh-CN" sz="1600" b="1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DeepSeek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，支持公有化和私有化部署，拥有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逻辑推理能力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zh-CN" altLang="en-US" sz="1400" dirty="0"/>
                        <a:t>利用数据收录系统，可快速生成大模型训练数据集并保持一定的更新频率</a:t>
                      </a:r>
                      <a:endParaRPr lang="zh-CN" altLang="en-US" sz="1400" b="0" spc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14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zh-CN" altLang="en-US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劣势</a:t>
                      </a:r>
                      <a:endParaRPr lang="zh-CN" altLang="en-US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auto">
                        <a:buNone/>
                      </a:pP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以文本交互为主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，对其他模态数据处理能力有限；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受限于已有的知识库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，无法实时联网获取最新信息；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不具有推理及分析能力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，不适合处理复杂的深度问题 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具有局限性，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仅支持深圳政务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依赖已有的知识库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，更新频率可能跟不上政策变化；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缺乏足够的逻辑推理能力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，难以深入分析和解决复杂问题；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需要通过网站、</a:t>
                      </a:r>
                      <a:r>
                        <a:rPr lang="en-US" altLang="zh-CN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zh-CN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、小程序接入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，降低了使用便捷性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auto">
                        <a:lnSpc>
                          <a:spcPts val="1800"/>
                        </a:lnSpc>
                      </a:pPr>
                      <a:r>
                        <a:rPr lang="zh-CN" altLang="en-US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作为垂直政务模型，在通用性上稍弱。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47"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应用场景</a:t>
                      </a:r>
                    </a:p>
                  </a:txBody>
                  <a:tcPr marL="152400" marR="152400" marT="114300" marB="1143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政务咨询服务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政务咨询服务 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人脸识别支持 </a:t>
                      </a:r>
                      <a:r>
                        <a:rPr lang="en-US" altLang="zh-CN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语音技术支持</a:t>
                      </a:r>
                    </a:p>
                  </a:txBody>
                  <a:tcPr marL="152400" marR="152400" marT="114300" marB="1143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</a:t>
                      </a:r>
                      <a:r>
                        <a:rPr lang="zh-CN" altLang="en-US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政府跨部门协做 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</a:t>
                      </a:r>
                      <a:r>
                        <a:rPr lang="zh-CN" altLang="en-US" sz="1400" b="0" kern="120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政务咨询服务 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zh-CN" altLang="en-US" sz="1400" b="0" spc="0" dirty="0">
                          <a:solidFill>
                            <a:schemeClr val="tx1"/>
                          </a:solidFill>
                        </a:rPr>
                        <a:t>热点问答与政策解析 </a:t>
                      </a:r>
                      <a:r>
                        <a:rPr lang="en-US" altLang="zh-CN" sz="1400" b="0" spc="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zh-CN" altLang="en-US" sz="1400" b="1" spc="0" dirty="0">
                          <a:solidFill>
                            <a:srgbClr val="FF0000"/>
                          </a:solidFill>
                        </a:rPr>
                        <a:t>数据整合分析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椭圆 993"/>
          <p:cNvSpPr/>
          <p:nvPr/>
        </p:nvSpPr>
        <p:spPr>
          <a:xfrm>
            <a:off x="-1246356" y="2020719"/>
            <a:ext cx="2728686" cy="27286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42900" dist="38100" dir="2700000" sx="101000" sy="101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5" name="椭圆 994"/>
          <p:cNvSpPr/>
          <p:nvPr/>
        </p:nvSpPr>
        <p:spPr>
          <a:xfrm>
            <a:off x="-2207273" y="1059802"/>
            <a:ext cx="4650522" cy="465052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6" name="椭圆 995"/>
          <p:cNvSpPr/>
          <p:nvPr/>
        </p:nvSpPr>
        <p:spPr>
          <a:xfrm>
            <a:off x="-2938180" y="321643"/>
            <a:ext cx="6199418" cy="61994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7" name="椭圆 996"/>
          <p:cNvSpPr/>
          <p:nvPr/>
        </p:nvSpPr>
        <p:spPr>
          <a:xfrm>
            <a:off x="-3719230" y="-459407"/>
            <a:ext cx="7761518" cy="77615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0" name="椭圆 999"/>
          <p:cNvSpPr/>
          <p:nvPr/>
        </p:nvSpPr>
        <p:spPr>
          <a:xfrm>
            <a:off x="2241333" y="161986"/>
            <a:ext cx="319314" cy="319314"/>
          </a:xfrm>
          <a:prstGeom prst="ellipse">
            <a:avLst/>
          </a:prstGeom>
          <a:gradFill flip="none" rotWithShape="1">
            <a:gsLst>
              <a:gs pos="3000">
                <a:schemeClr val="accent1">
                  <a:lumMod val="75000"/>
                </a:schemeClr>
              </a:gs>
              <a:gs pos="93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1" name="椭圆 1000"/>
          <p:cNvSpPr/>
          <p:nvPr/>
        </p:nvSpPr>
        <p:spPr>
          <a:xfrm>
            <a:off x="3510575" y="4925918"/>
            <a:ext cx="319314" cy="319314"/>
          </a:xfrm>
          <a:prstGeom prst="ellipse">
            <a:avLst/>
          </a:prstGeom>
          <a:gradFill>
            <a:gsLst>
              <a:gs pos="3000">
                <a:schemeClr val="accent3">
                  <a:lumMod val="75000"/>
                </a:schemeClr>
              </a:gs>
              <a:gs pos="93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Freeform: Shape 685"/>
          <p:cNvSpPr/>
          <p:nvPr/>
        </p:nvSpPr>
        <p:spPr>
          <a:xfrm>
            <a:off x="-606218" y="2640115"/>
            <a:ext cx="1448412" cy="1448412"/>
          </a:xfrm>
          <a:custGeom>
            <a:avLst/>
            <a:gdLst>
              <a:gd name="connsiteX0" fmla="*/ 1328357 w 1328356"/>
              <a:gd name="connsiteY0" fmla="*/ 664178 h 1328356"/>
              <a:gd name="connsiteX1" fmla="*/ 664178 w 1328356"/>
              <a:gd name="connsiteY1" fmla="*/ 1328357 h 1328356"/>
              <a:gd name="connsiteX2" fmla="*/ 0 w 1328356"/>
              <a:gd name="connsiteY2" fmla="*/ 664178 h 1328356"/>
              <a:gd name="connsiteX3" fmla="*/ 664178 w 1328356"/>
              <a:gd name="connsiteY3" fmla="*/ 0 h 1328356"/>
              <a:gd name="connsiteX4" fmla="*/ 1328357 w 1328356"/>
              <a:gd name="connsiteY4" fmla="*/ 664178 h 13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356" h="1328356">
                <a:moveTo>
                  <a:pt x="1328357" y="664178"/>
                </a:moveTo>
                <a:cubicBezTo>
                  <a:pt x="1328357" y="1030994"/>
                  <a:pt x="1030994" y="1328357"/>
                  <a:pt x="664178" y="1328357"/>
                </a:cubicBezTo>
                <a:cubicBezTo>
                  <a:pt x="297363" y="1328357"/>
                  <a:pt x="0" y="1030994"/>
                  <a:pt x="0" y="664178"/>
                </a:cubicBezTo>
                <a:cubicBezTo>
                  <a:pt x="0" y="297363"/>
                  <a:pt x="297363" y="0"/>
                  <a:pt x="664178" y="0"/>
                </a:cubicBezTo>
                <a:cubicBezTo>
                  <a:pt x="1030994" y="0"/>
                  <a:pt x="1328357" y="297363"/>
                  <a:pt x="1328357" y="664178"/>
                </a:cubicBez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0"/>
                </a:schemeClr>
              </a:gs>
              <a:gs pos="74000">
                <a:schemeClr val="accent1"/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0" dist="444500" dir="8100000" sx="90000" sy="90000" algn="tr" rotWithShape="0">
              <a:prstClr val="black">
                <a:alpha val="8000"/>
              </a:prstClr>
            </a:outerShdw>
            <a:softEdge rad="0"/>
          </a:effectLst>
        </p:spPr>
        <p:txBody>
          <a:bodyPr rtlCol="0" anchor="ctr"/>
          <a:lstStyle/>
          <a:p>
            <a:pPr algn="ctr">
              <a:defRPr/>
            </a:pPr>
            <a:endParaRPr lang="en-ID" sz="4400" b="1" kern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40" name="标题 1"/>
          <p:cNvSpPr txBox="1"/>
          <p:nvPr/>
        </p:nvSpPr>
        <p:spPr>
          <a:xfrm>
            <a:off x="5824486" y="3046664"/>
            <a:ext cx="5645081" cy="98911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建设目标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859211" y="4210983"/>
            <a:ext cx="963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  <a:alpha val="52000"/>
                  </a:schemeClr>
                </a:solidFill>
                <a:latin typeface="+mn-ea"/>
              </a:rPr>
              <a:t>targets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923016" y="4650148"/>
            <a:ext cx="5012594" cy="76182"/>
            <a:chOff x="867506" y="2506993"/>
            <a:chExt cx="5012594" cy="76182"/>
          </a:xfrm>
        </p:grpSpPr>
        <p:cxnSp>
          <p:nvCxnSpPr>
            <p:cNvPr id="3" name="直接连接符"/>
            <p:cNvCxnSpPr/>
            <p:nvPr/>
          </p:nvCxnSpPr>
          <p:spPr>
            <a:xfrm>
              <a:off x="867506" y="2550808"/>
              <a:ext cx="50125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"/>
            <p:cNvSpPr/>
            <p:nvPr/>
          </p:nvSpPr>
          <p:spPr>
            <a:xfrm>
              <a:off x="872586" y="2506993"/>
              <a:ext cx="2251614" cy="7618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accent2"/>
                </a:solidFill>
                <a:latin typeface="+mj-ea"/>
                <a:ea typeface="+mj-ea"/>
                <a:cs typeface="OPPOSans B" panose="00020600040101010101" pitchFamily="18" charset="-122"/>
              </a:endParaRPr>
            </a:p>
          </p:txBody>
        </p:sp>
      </p:grpSp>
      <p:sp>
        <p:nvSpPr>
          <p:cNvPr id="5" name="圆角矩形"/>
          <p:cNvSpPr/>
          <p:nvPr/>
        </p:nvSpPr>
        <p:spPr>
          <a:xfrm>
            <a:off x="5824487" y="2232228"/>
            <a:ext cx="2253732" cy="528081"/>
          </a:xfrm>
          <a:prstGeom prst="roundRect">
            <a:avLst>
              <a:gd name="adj" fmla="val 50000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OPPOSans B" panose="00020600040101010101" pitchFamily="18" charset="-122"/>
              </a:rPr>
              <a:t>第二部分</a:t>
            </a:r>
          </a:p>
        </p:txBody>
      </p:sp>
      <p:sp>
        <p:nvSpPr>
          <p:cNvPr id="23" name="觅知网-不倒翁ID:189359941"/>
          <p:cNvSpPr/>
          <p:nvPr/>
        </p:nvSpPr>
        <p:spPr>
          <a:xfrm>
            <a:off x="10828423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4" name="觅知网-不倒翁ID:189359941"/>
          <p:cNvSpPr/>
          <p:nvPr/>
        </p:nvSpPr>
        <p:spPr>
          <a:xfrm>
            <a:off x="1108991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5" name="觅知网-不倒翁ID:189359941"/>
          <p:cNvSpPr/>
          <p:nvPr/>
        </p:nvSpPr>
        <p:spPr>
          <a:xfrm>
            <a:off x="1135140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6" name="8"/>
          <p:cNvSpPr/>
          <p:nvPr/>
        </p:nvSpPr>
        <p:spPr>
          <a:xfrm>
            <a:off x="295228" y="-142653"/>
            <a:ext cx="928928" cy="928592"/>
          </a:xfrm>
          <a:prstGeom prst="ellipse">
            <a:avLst/>
          </a:prstGeom>
          <a:gradFill flip="none" rotWithShape="1">
            <a:gsLst>
              <a:gs pos="1000">
                <a:schemeClr val="accent1">
                  <a:lumMod val="10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7" name="8"/>
          <p:cNvSpPr/>
          <p:nvPr/>
        </p:nvSpPr>
        <p:spPr>
          <a:xfrm>
            <a:off x="2122468" y="3287559"/>
            <a:ext cx="526678" cy="526488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8" name="8"/>
          <p:cNvSpPr/>
          <p:nvPr/>
        </p:nvSpPr>
        <p:spPr>
          <a:xfrm>
            <a:off x="2500149" y="1494231"/>
            <a:ext cx="335200" cy="33507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9" name="8"/>
          <p:cNvSpPr/>
          <p:nvPr/>
        </p:nvSpPr>
        <p:spPr>
          <a:xfrm>
            <a:off x="1109519" y="6005663"/>
            <a:ext cx="442980" cy="44282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81" y="218315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522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02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58229"/>
            <a:ext cx="5294403" cy="5884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建设目标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747168"/>
            <a:ext cx="12191365" cy="11151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5" name="文本框 4" descr="7b0a20202020227461726765744d6f64756c65223a20226b6f6e6c696e65666f6e7473220a7d0a"/>
          <p:cNvSpPr txBox="1"/>
          <p:nvPr/>
        </p:nvSpPr>
        <p:spPr>
          <a:xfrm>
            <a:off x="2788182" y="5936896"/>
            <a:ext cx="6233844" cy="79162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b="0">
                <a:solidFill>
                  <a:schemeClr val="bg1"/>
                </a:solidFill>
                <a:latin typeface="+mn-ea"/>
                <a:cs typeface="阿里巴巴普惠体" panose="00020600040101010101" charset="-122"/>
              </a:defRPr>
            </a:lvl1pPr>
          </a:lstStyle>
          <a:p>
            <a:r>
              <a:rPr lang="zh-CN" altLang="en-US" sz="1600" spc="300" dirty="0"/>
              <a:t>旨在依托</a:t>
            </a:r>
            <a:r>
              <a:rPr lang="en-US" altLang="zh-CN" sz="1600" spc="300" dirty="0"/>
              <a:t>DeepSeek</a:t>
            </a:r>
            <a:r>
              <a:rPr lang="zh-CN" altLang="en-US" sz="1600" spc="300" dirty="0"/>
              <a:t>大模型</a:t>
            </a:r>
            <a:r>
              <a:rPr lang="zh-CN" altLang="en-US" sz="1600" spc="300" dirty="0">
                <a:sym typeface="阿里巴巴普惠体" panose="00020600040101010101" charset="-122"/>
              </a:rPr>
              <a:t>与政务咨询场景的深度融合，</a:t>
            </a:r>
            <a:endParaRPr lang="en-US" altLang="zh-CN" sz="1600" spc="300" dirty="0">
              <a:sym typeface="阿里巴巴普惠体" panose="00020600040101010101" charset="-122"/>
            </a:endParaRPr>
          </a:p>
          <a:p>
            <a:r>
              <a:rPr lang="zh-CN" altLang="en-US" sz="1600" spc="300" dirty="0">
                <a:sym typeface="阿里巴巴普惠体" panose="00020600040101010101" charset="-122"/>
              </a:rPr>
              <a:t>打造一个高效、精准、智能、便捷的政务咨询服务系统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87164" y="5459162"/>
            <a:ext cx="1480555" cy="1348655"/>
            <a:chOff x="1003867" y="2318169"/>
            <a:chExt cx="3374560" cy="3073926"/>
          </a:xfrm>
        </p:grpSpPr>
        <p:sp>
          <p:nvSpPr>
            <p:cNvPr id="16" name="TOP-PPT-3-2"/>
            <p:cNvSpPr>
              <a:spLocks noChangeArrowheads="1"/>
            </p:cNvSpPr>
            <p:nvPr/>
          </p:nvSpPr>
          <p:spPr bwMode="auto">
            <a:xfrm>
              <a:off x="2763114" y="3776284"/>
              <a:ext cx="424962" cy="4250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91419" tIns="45709" rIns="91419" bIns="4570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endParaRPr>
            </a:p>
          </p:txBody>
        </p:sp>
        <p:sp>
          <p:nvSpPr>
            <p:cNvPr id="17" name="TOP-PPT-3-3"/>
            <p:cNvSpPr>
              <a:spLocks noEditPoints="1"/>
            </p:cNvSpPr>
            <p:nvPr/>
          </p:nvSpPr>
          <p:spPr bwMode="auto">
            <a:xfrm>
              <a:off x="1572765" y="2583281"/>
              <a:ext cx="2805662" cy="2808814"/>
            </a:xfrm>
            <a:custGeom>
              <a:avLst/>
              <a:gdLst>
                <a:gd name="T0" fmla="*/ 660 w 1320"/>
                <a:gd name="T1" fmla="*/ 0 h 1320"/>
                <a:gd name="T2" fmla="*/ 0 w 1320"/>
                <a:gd name="T3" fmla="*/ 660 h 1320"/>
                <a:gd name="T4" fmla="*/ 660 w 1320"/>
                <a:gd name="T5" fmla="*/ 1320 h 1320"/>
                <a:gd name="T6" fmla="*/ 1320 w 1320"/>
                <a:gd name="T7" fmla="*/ 660 h 1320"/>
                <a:gd name="T8" fmla="*/ 660 w 1320"/>
                <a:gd name="T9" fmla="*/ 0 h 1320"/>
                <a:gd name="T10" fmla="*/ 660 w 1320"/>
                <a:gd name="T11" fmla="*/ 1224 h 1320"/>
                <a:gd name="T12" fmla="*/ 96 w 1320"/>
                <a:gd name="T13" fmla="*/ 660 h 1320"/>
                <a:gd name="T14" fmla="*/ 660 w 1320"/>
                <a:gd name="T15" fmla="*/ 96 h 1320"/>
                <a:gd name="T16" fmla="*/ 1224 w 1320"/>
                <a:gd name="T17" fmla="*/ 660 h 1320"/>
                <a:gd name="T18" fmla="*/ 660 w 1320"/>
                <a:gd name="T19" fmla="*/ 1224 h 1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0" h="1320">
                  <a:moveTo>
                    <a:pt x="660" y="0"/>
                  </a:moveTo>
                  <a:cubicBezTo>
                    <a:pt x="295" y="0"/>
                    <a:pt x="0" y="296"/>
                    <a:pt x="0" y="660"/>
                  </a:cubicBezTo>
                  <a:cubicBezTo>
                    <a:pt x="0" y="1025"/>
                    <a:pt x="295" y="1320"/>
                    <a:pt x="660" y="1320"/>
                  </a:cubicBezTo>
                  <a:cubicBezTo>
                    <a:pt x="1025" y="1320"/>
                    <a:pt x="1320" y="1025"/>
                    <a:pt x="1320" y="660"/>
                  </a:cubicBezTo>
                  <a:cubicBezTo>
                    <a:pt x="1320" y="296"/>
                    <a:pt x="1025" y="0"/>
                    <a:pt x="660" y="0"/>
                  </a:cubicBezTo>
                  <a:close/>
                  <a:moveTo>
                    <a:pt x="660" y="1224"/>
                  </a:moveTo>
                  <a:cubicBezTo>
                    <a:pt x="349" y="1224"/>
                    <a:pt x="96" y="972"/>
                    <a:pt x="96" y="660"/>
                  </a:cubicBezTo>
                  <a:cubicBezTo>
                    <a:pt x="96" y="349"/>
                    <a:pt x="349" y="96"/>
                    <a:pt x="660" y="96"/>
                  </a:cubicBezTo>
                  <a:cubicBezTo>
                    <a:pt x="971" y="96"/>
                    <a:pt x="1224" y="349"/>
                    <a:pt x="1224" y="660"/>
                  </a:cubicBezTo>
                  <a:cubicBezTo>
                    <a:pt x="1224" y="972"/>
                    <a:pt x="971" y="1224"/>
                    <a:pt x="660" y="122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19" tIns="45709" rIns="91419" bIns="4570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endParaRPr>
            </a:p>
          </p:txBody>
        </p:sp>
        <p:sp>
          <p:nvSpPr>
            <p:cNvPr id="18" name="TOP-PPT-3-4"/>
            <p:cNvSpPr>
              <a:spLocks noEditPoints="1"/>
            </p:cNvSpPr>
            <p:nvPr/>
          </p:nvSpPr>
          <p:spPr bwMode="auto">
            <a:xfrm>
              <a:off x="1972594" y="2987806"/>
              <a:ext cx="2003717" cy="2002051"/>
            </a:xfrm>
            <a:custGeom>
              <a:avLst/>
              <a:gdLst>
                <a:gd name="T0" fmla="*/ 471 w 942"/>
                <a:gd name="T1" fmla="*/ 0 h 941"/>
                <a:gd name="T2" fmla="*/ 0 w 942"/>
                <a:gd name="T3" fmla="*/ 470 h 941"/>
                <a:gd name="T4" fmla="*/ 471 w 942"/>
                <a:gd name="T5" fmla="*/ 941 h 941"/>
                <a:gd name="T6" fmla="*/ 942 w 942"/>
                <a:gd name="T7" fmla="*/ 470 h 941"/>
                <a:gd name="T8" fmla="*/ 471 w 942"/>
                <a:gd name="T9" fmla="*/ 0 h 941"/>
                <a:gd name="T10" fmla="*/ 471 w 942"/>
                <a:gd name="T11" fmla="*/ 854 h 941"/>
                <a:gd name="T12" fmla="*/ 87 w 942"/>
                <a:gd name="T13" fmla="*/ 470 h 941"/>
                <a:gd name="T14" fmla="*/ 471 w 942"/>
                <a:gd name="T15" fmla="*/ 86 h 941"/>
                <a:gd name="T16" fmla="*/ 855 w 942"/>
                <a:gd name="T17" fmla="*/ 470 h 941"/>
                <a:gd name="T18" fmla="*/ 471 w 942"/>
                <a:gd name="T19" fmla="*/ 854 h 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2" h="941">
                  <a:moveTo>
                    <a:pt x="471" y="0"/>
                  </a:moveTo>
                  <a:cubicBezTo>
                    <a:pt x="211" y="0"/>
                    <a:pt x="0" y="210"/>
                    <a:pt x="0" y="470"/>
                  </a:cubicBezTo>
                  <a:cubicBezTo>
                    <a:pt x="0" y="730"/>
                    <a:pt x="211" y="941"/>
                    <a:pt x="471" y="941"/>
                  </a:cubicBezTo>
                  <a:cubicBezTo>
                    <a:pt x="731" y="941"/>
                    <a:pt x="942" y="730"/>
                    <a:pt x="942" y="470"/>
                  </a:cubicBezTo>
                  <a:cubicBezTo>
                    <a:pt x="942" y="210"/>
                    <a:pt x="731" y="0"/>
                    <a:pt x="471" y="0"/>
                  </a:cubicBezTo>
                  <a:close/>
                  <a:moveTo>
                    <a:pt x="471" y="854"/>
                  </a:moveTo>
                  <a:cubicBezTo>
                    <a:pt x="259" y="854"/>
                    <a:pt x="87" y="682"/>
                    <a:pt x="87" y="470"/>
                  </a:cubicBezTo>
                  <a:cubicBezTo>
                    <a:pt x="87" y="258"/>
                    <a:pt x="259" y="86"/>
                    <a:pt x="471" y="86"/>
                  </a:cubicBezTo>
                  <a:cubicBezTo>
                    <a:pt x="683" y="86"/>
                    <a:pt x="855" y="258"/>
                    <a:pt x="855" y="470"/>
                  </a:cubicBezTo>
                  <a:cubicBezTo>
                    <a:pt x="855" y="682"/>
                    <a:pt x="683" y="854"/>
                    <a:pt x="471" y="85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19" tIns="45709" rIns="91419" bIns="4570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endParaRPr>
            </a:p>
          </p:txBody>
        </p:sp>
        <p:sp>
          <p:nvSpPr>
            <p:cNvPr id="19" name="TOP-PPT-3-5"/>
            <p:cNvSpPr>
              <a:spLocks noEditPoints="1"/>
            </p:cNvSpPr>
            <p:nvPr/>
          </p:nvSpPr>
          <p:spPr bwMode="auto">
            <a:xfrm>
              <a:off x="2386133" y="3399186"/>
              <a:ext cx="1178926" cy="1179290"/>
            </a:xfrm>
            <a:custGeom>
              <a:avLst/>
              <a:gdLst>
                <a:gd name="T0" fmla="*/ 277 w 554"/>
                <a:gd name="T1" fmla="*/ 0 h 555"/>
                <a:gd name="T2" fmla="*/ 0 w 554"/>
                <a:gd name="T3" fmla="*/ 277 h 555"/>
                <a:gd name="T4" fmla="*/ 277 w 554"/>
                <a:gd name="T5" fmla="*/ 555 h 555"/>
                <a:gd name="T6" fmla="*/ 554 w 554"/>
                <a:gd name="T7" fmla="*/ 277 h 555"/>
                <a:gd name="T8" fmla="*/ 277 w 554"/>
                <a:gd name="T9" fmla="*/ 0 h 555"/>
                <a:gd name="T10" fmla="*/ 277 w 554"/>
                <a:gd name="T11" fmla="*/ 464 h 555"/>
                <a:gd name="T12" fmla="*/ 90 w 554"/>
                <a:gd name="T13" fmla="*/ 277 h 555"/>
                <a:gd name="T14" fmla="*/ 277 w 554"/>
                <a:gd name="T15" fmla="*/ 91 h 555"/>
                <a:gd name="T16" fmla="*/ 464 w 554"/>
                <a:gd name="T17" fmla="*/ 277 h 555"/>
                <a:gd name="T18" fmla="*/ 277 w 554"/>
                <a:gd name="T19" fmla="*/ 464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4" h="555">
                  <a:moveTo>
                    <a:pt x="277" y="0"/>
                  </a:moveTo>
                  <a:cubicBezTo>
                    <a:pt x="124" y="0"/>
                    <a:pt x="0" y="124"/>
                    <a:pt x="0" y="277"/>
                  </a:cubicBezTo>
                  <a:cubicBezTo>
                    <a:pt x="0" y="430"/>
                    <a:pt x="124" y="555"/>
                    <a:pt x="277" y="555"/>
                  </a:cubicBezTo>
                  <a:cubicBezTo>
                    <a:pt x="430" y="555"/>
                    <a:pt x="554" y="430"/>
                    <a:pt x="554" y="277"/>
                  </a:cubicBezTo>
                  <a:cubicBezTo>
                    <a:pt x="554" y="124"/>
                    <a:pt x="430" y="0"/>
                    <a:pt x="277" y="0"/>
                  </a:cubicBezTo>
                  <a:close/>
                  <a:moveTo>
                    <a:pt x="277" y="464"/>
                  </a:moveTo>
                  <a:cubicBezTo>
                    <a:pt x="174" y="464"/>
                    <a:pt x="90" y="380"/>
                    <a:pt x="90" y="277"/>
                  </a:cubicBezTo>
                  <a:cubicBezTo>
                    <a:pt x="90" y="174"/>
                    <a:pt x="174" y="91"/>
                    <a:pt x="277" y="91"/>
                  </a:cubicBezTo>
                  <a:cubicBezTo>
                    <a:pt x="380" y="91"/>
                    <a:pt x="464" y="174"/>
                    <a:pt x="464" y="277"/>
                  </a:cubicBezTo>
                  <a:cubicBezTo>
                    <a:pt x="464" y="380"/>
                    <a:pt x="380" y="464"/>
                    <a:pt x="277" y="46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19" tIns="45709" rIns="91419" bIns="4570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endParaRPr>
            </a:p>
          </p:txBody>
        </p:sp>
        <p:grpSp>
          <p:nvGrpSpPr>
            <p:cNvPr id="20" name="TOP-PPT-4"/>
            <p:cNvGrpSpPr/>
            <p:nvPr/>
          </p:nvGrpSpPr>
          <p:grpSpPr>
            <a:xfrm>
              <a:off x="1003867" y="2318169"/>
              <a:ext cx="1976300" cy="1670662"/>
              <a:chOff x="1508126" y="1417638"/>
              <a:chExt cx="1373187" cy="1160463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21" name="TOP-PPT-4-1"/>
              <p:cNvSpPr/>
              <p:nvPr/>
            </p:nvSpPr>
            <p:spPr bwMode="auto">
              <a:xfrm>
                <a:off x="1508126" y="1636713"/>
                <a:ext cx="444500" cy="239713"/>
              </a:xfrm>
              <a:custGeom>
                <a:avLst/>
                <a:gdLst>
                  <a:gd name="T0" fmla="*/ 280 w 280"/>
                  <a:gd name="T1" fmla="*/ 117 h 151"/>
                  <a:gd name="T2" fmla="*/ 146 w 280"/>
                  <a:gd name="T3" fmla="*/ 151 h 151"/>
                  <a:gd name="T4" fmla="*/ 0 w 280"/>
                  <a:gd name="T5" fmla="*/ 33 h 151"/>
                  <a:gd name="T6" fmla="*/ 134 w 280"/>
                  <a:gd name="T7" fmla="*/ 0 h 151"/>
                  <a:gd name="T8" fmla="*/ 280 w 280"/>
                  <a:gd name="T9" fmla="*/ 11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0" h="151">
                    <a:moveTo>
                      <a:pt x="280" y="117"/>
                    </a:moveTo>
                    <a:lnTo>
                      <a:pt x="146" y="151"/>
                    </a:lnTo>
                    <a:lnTo>
                      <a:pt x="0" y="33"/>
                    </a:lnTo>
                    <a:lnTo>
                      <a:pt x="134" y="0"/>
                    </a:lnTo>
                    <a:lnTo>
                      <a:pt x="280" y="11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19" tIns="45709" rIns="91419" bIns="4570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阿里巴巴普惠体" panose="00020600040101010101" charset="-122"/>
                </a:endParaRPr>
              </a:p>
            </p:txBody>
          </p:sp>
          <p:sp>
            <p:nvSpPr>
              <p:cNvPr id="22" name="TOP-PPT-4-2"/>
              <p:cNvSpPr/>
              <p:nvPr/>
            </p:nvSpPr>
            <p:spPr bwMode="auto">
              <a:xfrm>
                <a:off x="1720850" y="1417638"/>
                <a:ext cx="238125" cy="404813"/>
              </a:xfrm>
              <a:custGeom>
                <a:avLst/>
                <a:gdLst>
                  <a:gd name="T0" fmla="*/ 146 w 150"/>
                  <a:gd name="T1" fmla="*/ 255 h 255"/>
                  <a:gd name="T2" fmla="*/ 150 w 150"/>
                  <a:gd name="T3" fmla="*/ 117 h 255"/>
                  <a:gd name="T4" fmla="*/ 4 w 150"/>
                  <a:gd name="T5" fmla="*/ 0 h 255"/>
                  <a:gd name="T6" fmla="*/ 0 w 150"/>
                  <a:gd name="T7" fmla="*/ 138 h 255"/>
                  <a:gd name="T8" fmla="*/ 146 w 15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255">
                    <a:moveTo>
                      <a:pt x="146" y="255"/>
                    </a:moveTo>
                    <a:lnTo>
                      <a:pt x="150" y="117"/>
                    </a:lnTo>
                    <a:lnTo>
                      <a:pt x="4" y="0"/>
                    </a:lnTo>
                    <a:lnTo>
                      <a:pt x="0" y="138"/>
                    </a:lnTo>
                    <a:lnTo>
                      <a:pt x="146" y="25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19" tIns="45709" rIns="91419" bIns="4570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阿里巴巴普惠体" panose="00020600040101010101" charset="-122"/>
                </a:endParaRPr>
              </a:p>
            </p:txBody>
          </p:sp>
          <p:sp>
            <p:nvSpPr>
              <p:cNvPr id="23" name="TOP-PPT-4-3"/>
              <p:cNvSpPr/>
              <p:nvPr/>
            </p:nvSpPr>
            <p:spPr bwMode="auto">
              <a:xfrm>
                <a:off x="1660525" y="1577976"/>
                <a:ext cx="1174750" cy="965200"/>
              </a:xfrm>
              <a:custGeom>
                <a:avLst/>
                <a:gdLst>
                  <a:gd name="T0" fmla="*/ 772 w 795"/>
                  <a:gd name="T1" fmla="*/ 654 h 654"/>
                  <a:gd name="T2" fmla="*/ 759 w 795"/>
                  <a:gd name="T3" fmla="*/ 649 h 654"/>
                  <a:gd name="T4" fmla="*/ 10 w 795"/>
                  <a:gd name="T5" fmla="*/ 39 h 654"/>
                  <a:gd name="T6" fmla="*/ 7 w 795"/>
                  <a:gd name="T7" fmla="*/ 10 h 654"/>
                  <a:gd name="T8" fmla="*/ 36 w 795"/>
                  <a:gd name="T9" fmla="*/ 8 h 654"/>
                  <a:gd name="T10" fmla="*/ 785 w 795"/>
                  <a:gd name="T11" fmla="*/ 618 h 654"/>
                  <a:gd name="T12" fmla="*/ 788 w 795"/>
                  <a:gd name="T13" fmla="*/ 646 h 654"/>
                  <a:gd name="T14" fmla="*/ 772 w 795"/>
                  <a:gd name="T15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95" h="654">
                    <a:moveTo>
                      <a:pt x="772" y="654"/>
                    </a:moveTo>
                    <a:cubicBezTo>
                      <a:pt x="768" y="654"/>
                      <a:pt x="763" y="652"/>
                      <a:pt x="759" y="649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1" y="32"/>
                      <a:pt x="0" y="19"/>
                      <a:pt x="7" y="10"/>
                    </a:cubicBezTo>
                    <a:cubicBezTo>
                      <a:pt x="14" y="2"/>
                      <a:pt x="27" y="0"/>
                      <a:pt x="36" y="8"/>
                    </a:cubicBezTo>
                    <a:cubicBezTo>
                      <a:pt x="785" y="618"/>
                      <a:pt x="785" y="618"/>
                      <a:pt x="785" y="618"/>
                    </a:cubicBezTo>
                    <a:cubicBezTo>
                      <a:pt x="794" y="625"/>
                      <a:pt x="795" y="638"/>
                      <a:pt x="788" y="646"/>
                    </a:cubicBezTo>
                    <a:cubicBezTo>
                      <a:pt x="784" y="651"/>
                      <a:pt x="778" y="654"/>
                      <a:pt x="772" y="654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91419" tIns="45709" rIns="91419" bIns="4570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阿里巴巴普惠体" panose="00020600040101010101" charset="-122"/>
                </a:endParaRPr>
              </a:p>
            </p:txBody>
          </p:sp>
          <p:sp>
            <p:nvSpPr>
              <p:cNvPr id="24" name="TOP-PPT-4-4"/>
              <p:cNvSpPr/>
              <p:nvPr/>
            </p:nvSpPr>
            <p:spPr bwMode="auto">
              <a:xfrm>
                <a:off x="2600325" y="2459038"/>
                <a:ext cx="280987" cy="119063"/>
              </a:xfrm>
              <a:custGeom>
                <a:avLst/>
                <a:gdLst>
                  <a:gd name="T0" fmla="*/ 0 w 177"/>
                  <a:gd name="T1" fmla="*/ 12 h 75"/>
                  <a:gd name="T2" fmla="*/ 177 w 177"/>
                  <a:gd name="T3" fmla="*/ 75 h 75"/>
                  <a:gd name="T4" fmla="*/ 85 w 177"/>
                  <a:gd name="T5" fmla="*/ 0 h 75"/>
                  <a:gd name="T6" fmla="*/ 0 w 177"/>
                  <a:gd name="T7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7" h="75">
                    <a:moveTo>
                      <a:pt x="0" y="12"/>
                    </a:moveTo>
                    <a:lnTo>
                      <a:pt x="177" y="75"/>
                    </a:lnTo>
                    <a:lnTo>
                      <a:pt x="85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19" tIns="45709" rIns="91419" bIns="4570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阿里巴巴普惠体" panose="00020600040101010101" charset="-122"/>
                </a:endParaRPr>
              </a:p>
            </p:txBody>
          </p:sp>
          <p:sp>
            <p:nvSpPr>
              <p:cNvPr id="25" name="TOP-PPT-4-5"/>
              <p:cNvSpPr/>
              <p:nvPr/>
            </p:nvSpPr>
            <p:spPr bwMode="auto">
              <a:xfrm>
                <a:off x="2725738" y="2324101"/>
                <a:ext cx="155575" cy="254000"/>
              </a:xfrm>
              <a:custGeom>
                <a:avLst/>
                <a:gdLst>
                  <a:gd name="T0" fmla="*/ 6 w 98"/>
                  <a:gd name="T1" fmla="*/ 85 h 160"/>
                  <a:gd name="T2" fmla="*/ 98 w 98"/>
                  <a:gd name="T3" fmla="*/ 160 h 160"/>
                  <a:gd name="T4" fmla="*/ 0 w 98"/>
                  <a:gd name="T5" fmla="*/ 0 h 160"/>
                  <a:gd name="T6" fmla="*/ 6 w 98"/>
                  <a:gd name="T7" fmla="*/ 85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8" h="160">
                    <a:moveTo>
                      <a:pt x="6" y="85"/>
                    </a:moveTo>
                    <a:lnTo>
                      <a:pt x="98" y="160"/>
                    </a:lnTo>
                    <a:lnTo>
                      <a:pt x="0" y="0"/>
                    </a:lnTo>
                    <a:lnTo>
                      <a:pt x="6" y="8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19" tIns="45709" rIns="91419" bIns="45709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阿里巴巴普惠体" panose="00020600040101010101" charset="-122"/>
                </a:endParaRPr>
              </a:p>
            </p:txBody>
          </p:sp>
        </p:grpSp>
      </p:grpSp>
      <p:grpSp>
        <p:nvGrpSpPr>
          <p:cNvPr id="106" name="组合 105"/>
          <p:cNvGrpSpPr/>
          <p:nvPr/>
        </p:nvGrpSpPr>
        <p:grpSpPr>
          <a:xfrm>
            <a:off x="2317149" y="1028114"/>
            <a:ext cx="7268777" cy="4686741"/>
            <a:chOff x="2441" y="3375"/>
            <a:chExt cx="12091" cy="7796"/>
          </a:xfrm>
        </p:grpSpPr>
        <p:pic>
          <p:nvPicPr>
            <p:cNvPr id="107" name="图片 106" descr="03891b2ca65196b0de50c9104519ee12000fd2d15c37-2dHUUa_fw12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1" y="5366"/>
              <a:ext cx="10837" cy="5805"/>
            </a:xfrm>
            <a:prstGeom prst="rect">
              <a:avLst/>
            </a:prstGeom>
          </p:spPr>
        </p:pic>
        <p:grpSp>
          <p:nvGrpSpPr>
            <p:cNvPr id="108" name="组合 107"/>
            <p:cNvGrpSpPr/>
            <p:nvPr/>
          </p:nvGrpSpPr>
          <p:grpSpPr>
            <a:xfrm>
              <a:off x="2441" y="3375"/>
              <a:ext cx="12091" cy="5473"/>
              <a:chOff x="2441" y="3375"/>
              <a:chExt cx="12091" cy="5473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3090" y="3712"/>
                <a:ext cx="10708" cy="3734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  <a:alpha val="6000"/>
                </a:schemeClr>
              </a:solidFill>
              <a:ln w="12700" cap="flat" cmpd="sng" algn="ctr">
                <a:solidFill>
                  <a:srgbClr val="004EAA">
                    <a:alpha val="30000"/>
                  </a:srgbClr>
                </a:solidFill>
                <a:prstDash val="dash"/>
                <a:miter lim="800000"/>
              </a:ln>
              <a:effectLst/>
            </p:spPr>
            <p:txBody>
              <a:bodyPr lIns="66968" tIns="33483" rIns="66968" bIns="33483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69925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0" name="组合 109"/>
              <p:cNvGrpSpPr/>
              <p:nvPr/>
            </p:nvGrpSpPr>
            <p:grpSpPr>
              <a:xfrm>
                <a:off x="2441" y="5312"/>
                <a:ext cx="1728" cy="1046"/>
                <a:chOff x="1106442" y="1354345"/>
                <a:chExt cx="1401028" cy="982559"/>
              </a:xfrm>
            </p:grpSpPr>
            <p:grpSp>
              <p:nvGrpSpPr>
                <p:cNvPr id="162" name="组合 161"/>
                <p:cNvGrpSpPr/>
                <p:nvPr/>
              </p:nvGrpSpPr>
              <p:grpSpPr>
                <a:xfrm>
                  <a:off x="1106442" y="1354345"/>
                  <a:ext cx="1401028" cy="982559"/>
                  <a:chOff x="4062424" y="3579962"/>
                  <a:chExt cx="1401028" cy="982559"/>
                </a:xfrm>
              </p:grpSpPr>
              <p:sp>
                <p:nvSpPr>
                  <p:cNvPr id="164" name="椭圆 163"/>
                  <p:cNvSpPr/>
                  <p:nvPr/>
                </p:nvSpPr>
                <p:spPr>
                  <a:xfrm>
                    <a:off x="4294584" y="3579962"/>
                    <a:ext cx="540000" cy="540000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rgbClr val="0C84F2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669925">
                      <a:defRPr/>
                    </a:pPr>
                    <a:endParaRPr lang="zh-CN" altLang="en-US" kern="0">
                      <a:solidFill>
                        <a:prstClr val="white"/>
                      </a:solidFill>
                      <a:latin typeface="等线" panose="02010600030101010101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5" name="文本框 241"/>
                  <p:cNvSpPr txBox="1"/>
                  <p:nvPr/>
                </p:nvSpPr>
                <p:spPr>
                  <a:xfrm>
                    <a:off x="4062424" y="4154806"/>
                    <a:ext cx="1401028" cy="40771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669925">
                      <a:defRPr/>
                    </a:pPr>
                    <a:r>
                      <a:rPr lang="zh-CN" altLang="en-US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政务费用计算</a:t>
                    </a:r>
                    <a:endParaRPr lang="en-US" altLang="zh-CN" sz="1200" b="1" kern="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63" name="Shape 1865"/>
                <p:cNvSpPr/>
                <p:nvPr/>
              </p:nvSpPr>
              <p:spPr>
                <a:xfrm>
                  <a:off x="1454974" y="1463750"/>
                  <a:ext cx="307255" cy="3065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29" y="11544"/>
                      </a:moveTo>
                      <a:cubicBezTo>
                        <a:pt x="21493" y="11931"/>
                        <a:pt x="21572" y="12338"/>
                        <a:pt x="21572" y="12758"/>
                      </a:cubicBezTo>
                      <a:cubicBezTo>
                        <a:pt x="21572" y="13464"/>
                        <a:pt x="21388" y="14105"/>
                        <a:pt x="21018" y="14679"/>
                      </a:cubicBezTo>
                      <a:cubicBezTo>
                        <a:pt x="21111" y="15215"/>
                        <a:pt x="21077" y="15746"/>
                        <a:pt x="20925" y="16285"/>
                      </a:cubicBezTo>
                      <a:cubicBezTo>
                        <a:pt x="20769" y="16819"/>
                        <a:pt x="20512" y="17288"/>
                        <a:pt x="20142" y="17697"/>
                      </a:cubicBezTo>
                      <a:cubicBezTo>
                        <a:pt x="20105" y="18451"/>
                        <a:pt x="19902" y="19081"/>
                        <a:pt x="19532" y="19581"/>
                      </a:cubicBezTo>
                      <a:cubicBezTo>
                        <a:pt x="19161" y="20081"/>
                        <a:pt x="18701" y="20482"/>
                        <a:pt x="18147" y="20784"/>
                      </a:cubicBezTo>
                      <a:cubicBezTo>
                        <a:pt x="17593" y="21089"/>
                        <a:pt x="16983" y="21298"/>
                        <a:pt x="16322" y="21419"/>
                      </a:cubicBezTo>
                      <a:cubicBezTo>
                        <a:pt x="15660" y="21541"/>
                        <a:pt x="15010" y="21600"/>
                        <a:pt x="14380" y="21600"/>
                      </a:cubicBezTo>
                      <a:cubicBezTo>
                        <a:pt x="13730" y="21600"/>
                        <a:pt x="13078" y="21555"/>
                        <a:pt x="12425" y="21462"/>
                      </a:cubicBezTo>
                      <a:cubicBezTo>
                        <a:pt x="11772" y="21363"/>
                        <a:pt x="11128" y="21236"/>
                        <a:pt x="10498" y="21075"/>
                      </a:cubicBezTo>
                      <a:cubicBezTo>
                        <a:pt x="9865" y="20894"/>
                        <a:pt x="9237" y="20702"/>
                        <a:pt x="8610" y="20493"/>
                      </a:cubicBezTo>
                      <a:cubicBezTo>
                        <a:pt x="7983" y="20287"/>
                        <a:pt x="7341" y="20182"/>
                        <a:pt x="6680" y="20182"/>
                      </a:cubicBezTo>
                      <a:lnTo>
                        <a:pt x="1608" y="20182"/>
                      </a:lnTo>
                      <a:cubicBezTo>
                        <a:pt x="1167" y="20182"/>
                        <a:pt x="786" y="20030"/>
                        <a:pt x="472" y="19714"/>
                      </a:cubicBezTo>
                      <a:cubicBezTo>
                        <a:pt x="158" y="19406"/>
                        <a:pt x="0" y="19025"/>
                        <a:pt x="0" y="18573"/>
                      </a:cubicBezTo>
                      <a:lnTo>
                        <a:pt x="0" y="9881"/>
                      </a:lnTo>
                      <a:cubicBezTo>
                        <a:pt x="0" y="9440"/>
                        <a:pt x="158" y="9065"/>
                        <a:pt x="472" y="8754"/>
                      </a:cubicBezTo>
                      <a:cubicBezTo>
                        <a:pt x="786" y="8441"/>
                        <a:pt x="1167" y="8285"/>
                        <a:pt x="1608" y="8285"/>
                      </a:cubicBezTo>
                      <a:lnTo>
                        <a:pt x="6316" y="8285"/>
                      </a:lnTo>
                      <a:cubicBezTo>
                        <a:pt x="6559" y="8161"/>
                        <a:pt x="6751" y="8023"/>
                        <a:pt x="6898" y="7873"/>
                      </a:cubicBezTo>
                      <a:cubicBezTo>
                        <a:pt x="7042" y="7723"/>
                        <a:pt x="7197" y="7548"/>
                        <a:pt x="7370" y="7342"/>
                      </a:cubicBezTo>
                      <a:cubicBezTo>
                        <a:pt x="7514" y="7161"/>
                        <a:pt x="7663" y="6986"/>
                        <a:pt x="7810" y="6820"/>
                      </a:cubicBezTo>
                      <a:cubicBezTo>
                        <a:pt x="7957" y="6653"/>
                        <a:pt x="8113" y="6484"/>
                        <a:pt x="8277" y="6311"/>
                      </a:cubicBezTo>
                      <a:cubicBezTo>
                        <a:pt x="8570" y="5998"/>
                        <a:pt x="8918" y="5690"/>
                        <a:pt x="9302" y="5385"/>
                      </a:cubicBezTo>
                      <a:cubicBezTo>
                        <a:pt x="9692" y="5086"/>
                        <a:pt x="9989" y="4750"/>
                        <a:pt x="10195" y="4380"/>
                      </a:cubicBezTo>
                      <a:cubicBezTo>
                        <a:pt x="10339" y="4117"/>
                        <a:pt x="10444" y="3826"/>
                        <a:pt x="10506" y="3507"/>
                      </a:cubicBezTo>
                      <a:cubicBezTo>
                        <a:pt x="10565" y="3188"/>
                        <a:pt x="10628" y="2866"/>
                        <a:pt x="10676" y="2539"/>
                      </a:cubicBezTo>
                      <a:cubicBezTo>
                        <a:pt x="10727" y="2217"/>
                        <a:pt x="10780" y="1900"/>
                        <a:pt x="10845" y="1593"/>
                      </a:cubicBezTo>
                      <a:cubicBezTo>
                        <a:pt x="10907" y="1288"/>
                        <a:pt x="11015" y="1017"/>
                        <a:pt x="11162" y="777"/>
                      </a:cubicBezTo>
                      <a:cubicBezTo>
                        <a:pt x="11311" y="537"/>
                        <a:pt x="11523" y="350"/>
                        <a:pt x="11800" y="209"/>
                      </a:cubicBezTo>
                      <a:cubicBezTo>
                        <a:pt x="12074" y="68"/>
                        <a:pt x="12442" y="0"/>
                        <a:pt x="12902" y="0"/>
                      </a:cubicBezTo>
                      <a:cubicBezTo>
                        <a:pt x="13451" y="0"/>
                        <a:pt x="13956" y="113"/>
                        <a:pt x="14411" y="345"/>
                      </a:cubicBezTo>
                      <a:cubicBezTo>
                        <a:pt x="14869" y="573"/>
                        <a:pt x="15251" y="881"/>
                        <a:pt x="15567" y="1271"/>
                      </a:cubicBezTo>
                      <a:cubicBezTo>
                        <a:pt x="15881" y="1658"/>
                        <a:pt x="16127" y="2101"/>
                        <a:pt x="16305" y="2601"/>
                      </a:cubicBezTo>
                      <a:cubicBezTo>
                        <a:pt x="16480" y="3104"/>
                        <a:pt x="16570" y="3609"/>
                        <a:pt x="16570" y="4123"/>
                      </a:cubicBezTo>
                      <a:cubicBezTo>
                        <a:pt x="16570" y="4654"/>
                        <a:pt x="16491" y="5162"/>
                        <a:pt x="16333" y="5645"/>
                      </a:cubicBezTo>
                      <a:cubicBezTo>
                        <a:pt x="16175" y="6125"/>
                        <a:pt x="15982" y="6611"/>
                        <a:pt x="15759" y="7097"/>
                      </a:cubicBezTo>
                      <a:cubicBezTo>
                        <a:pt x="16073" y="7080"/>
                        <a:pt x="16389" y="7057"/>
                        <a:pt x="16706" y="7035"/>
                      </a:cubicBezTo>
                      <a:cubicBezTo>
                        <a:pt x="17019" y="7012"/>
                        <a:pt x="17336" y="7001"/>
                        <a:pt x="17652" y="7001"/>
                      </a:cubicBezTo>
                      <a:cubicBezTo>
                        <a:pt x="18150" y="7001"/>
                        <a:pt x="18630" y="7049"/>
                        <a:pt x="19099" y="7145"/>
                      </a:cubicBezTo>
                      <a:cubicBezTo>
                        <a:pt x="19568" y="7238"/>
                        <a:pt x="19986" y="7396"/>
                        <a:pt x="20357" y="7616"/>
                      </a:cubicBezTo>
                      <a:cubicBezTo>
                        <a:pt x="20727" y="7839"/>
                        <a:pt x="21026" y="8144"/>
                        <a:pt x="21255" y="8528"/>
                      </a:cubicBezTo>
                      <a:cubicBezTo>
                        <a:pt x="21487" y="8918"/>
                        <a:pt x="21600" y="9409"/>
                        <a:pt x="21600" y="10002"/>
                      </a:cubicBezTo>
                      <a:cubicBezTo>
                        <a:pt x="21600" y="10265"/>
                        <a:pt x="21580" y="10519"/>
                        <a:pt x="21535" y="10773"/>
                      </a:cubicBezTo>
                      <a:cubicBezTo>
                        <a:pt x="21484" y="11030"/>
                        <a:pt x="21419" y="11284"/>
                        <a:pt x="21329" y="11544"/>
                      </a:cubicBezTo>
                      <a:moveTo>
                        <a:pt x="4258" y="18519"/>
                      </a:moveTo>
                      <a:cubicBezTo>
                        <a:pt x="4555" y="18519"/>
                        <a:pt x="4809" y="18417"/>
                        <a:pt x="5024" y="18214"/>
                      </a:cubicBezTo>
                      <a:cubicBezTo>
                        <a:pt x="5233" y="18014"/>
                        <a:pt x="5341" y="17759"/>
                        <a:pt x="5341" y="17454"/>
                      </a:cubicBezTo>
                      <a:cubicBezTo>
                        <a:pt x="5341" y="17155"/>
                        <a:pt x="5233" y="16901"/>
                        <a:pt x="5024" y="16686"/>
                      </a:cubicBezTo>
                      <a:cubicBezTo>
                        <a:pt x="4812" y="16477"/>
                        <a:pt x="4558" y="16373"/>
                        <a:pt x="4258" y="16373"/>
                      </a:cubicBezTo>
                      <a:cubicBezTo>
                        <a:pt x="3942" y="16373"/>
                        <a:pt x="3685" y="16477"/>
                        <a:pt x="3487" y="16686"/>
                      </a:cubicBezTo>
                      <a:cubicBezTo>
                        <a:pt x="3289" y="16901"/>
                        <a:pt x="3190" y="17155"/>
                        <a:pt x="3190" y="17454"/>
                      </a:cubicBezTo>
                      <a:cubicBezTo>
                        <a:pt x="3190" y="17768"/>
                        <a:pt x="3289" y="18025"/>
                        <a:pt x="3487" y="18223"/>
                      </a:cubicBezTo>
                      <a:cubicBezTo>
                        <a:pt x="3682" y="18420"/>
                        <a:pt x="3939" y="18519"/>
                        <a:pt x="4258" y="18519"/>
                      </a:cubicBezTo>
                      <a:moveTo>
                        <a:pt x="19164" y="14343"/>
                      </a:moveTo>
                      <a:cubicBezTo>
                        <a:pt x="19704" y="13902"/>
                        <a:pt x="19975" y="13346"/>
                        <a:pt x="19975" y="12679"/>
                      </a:cubicBezTo>
                      <a:cubicBezTo>
                        <a:pt x="19975" y="12473"/>
                        <a:pt x="19919" y="12281"/>
                        <a:pt x="19806" y="12098"/>
                      </a:cubicBezTo>
                      <a:cubicBezTo>
                        <a:pt x="19695" y="11920"/>
                        <a:pt x="19577" y="11762"/>
                        <a:pt x="19447" y="11623"/>
                      </a:cubicBezTo>
                      <a:cubicBezTo>
                        <a:pt x="19591" y="11363"/>
                        <a:pt x="19721" y="11106"/>
                        <a:pt x="19834" y="10849"/>
                      </a:cubicBezTo>
                      <a:cubicBezTo>
                        <a:pt x="19944" y="10592"/>
                        <a:pt x="20003" y="10313"/>
                        <a:pt x="20003" y="10002"/>
                      </a:cubicBezTo>
                      <a:cubicBezTo>
                        <a:pt x="20003" y="9689"/>
                        <a:pt x="19924" y="9440"/>
                        <a:pt x="19766" y="9251"/>
                      </a:cubicBezTo>
                      <a:cubicBezTo>
                        <a:pt x="19608" y="9070"/>
                        <a:pt x="19416" y="8929"/>
                        <a:pt x="19184" y="8833"/>
                      </a:cubicBezTo>
                      <a:cubicBezTo>
                        <a:pt x="18955" y="8740"/>
                        <a:pt x="18698" y="8683"/>
                        <a:pt x="18418" y="8664"/>
                      </a:cubicBezTo>
                      <a:cubicBezTo>
                        <a:pt x="18138" y="8644"/>
                        <a:pt x="17884" y="8635"/>
                        <a:pt x="17650" y="8635"/>
                      </a:cubicBezTo>
                      <a:cubicBezTo>
                        <a:pt x="17243" y="8635"/>
                        <a:pt x="16836" y="8650"/>
                        <a:pt x="16423" y="8678"/>
                      </a:cubicBezTo>
                      <a:cubicBezTo>
                        <a:pt x="16011" y="8706"/>
                        <a:pt x="15607" y="8720"/>
                        <a:pt x="15200" y="8720"/>
                      </a:cubicBezTo>
                      <a:cubicBezTo>
                        <a:pt x="14917" y="8720"/>
                        <a:pt x="14643" y="8706"/>
                        <a:pt x="14366" y="8678"/>
                      </a:cubicBezTo>
                      <a:cubicBezTo>
                        <a:pt x="14089" y="8650"/>
                        <a:pt x="13829" y="8585"/>
                        <a:pt x="13575" y="8475"/>
                      </a:cubicBezTo>
                      <a:cubicBezTo>
                        <a:pt x="13575" y="8105"/>
                        <a:pt x="13646" y="7754"/>
                        <a:pt x="13792" y="7421"/>
                      </a:cubicBezTo>
                      <a:cubicBezTo>
                        <a:pt x="13937" y="7088"/>
                        <a:pt x="14095" y="6752"/>
                        <a:pt x="14276" y="6413"/>
                      </a:cubicBezTo>
                      <a:cubicBezTo>
                        <a:pt x="14448" y="6074"/>
                        <a:pt x="14606" y="5721"/>
                        <a:pt x="14748" y="5351"/>
                      </a:cubicBezTo>
                      <a:cubicBezTo>
                        <a:pt x="14886" y="4984"/>
                        <a:pt x="14954" y="4575"/>
                        <a:pt x="14954" y="4123"/>
                      </a:cubicBezTo>
                      <a:cubicBezTo>
                        <a:pt x="14954" y="3824"/>
                        <a:pt x="14906" y="3530"/>
                        <a:pt x="14813" y="3236"/>
                      </a:cubicBezTo>
                      <a:cubicBezTo>
                        <a:pt x="14717" y="2945"/>
                        <a:pt x="14584" y="2677"/>
                        <a:pt x="14411" y="2440"/>
                      </a:cubicBezTo>
                      <a:cubicBezTo>
                        <a:pt x="14239" y="2200"/>
                        <a:pt x="14027" y="2002"/>
                        <a:pt x="13776" y="1844"/>
                      </a:cubicBezTo>
                      <a:cubicBezTo>
                        <a:pt x="13521" y="1689"/>
                        <a:pt x="13230" y="1607"/>
                        <a:pt x="12894" y="1607"/>
                      </a:cubicBezTo>
                      <a:lnTo>
                        <a:pt x="12744" y="1607"/>
                      </a:lnTo>
                      <a:cubicBezTo>
                        <a:pt x="12682" y="1607"/>
                        <a:pt x="12631" y="1618"/>
                        <a:pt x="12594" y="1635"/>
                      </a:cubicBezTo>
                      <a:cubicBezTo>
                        <a:pt x="12524" y="1672"/>
                        <a:pt x="12481" y="1706"/>
                        <a:pt x="12473" y="1742"/>
                      </a:cubicBezTo>
                      <a:cubicBezTo>
                        <a:pt x="12464" y="1779"/>
                        <a:pt x="12450" y="1838"/>
                        <a:pt x="12430" y="1920"/>
                      </a:cubicBezTo>
                      <a:cubicBezTo>
                        <a:pt x="12323" y="2451"/>
                        <a:pt x="12221" y="3007"/>
                        <a:pt x="12128" y="3586"/>
                      </a:cubicBezTo>
                      <a:cubicBezTo>
                        <a:pt x="12035" y="4168"/>
                        <a:pt x="11854" y="4699"/>
                        <a:pt x="11597" y="5176"/>
                      </a:cubicBezTo>
                      <a:cubicBezTo>
                        <a:pt x="11334" y="5636"/>
                        <a:pt x="11001" y="6035"/>
                        <a:pt x="10597" y="6368"/>
                      </a:cubicBezTo>
                      <a:cubicBezTo>
                        <a:pt x="10190" y="6701"/>
                        <a:pt x="9803" y="7051"/>
                        <a:pt x="9432" y="7421"/>
                      </a:cubicBezTo>
                      <a:cubicBezTo>
                        <a:pt x="9170" y="7701"/>
                        <a:pt x="8949" y="7955"/>
                        <a:pt x="8771" y="8183"/>
                      </a:cubicBezTo>
                      <a:cubicBezTo>
                        <a:pt x="8593" y="8412"/>
                        <a:pt x="8404" y="8632"/>
                        <a:pt x="8212" y="8833"/>
                      </a:cubicBezTo>
                      <a:cubicBezTo>
                        <a:pt x="8017" y="9036"/>
                        <a:pt x="7799" y="9223"/>
                        <a:pt x="7556" y="9401"/>
                      </a:cubicBezTo>
                      <a:cubicBezTo>
                        <a:pt x="7313" y="9576"/>
                        <a:pt x="7019" y="9737"/>
                        <a:pt x="6674" y="9881"/>
                      </a:cubicBezTo>
                      <a:lnTo>
                        <a:pt x="6646" y="9881"/>
                      </a:lnTo>
                      <a:lnTo>
                        <a:pt x="6646" y="18573"/>
                      </a:lnTo>
                      <a:cubicBezTo>
                        <a:pt x="7279" y="18573"/>
                        <a:pt x="7889" y="18649"/>
                        <a:pt x="8486" y="18796"/>
                      </a:cubicBezTo>
                      <a:cubicBezTo>
                        <a:pt x="9082" y="18946"/>
                        <a:pt x="9684" y="19104"/>
                        <a:pt x="10294" y="19270"/>
                      </a:cubicBezTo>
                      <a:cubicBezTo>
                        <a:pt x="10902" y="19440"/>
                        <a:pt x="11538" y="19592"/>
                        <a:pt x="12207" y="19742"/>
                      </a:cubicBezTo>
                      <a:cubicBezTo>
                        <a:pt x="12874" y="19892"/>
                        <a:pt x="13595" y="19965"/>
                        <a:pt x="14375" y="19965"/>
                      </a:cubicBezTo>
                      <a:cubicBezTo>
                        <a:pt x="14781" y="19965"/>
                        <a:pt x="15222" y="19940"/>
                        <a:pt x="15700" y="19886"/>
                      </a:cubicBezTo>
                      <a:cubicBezTo>
                        <a:pt x="16177" y="19830"/>
                        <a:pt x="16627" y="19711"/>
                        <a:pt x="17048" y="19527"/>
                      </a:cubicBezTo>
                      <a:cubicBezTo>
                        <a:pt x="17469" y="19344"/>
                        <a:pt x="17816" y="19087"/>
                        <a:pt x="18102" y="18762"/>
                      </a:cubicBezTo>
                      <a:cubicBezTo>
                        <a:pt x="18387" y="18440"/>
                        <a:pt x="18526" y="18011"/>
                        <a:pt x="18526" y="17477"/>
                      </a:cubicBezTo>
                      <a:cubicBezTo>
                        <a:pt x="18526" y="17387"/>
                        <a:pt x="18523" y="17305"/>
                        <a:pt x="18517" y="17226"/>
                      </a:cubicBezTo>
                      <a:cubicBezTo>
                        <a:pt x="18503" y="17152"/>
                        <a:pt x="18489" y="17071"/>
                        <a:pt x="18472" y="16980"/>
                      </a:cubicBezTo>
                      <a:cubicBezTo>
                        <a:pt x="18786" y="16836"/>
                        <a:pt x="19029" y="16596"/>
                        <a:pt x="19195" y="16263"/>
                      </a:cubicBezTo>
                      <a:cubicBezTo>
                        <a:pt x="19365" y="15930"/>
                        <a:pt x="19447" y="15594"/>
                        <a:pt x="19447" y="15263"/>
                      </a:cubicBezTo>
                      <a:cubicBezTo>
                        <a:pt x="19450" y="14913"/>
                        <a:pt x="19351" y="14605"/>
                        <a:pt x="19164" y="14343"/>
                      </a:cubicBezTo>
                    </a:path>
                  </a:pathLst>
                </a:custGeom>
                <a:solidFill>
                  <a:srgbClr val="0C84F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299085">
                    <a:defRPr/>
                  </a:pPr>
                  <a:endParaRPr sz="2600" kern="0">
                    <a:solidFill>
                      <a:srgbClr val="323232">
                        <a:lumMod val="25000"/>
                        <a:lumOff val="75000"/>
                      </a:srgbClr>
                    </a:solidFill>
                    <a:latin typeface="Helvetica Light"/>
                    <a:ea typeface="微软雅黑" panose="020B0503020204020204" pitchFamily="34" charset="-122"/>
                    <a:sym typeface="Helvetica Light"/>
                  </a:endParaRPr>
                </a:p>
              </p:txBody>
            </p:sp>
          </p:grpSp>
          <p:grpSp>
            <p:nvGrpSpPr>
              <p:cNvPr id="111" name="组合 110"/>
              <p:cNvGrpSpPr/>
              <p:nvPr/>
            </p:nvGrpSpPr>
            <p:grpSpPr>
              <a:xfrm>
                <a:off x="11042" y="3759"/>
                <a:ext cx="1013" cy="1037"/>
                <a:chOff x="682283" y="2668426"/>
                <a:chExt cx="821320" cy="973598"/>
              </a:xfrm>
            </p:grpSpPr>
            <p:grpSp>
              <p:nvGrpSpPr>
                <p:cNvPr id="158" name="组合 157"/>
                <p:cNvGrpSpPr/>
                <p:nvPr/>
              </p:nvGrpSpPr>
              <p:grpSpPr>
                <a:xfrm>
                  <a:off x="682283" y="2668426"/>
                  <a:ext cx="821320" cy="973598"/>
                  <a:chOff x="4173109" y="3579962"/>
                  <a:chExt cx="821320" cy="973598"/>
                </a:xfrm>
              </p:grpSpPr>
              <p:sp>
                <p:nvSpPr>
                  <p:cNvPr id="160" name="椭圆 159"/>
                  <p:cNvSpPr/>
                  <p:nvPr/>
                </p:nvSpPr>
                <p:spPr>
                  <a:xfrm>
                    <a:off x="4294584" y="3579962"/>
                    <a:ext cx="540000" cy="540000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rgbClr val="0C84F2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669925">
                      <a:defRPr/>
                    </a:pPr>
                    <a:endParaRPr lang="zh-CN" altLang="en-US" kern="0">
                      <a:solidFill>
                        <a:prstClr val="white"/>
                      </a:solidFill>
                      <a:latin typeface="等线" panose="02010600030101010101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1" name="文本框 237"/>
                  <p:cNvSpPr txBox="1"/>
                  <p:nvPr/>
                </p:nvSpPr>
                <p:spPr>
                  <a:xfrm>
                    <a:off x="4173109" y="4145845"/>
                    <a:ext cx="821320" cy="40771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 defTabSz="669925">
                      <a:defRPr/>
                    </a:pPr>
                    <a:r>
                      <a:rPr lang="zh-CN" altLang="en-US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政务</a:t>
                    </a:r>
                    <a:r>
                      <a:rPr lang="en-US" altLang="zh-CN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BI</a:t>
                    </a:r>
                    <a:endParaRPr lang="zh-CN" altLang="en-US" sz="1200" b="1" kern="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59" name="Shape 1798"/>
                <p:cNvSpPr/>
                <p:nvPr/>
              </p:nvSpPr>
              <p:spPr>
                <a:xfrm>
                  <a:off x="920130" y="2777831"/>
                  <a:ext cx="307255" cy="3065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709" y="14020"/>
                      </a:moveTo>
                      <a:cubicBezTo>
                        <a:pt x="20951" y="14020"/>
                        <a:pt x="21162" y="14126"/>
                        <a:pt x="21336" y="14334"/>
                      </a:cubicBezTo>
                      <a:cubicBezTo>
                        <a:pt x="21512" y="14549"/>
                        <a:pt x="21600" y="14810"/>
                        <a:pt x="21600" y="15116"/>
                      </a:cubicBezTo>
                      <a:lnTo>
                        <a:pt x="21600" y="20504"/>
                      </a:lnTo>
                      <a:cubicBezTo>
                        <a:pt x="21600" y="20816"/>
                        <a:pt x="21512" y="21071"/>
                        <a:pt x="21336" y="21286"/>
                      </a:cubicBezTo>
                      <a:cubicBezTo>
                        <a:pt x="21162" y="21494"/>
                        <a:pt x="20951" y="21600"/>
                        <a:pt x="20709" y="21600"/>
                      </a:cubicBezTo>
                      <a:lnTo>
                        <a:pt x="16198" y="21600"/>
                      </a:lnTo>
                      <a:cubicBezTo>
                        <a:pt x="15940" y="21600"/>
                        <a:pt x="15730" y="21494"/>
                        <a:pt x="15564" y="21286"/>
                      </a:cubicBezTo>
                      <a:cubicBezTo>
                        <a:pt x="15400" y="21071"/>
                        <a:pt x="15316" y="20816"/>
                        <a:pt x="15316" y="20504"/>
                      </a:cubicBezTo>
                      <a:lnTo>
                        <a:pt x="15316" y="15116"/>
                      </a:lnTo>
                      <a:cubicBezTo>
                        <a:pt x="15316" y="14810"/>
                        <a:pt x="15400" y="14549"/>
                        <a:pt x="15571" y="14334"/>
                      </a:cubicBezTo>
                      <a:cubicBezTo>
                        <a:pt x="15737" y="14126"/>
                        <a:pt x="15945" y="14020"/>
                        <a:pt x="16198" y="14020"/>
                      </a:cubicBezTo>
                      <a:lnTo>
                        <a:pt x="17789" y="14020"/>
                      </a:lnTo>
                      <a:lnTo>
                        <a:pt x="17789" y="11869"/>
                      </a:lnTo>
                      <a:cubicBezTo>
                        <a:pt x="17789" y="11699"/>
                        <a:pt x="17708" y="11611"/>
                        <a:pt x="17544" y="11602"/>
                      </a:cubicBezTo>
                      <a:lnTo>
                        <a:pt x="11473" y="11602"/>
                      </a:lnTo>
                      <a:lnTo>
                        <a:pt x="11473" y="14020"/>
                      </a:lnTo>
                      <a:lnTo>
                        <a:pt x="13054" y="14020"/>
                      </a:lnTo>
                      <a:cubicBezTo>
                        <a:pt x="13297" y="14020"/>
                        <a:pt x="13507" y="14126"/>
                        <a:pt x="13681" y="14334"/>
                      </a:cubicBezTo>
                      <a:cubicBezTo>
                        <a:pt x="13857" y="14549"/>
                        <a:pt x="13945" y="14810"/>
                        <a:pt x="13945" y="15116"/>
                      </a:cubicBezTo>
                      <a:lnTo>
                        <a:pt x="13945" y="20504"/>
                      </a:lnTo>
                      <a:cubicBezTo>
                        <a:pt x="13945" y="20816"/>
                        <a:pt x="13857" y="21071"/>
                        <a:pt x="13681" y="21286"/>
                      </a:cubicBezTo>
                      <a:cubicBezTo>
                        <a:pt x="13507" y="21494"/>
                        <a:pt x="13297" y="21600"/>
                        <a:pt x="13054" y="21600"/>
                      </a:cubicBezTo>
                      <a:lnTo>
                        <a:pt x="8543" y="21600"/>
                      </a:lnTo>
                      <a:cubicBezTo>
                        <a:pt x="8298" y="21600"/>
                        <a:pt x="8090" y="21494"/>
                        <a:pt x="7914" y="21286"/>
                      </a:cubicBezTo>
                      <a:cubicBezTo>
                        <a:pt x="7740" y="21071"/>
                        <a:pt x="7652" y="20816"/>
                        <a:pt x="7652" y="20504"/>
                      </a:cubicBezTo>
                      <a:lnTo>
                        <a:pt x="7652" y="15116"/>
                      </a:lnTo>
                      <a:cubicBezTo>
                        <a:pt x="7652" y="14810"/>
                        <a:pt x="7740" y="14549"/>
                        <a:pt x="7914" y="14334"/>
                      </a:cubicBezTo>
                      <a:cubicBezTo>
                        <a:pt x="8090" y="14126"/>
                        <a:pt x="8298" y="14020"/>
                        <a:pt x="8543" y="14020"/>
                      </a:cubicBezTo>
                      <a:lnTo>
                        <a:pt x="10124" y="14020"/>
                      </a:lnTo>
                      <a:lnTo>
                        <a:pt x="10124" y="11602"/>
                      </a:lnTo>
                      <a:lnTo>
                        <a:pt x="4056" y="11602"/>
                      </a:lnTo>
                      <a:cubicBezTo>
                        <a:pt x="3902" y="11602"/>
                        <a:pt x="3821" y="11690"/>
                        <a:pt x="3821" y="11869"/>
                      </a:cubicBezTo>
                      <a:lnTo>
                        <a:pt x="3821" y="14020"/>
                      </a:lnTo>
                      <a:lnTo>
                        <a:pt x="5402" y="14020"/>
                      </a:lnTo>
                      <a:cubicBezTo>
                        <a:pt x="5662" y="14020"/>
                        <a:pt x="5875" y="14126"/>
                        <a:pt x="6054" y="14334"/>
                      </a:cubicBezTo>
                      <a:cubicBezTo>
                        <a:pt x="6230" y="14549"/>
                        <a:pt x="6316" y="14810"/>
                        <a:pt x="6316" y="15116"/>
                      </a:cubicBezTo>
                      <a:lnTo>
                        <a:pt x="6316" y="20504"/>
                      </a:lnTo>
                      <a:cubicBezTo>
                        <a:pt x="6316" y="20816"/>
                        <a:pt x="6230" y="21071"/>
                        <a:pt x="6054" y="21286"/>
                      </a:cubicBezTo>
                      <a:cubicBezTo>
                        <a:pt x="5877" y="21494"/>
                        <a:pt x="5664" y="21600"/>
                        <a:pt x="5402" y="21600"/>
                      </a:cubicBezTo>
                      <a:lnTo>
                        <a:pt x="913" y="21600"/>
                      </a:lnTo>
                      <a:cubicBezTo>
                        <a:pt x="658" y="21600"/>
                        <a:pt x="441" y="21494"/>
                        <a:pt x="262" y="21286"/>
                      </a:cubicBezTo>
                      <a:cubicBezTo>
                        <a:pt x="88" y="21071"/>
                        <a:pt x="0" y="20816"/>
                        <a:pt x="0" y="20504"/>
                      </a:cubicBezTo>
                      <a:lnTo>
                        <a:pt x="0" y="15116"/>
                      </a:lnTo>
                      <a:cubicBezTo>
                        <a:pt x="0" y="14810"/>
                        <a:pt x="88" y="14549"/>
                        <a:pt x="262" y="14334"/>
                      </a:cubicBezTo>
                      <a:cubicBezTo>
                        <a:pt x="438" y="14126"/>
                        <a:pt x="656" y="14020"/>
                        <a:pt x="913" y="14020"/>
                      </a:cubicBezTo>
                      <a:lnTo>
                        <a:pt x="2472" y="14020"/>
                      </a:lnTo>
                      <a:lnTo>
                        <a:pt x="2472" y="11869"/>
                      </a:lnTo>
                      <a:cubicBezTo>
                        <a:pt x="2472" y="11352"/>
                        <a:pt x="2629" y="10912"/>
                        <a:pt x="2942" y="10544"/>
                      </a:cubicBezTo>
                      <a:cubicBezTo>
                        <a:pt x="3253" y="10180"/>
                        <a:pt x="3623" y="9998"/>
                        <a:pt x="4054" y="9998"/>
                      </a:cubicBezTo>
                      <a:lnTo>
                        <a:pt x="10122" y="9998"/>
                      </a:lnTo>
                      <a:lnTo>
                        <a:pt x="10122" y="7551"/>
                      </a:lnTo>
                      <a:lnTo>
                        <a:pt x="8541" y="7551"/>
                      </a:lnTo>
                      <a:cubicBezTo>
                        <a:pt x="8296" y="7551"/>
                        <a:pt x="8088" y="7451"/>
                        <a:pt x="7912" y="7248"/>
                      </a:cubicBezTo>
                      <a:cubicBezTo>
                        <a:pt x="7738" y="7045"/>
                        <a:pt x="7650" y="6790"/>
                        <a:pt x="7650" y="6484"/>
                      </a:cubicBezTo>
                      <a:lnTo>
                        <a:pt x="7650" y="1066"/>
                      </a:lnTo>
                      <a:cubicBezTo>
                        <a:pt x="7650" y="776"/>
                        <a:pt x="7738" y="523"/>
                        <a:pt x="7912" y="314"/>
                      </a:cubicBezTo>
                      <a:cubicBezTo>
                        <a:pt x="8088" y="103"/>
                        <a:pt x="8296" y="0"/>
                        <a:pt x="8541" y="0"/>
                      </a:cubicBezTo>
                      <a:lnTo>
                        <a:pt x="13052" y="0"/>
                      </a:lnTo>
                      <a:cubicBezTo>
                        <a:pt x="13294" y="0"/>
                        <a:pt x="13505" y="103"/>
                        <a:pt x="13679" y="314"/>
                      </a:cubicBezTo>
                      <a:cubicBezTo>
                        <a:pt x="13855" y="523"/>
                        <a:pt x="13943" y="776"/>
                        <a:pt x="13943" y="1066"/>
                      </a:cubicBezTo>
                      <a:lnTo>
                        <a:pt x="13943" y="6484"/>
                      </a:lnTo>
                      <a:cubicBezTo>
                        <a:pt x="13943" y="6790"/>
                        <a:pt x="13855" y="7045"/>
                        <a:pt x="13679" y="7248"/>
                      </a:cubicBezTo>
                      <a:cubicBezTo>
                        <a:pt x="13505" y="7451"/>
                        <a:pt x="13294" y="7551"/>
                        <a:pt x="13052" y="7551"/>
                      </a:cubicBezTo>
                      <a:lnTo>
                        <a:pt x="11471" y="7551"/>
                      </a:lnTo>
                      <a:lnTo>
                        <a:pt x="11471" y="9998"/>
                      </a:lnTo>
                      <a:lnTo>
                        <a:pt x="17541" y="9998"/>
                      </a:lnTo>
                      <a:cubicBezTo>
                        <a:pt x="17970" y="9998"/>
                        <a:pt x="18339" y="10177"/>
                        <a:pt x="18653" y="10539"/>
                      </a:cubicBezTo>
                      <a:cubicBezTo>
                        <a:pt x="18966" y="10900"/>
                        <a:pt x="19123" y="11344"/>
                        <a:pt x="19123" y="11869"/>
                      </a:cubicBezTo>
                      <a:lnTo>
                        <a:pt x="19123" y="14020"/>
                      </a:lnTo>
                      <a:lnTo>
                        <a:pt x="20709" y="14020"/>
                      </a:lnTo>
                      <a:close/>
                    </a:path>
                  </a:pathLst>
                </a:custGeom>
                <a:solidFill>
                  <a:srgbClr val="0C84F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299085">
                    <a:defRPr/>
                  </a:pPr>
                  <a:endParaRPr sz="2600" kern="0">
                    <a:solidFill>
                      <a:srgbClr val="323232">
                        <a:lumMod val="25000"/>
                        <a:lumOff val="75000"/>
                      </a:srgbClr>
                    </a:solidFill>
                    <a:latin typeface="Helvetica Light"/>
                    <a:ea typeface="微软雅黑" panose="020B0503020204020204" pitchFamily="34" charset="-122"/>
                    <a:sym typeface="Helvetica Light"/>
                  </a:endParaRPr>
                </a:p>
              </p:txBody>
            </p:sp>
          </p:grpSp>
          <p:cxnSp>
            <p:nvCxnSpPr>
              <p:cNvPr id="112" name="直接箭头连接符 111"/>
              <p:cNvCxnSpPr/>
              <p:nvPr/>
            </p:nvCxnSpPr>
            <p:spPr>
              <a:xfrm flipV="1">
                <a:off x="12195" y="6741"/>
                <a:ext cx="1524" cy="1494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11C7E5"/>
                </a:solidFill>
                <a:prstDash val="sysDash"/>
                <a:miter lim="800000"/>
                <a:headEnd type="stealth" w="lg" len="lg"/>
                <a:tailEnd type="stealth" w="lg" len="lg"/>
              </a:ln>
              <a:effectLst/>
            </p:spPr>
          </p:cxnSp>
          <p:sp>
            <p:nvSpPr>
              <p:cNvPr id="113" name="矩形 112"/>
              <p:cNvSpPr/>
              <p:nvPr/>
            </p:nvSpPr>
            <p:spPr>
              <a:xfrm>
                <a:off x="6246" y="7882"/>
                <a:ext cx="4432" cy="96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DE8"/>
                    </a:solidFill>
                  </a14:hiddenFill>
                </a:ext>
              </a:extLst>
            </p:spPr>
            <p:txBody>
              <a:bodyPr lIns="66968" tIns="33483" rIns="66968" bIns="33483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69925">
                  <a:defRPr/>
                </a:pPr>
                <a:r>
                  <a:rPr lang="zh-CN" altLang="en-US" sz="1600" b="1" kern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政务大模型底座</a:t>
                </a:r>
                <a:endParaRPr lang="en-US" altLang="zh-CN" sz="1600" b="1" kern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669925">
                  <a:defRPr/>
                </a:pPr>
                <a:r>
                  <a:rPr lang="zh-CN" altLang="en-US" sz="1600" b="1" kern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（通用大模型</a:t>
                </a:r>
                <a:r>
                  <a:rPr lang="en-US" altLang="zh-CN" sz="1600" b="1" kern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zh-CN" altLang="en-US" sz="1600" b="1" kern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政务知识库）</a:t>
                </a:r>
              </a:p>
            </p:txBody>
          </p:sp>
          <p:grpSp>
            <p:nvGrpSpPr>
              <p:cNvPr id="114" name="组合 113"/>
              <p:cNvGrpSpPr/>
              <p:nvPr/>
            </p:nvGrpSpPr>
            <p:grpSpPr>
              <a:xfrm>
                <a:off x="4322" y="5298"/>
                <a:ext cx="1924" cy="1100"/>
                <a:chOff x="3886560" y="1887845"/>
                <a:chExt cx="1384666" cy="864270"/>
              </a:xfrm>
            </p:grpSpPr>
            <p:sp>
              <p:nvSpPr>
                <p:cNvPr id="155" name="椭圆 154"/>
                <p:cNvSpPr/>
                <p:nvPr/>
              </p:nvSpPr>
              <p:spPr>
                <a:xfrm>
                  <a:off x="3886560" y="2031475"/>
                  <a:ext cx="1384666" cy="368465"/>
                </a:xfrm>
                <a:prstGeom prst="ellipse">
                  <a:avLst/>
                </a:prstGeom>
                <a:solidFill>
                  <a:srgbClr val="EBF6FF"/>
                </a:solidFill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56" name="Shape 1828"/>
                <p:cNvSpPr/>
                <p:nvPr/>
              </p:nvSpPr>
              <p:spPr>
                <a:xfrm>
                  <a:off x="4350110" y="1887845"/>
                  <a:ext cx="431165" cy="3619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768" y="5419"/>
                      </a:moveTo>
                      <a:cubicBezTo>
                        <a:pt x="4051" y="5419"/>
                        <a:pt x="4272" y="5506"/>
                        <a:pt x="4428" y="5687"/>
                      </a:cubicBezTo>
                      <a:cubicBezTo>
                        <a:pt x="4586" y="5866"/>
                        <a:pt x="4702" y="6079"/>
                        <a:pt x="4766" y="6326"/>
                      </a:cubicBezTo>
                      <a:cubicBezTo>
                        <a:pt x="4836" y="6574"/>
                        <a:pt x="4879" y="6836"/>
                        <a:pt x="4894" y="7107"/>
                      </a:cubicBezTo>
                      <a:cubicBezTo>
                        <a:pt x="4910" y="7377"/>
                        <a:pt x="4918" y="7596"/>
                        <a:pt x="4918" y="7760"/>
                      </a:cubicBezTo>
                      <a:lnTo>
                        <a:pt x="4918" y="9857"/>
                      </a:lnTo>
                      <a:cubicBezTo>
                        <a:pt x="4810" y="9929"/>
                        <a:pt x="4721" y="10015"/>
                        <a:pt x="4646" y="10110"/>
                      </a:cubicBezTo>
                      <a:cubicBezTo>
                        <a:pt x="4574" y="10208"/>
                        <a:pt x="4469" y="10257"/>
                        <a:pt x="4330" y="10257"/>
                      </a:cubicBezTo>
                      <a:lnTo>
                        <a:pt x="562" y="10257"/>
                      </a:lnTo>
                      <a:cubicBezTo>
                        <a:pt x="439" y="10257"/>
                        <a:pt x="338" y="10208"/>
                        <a:pt x="257" y="10110"/>
                      </a:cubicBezTo>
                      <a:cubicBezTo>
                        <a:pt x="178" y="10015"/>
                        <a:pt x="94" y="9929"/>
                        <a:pt x="0" y="9857"/>
                      </a:cubicBezTo>
                      <a:lnTo>
                        <a:pt x="0" y="7760"/>
                      </a:lnTo>
                      <a:cubicBezTo>
                        <a:pt x="0" y="7596"/>
                        <a:pt x="5" y="7377"/>
                        <a:pt x="12" y="7107"/>
                      </a:cubicBezTo>
                      <a:cubicBezTo>
                        <a:pt x="19" y="6836"/>
                        <a:pt x="58" y="6574"/>
                        <a:pt x="125" y="6326"/>
                      </a:cubicBezTo>
                      <a:cubicBezTo>
                        <a:pt x="197" y="6079"/>
                        <a:pt x="310" y="5866"/>
                        <a:pt x="466" y="5687"/>
                      </a:cubicBezTo>
                      <a:cubicBezTo>
                        <a:pt x="624" y="5509"/>
                        <a:pt x="842" y="5419"/>
                        <a:pt x="1123" y="5419"/>
                      </a:cubicBezTo>
                      <a:cubicBezTo>
                        <a:pt x="782" y="5152"/>
                        <a:pt x="509" y="4803"/>
                        <a:pt x="305" y="4377"/>
                      </a:cubicBezTo>
                      <a:cubicBezTo>
                        <a:pt x="103" y="3951"/>
                        <a:pt x="0" y="3470"/>
                        <a:pt x="0" y="2937"/>
                      </a:cubicBezTo>
                      <a:cubicBezTo>
                        <a:pt x="0" y="2540"/>
                        <a:pt x="65" y="2163"/>
                        <a:pt x="190" y="1806"/>
                      </a:cubicBezTo>
                      <a:cubicBezTo>
                        <a:pt x="317" y="1449"/>
                        <a:pt x="492" y="1135"/>
                        <a:pt x="718" y="861"/>
                      </a:cubicBezTo>
                      <a:cubicBezTo>
                        <a:pt x="943" y="590"/>
                        <a:pt x="1207" y="380"/>
                        <a:pt x="1505" y="228"/>
                      </a:cubicBezTo>
                      <a:cubicBezTo>
                        <a:pt x="1805" y="78"/>
                        <a:pt x="2119" y="0"/>
                        <a:pt x="2446" y="0"/>
                      </a:cubicBezTo>
                      <a:cubicBezTo>
                        <a:pt x="2794" y="0"/>
                        <a:pt x="3115" y="78"/>
                        <a:pt x="3413" y="228"/>
                      </a:cubicBezTo>
                      <a:cubicBezTo>
                        <a:pt x="3713" y="380"/>
                        <a:pt x="3970" y="590"/>
                        <a:pt x="4188" y="861"/>
                      </a:cubicBezTo>
                      <a:cubicBezTo>
                        <a:pt x="4406" y="1135"/>
                        <a:pt x="4584" y="1449"/>
                        <a:pt x="4716" y="1806"/>
                      </a:cubicBezTo>
                      <a:cubicBezTo>
                        <a:pt x="4850" y="2163"/>
                        <a:pt x="4918" y="2540"/>
                        <a:pt x="4918" y="2937"/>
                      </a:cubicBezTo>
                      <a:cubicBezTo>
                        <a:pt x="4918" y="3458"/>
                        <a:pt x="4814" y="3939"/>
                        <a:pt x="4603" y="4371"/>
                      </a:cubicBezTo>
                      <a:cubicBezTo>
                        <a:pt x="4392" y="4800"/>
                        <a:pt x="4116" y="5152"/>
                        <a:pt x="3768" y="5419"/>
                      </a:cubicBezTo>
                      <a:moveTo>
                        <a:pt x="18166" y="12063"/>
                      </a:moveTo>
                      <a:cubicBezTo>
                        <a:pt x="18672" y="12604"/>
                        <a:pt x="19070" y="13143"/>
                        <a:pt x="19356" y="13670"/>
                      </a:cubicBezTo>
                      <a:cubicBezTo>
                        <a:pt x="19642" y="14197"/>
                        <a:pt x="19788" y="14801"/>
                        <a:pt x="19788" y="15481"/>
                      </a:cubicBezTo>
                      <a:lnTo>
                        <a:pt x="19788" y="20817"/>
                      </a:lnTo>
                      <a:cubicBezTo>
                        <a:pt x="19694" y="20869"/>
                        <a:pt x="19620" y="20932"/>
                        <a:pt x="19558" y="20995"/>
                      </a:cubicBezTo>
                      <a:cubicBezTo>
                        <a:pt x="19498" y="21062"/>
                        <a:pt x="19426" y="21122"/>
                        <a:pt x="19344" y="21191"/>
                      </a:cubicBezTo>
                      <a:cubicBezTo>
                        <a:pt x="19262" y="21252"/>
                        <a:pt x="19174" y="21318"/>
                        <a:pt x="19075" y="21387"/>
                      </a:cubicBezTo>
                      <a:cubicBezTo>
                        <a:pt x="18977" y="21456"/>
                        <a:pt x="18835" y="21528"/>
                        <a:pt x="18662" y="21600"/>
                      </a:cubicBezTo>
                      <a:lnTo>
                        <a:pt x="2942" y="21600"/>
                      </a:lnTo>
                      <a:cubicBezTo>
                        <a:pt x="2676" y="21600"/>
                        <a:pt x="2467" y="21499"/>
                        <a:pt x="2318" y="21292"/>
                      </a:cubicBezTo>
                      <a:cubicBezTo>
                        <a:pt x="2167" y="21082"/>
                        <a:pt x="2004" y="20926"/>
                        <a:pt x="1819" y="20817"/>
                      </a:cubicBezTo>
                      <a:lnTo>
                        <a:pt x="1819" y="15481"/>
                      </a:lnTo>
                      <a:cubicBezTo>
                        <a:pt x="1819" y="14764"/>
                        <a:pt x="1990" y="14127"/>
                        <a:pt x="2335" y="13572"/>
                      </a:cubicBezTo>
                      <a:cubicBezTo>
                        <a:pt x="2678" y="13019"/>
                        <a:pt x="3053" y="12512"/>
                        <a:pt x="3461" y="12063"/>
                      </a:cubicBezTo>
                      <a:cubicBezTo>
                        <a:pt x="3535" y="11971"/>
                        <a:pt x="3634" y="11870"/>
                        <a:pt x="3754" y="11766"/>
                      </a:cubicBezTo>
                      <a:cubicBezTo>
                        <a:pt x="3874" y="11660"/>
                        <a:pt x="4001" y="11591"/>
                        <a:pt x="4138" y="11553"/>
                      </a:cubicBezTo>
                      <a:cubicBezTo>
                        <a:pt x="4277" y="11496"/>
                        <a:pt x="4433" y="11467"/>
                        <a:pt x="4610" y="11455"/>
                      </a:cubicBezTo>
                      <a:cubicBezTo>
                        <a:pt x="4786" y="11447"/>
                        <a:pt x="4956" y="11424"/>
                        <a:pt x="5126" y="11389"/>
                      </a:cubicBezTo>
                      <a:cubicBezTo>
                        <a:pt x="5594" y="11300"/>
                        <a:pt x="6091" y="11210"/>
                        <a:pt x="6622" y="11121"/>
                      </a:cubicBezTo>
                      <a:cubicBezTo>
                        <a:pt x="7150" y="11035"/>
                        <a:pt x="7666" y="10946"/>
                        <a:pt x="8172" y="10853"/>
                      </a:cubicBezTo>
                      <a:cubicBezTo>
                        <a:pt x="7483" y="10326"/>
                        <a:pt x="6929" y="9632"/>
                        <a:pt x="6514" y="8763"/>
                      </a:cubicBezTo>
                      <a:cubicBezTo>
                        <a:pt x="6094" y="7896"/>
                        <a:pt x="5885" y="6940"/>
                        <a:pt x="5885" y="5903"/>
                      </a:cubicBezTo>
                      <a:cubicBezTo>
                        <a:pt x="5885" y="5097"/>
                        <a:pt x="6017" y="4331"/>
                        <a:pt x="6276" y="3608"/>
                      </a:cubicBezTo>
                      <a:cubicBezTo>
                        <a:pt x="6535" y="2885"/>
                        <a:pt x="6888" y="2261"/>
                        <a:pt x="7332" y="1734"/>
                      </a:cubicBezTo>
                      <a:cubicBezTo>
                        <a:pt x="7778" y="1204"/>
                        <a:pt x="8299" y="786"/>
                        <a:pt x="8894" y="472"/>
                      </a:cubicBezTo>
                      <a:cubicBezTo>
                        <a:pt x="9494" y="159"/>
                        <a:pt x="10126" y="3"/>
                        <a:pt x="10802" y="3"/>
                      </a:cubicBezTo>
                      <a:cubicBezTo>
                        <a:pt x="11477" y="3"/>
                        <a:pt x="12113" y="159"/>
                        <a:pt x="12710" y="472"/>
                      </a:cubicBezTo>
                      <a:cubicBezTo>
                        <a:pt x="13308" y="786"/>
                        <a:pt x="13826" y="1204"/>
                        <a:pt x="14273" y="1734"/>
                      </a:cubicBezTo>
                      <a:cubicBezTo>
                        <a:pt x="14717" y="2261"/>
                        <a:pt x="15067" y="2885"/>
                        <a:pt x="15329" y="3608"/>
                      </a:cubicBezTo>
                      <a:cubicBezTo>
                        <a:pt x="15590" y="4331"/>
                        <a:pt x="15720" y="5097"/>
                        <a:pt x="15720" y="5903"/>
                      </a:cubicBezTo>
                      <a:cubicBezTo>
                        <a:pt x="15720" y="6940"/>
                        <a:pt x="15514" y="7890"/>
                        <a:pt x="15101" y="8757"/>
                      </a:cubicBezTo>
                      <a:cubicBezTo>
                        <a:pt x="14686" y="9621"/>
                        <a:pt x="14129" y="10321"/>
                        <a:pt x="13433" y="10853"/>
                      </a:cubicBezTo>
                      <a:cubicBezTo>
                        <a:pt x="13937" y="10946"/>
                        <a:pt x="14453" y="11032"/>
                        <a:pt x="14978" y="11115"/>
                      </a:cubicBezTo>
                      <a:cubicBezTo>
                        <a:pt x="15504" y="11199"/>
                        <a:pt x="16006" y="11288"/>
                        <a:pt x="16478" y="11389"/>
                      </a:cubicBezTo>
                      <a:cubicBezTo>
                        <a:pt x="16654" y="11426"/>
                        <a:pt x="16826" y="11449"/>
                        <a:pt x="16994" y="11455"/>
                      </a:cubicBezTo>
                      <a:cubicBezTo>
                        <a:pt x="17162" y="11467"/>
                        <a:pt x="17323" y="11496"/>
                        <a:pt x="17467" y="11553"/>
                      </a:cubicBezTo>
                      <a:cubicBezTo>
                        <a:pt x="17604" y="11591"/>
                        <a:pt x="17731" y="11660"/>
                        <a:pt x="17851" y="11766"/>
                      </a:cubicBezTo>
                      <a:cubicBezTo>
                        <a:pt x="17966" y="11870"/>
                        <a:pt x="18074" y="11971"/>
                        <a:pt x="18166" y="12063"/>
                      </a:cubicBezTo>
                      <a:moveTo>
                        <a:pt x="20474" y="5419"/>
                      </a:moveTo>
                      <a:cubicBezTo>
                        <a:pt x="20758" y="5419"/>
                        <a:pt x="20974" y="5506"/>
                        <a:pt x="21125" y="5687"/>
                      </a:cubicBezTo>
                      <a:cubicBezTo>
                        <a:pt x="21271" y="5866"/>
                        <a:pt x="21382" y="6079"/>
                        <a:pt x="21449" y="6326"/>
                      </a:cubicBezTo>
                      <a:cubicBezTo>
                        <a:pt x="21521" y="6574"/>
                        <a:pt x="21562" y="6836"/>
                        <a:pt x="21576" y="7107"/>
                      </a:cubicBezTo>
                      <a:cubicBezTo>
                        <a:pt x="21593" y="7377"/>
                        <a:pt x="21600" y="7596"/>
                        <a:pt x="21600" y="7760"/>
                      </a:cubicBezTo>
                      <a:lnTo>
                        <a:pt x="21600" y="9857"/>
                      </a:lnTo>
                      <a:cubicBezTo>
                        <a:pt x="21509" y="9929"/>
                        <a:pt x="21422" y="10015"/>
                        <a:pt x="21341" y="10110"/>
                      </a:cubicBezTo>
                      <a:cubicBezTo>
                        <a:pt x="21262" y="10208"/>
                        <a:pt x="21158" y="10257"/>
                        <a:pt x="21036" y="10257"/>
                      </a:cubicBezTo>
                      <a:lnTo>
                        <a:pt x="17268" y="10257"/>
                      </a:lnTo>
                      <a:cubicBezTo>
                        <a:pt x="17131" y="10257"/>
                        <a:pt x="17023" y="10208"/>
                        <a:pt x="16954" y="10110"/>
                      </a:cubicBezTo>
                      <a:cubicBezTo>
                        <a:pt x="16879" y="10015"/>
                        <a:pt x="16790" y="9929"/>
                        <a:pt x="16682" y="9857"/>
                      </a:cubicBezTo>
                      <a:lnTo>
                        <a:pt x="16682" y="7760"/>
                      </a:lnTo>
                      <a:cubicBezTo>
                        <a:pt x="16682" y="7596"/>
                        <a:pt x="16692" y="7377"/>
                        <a:pt x="16706" y="7107"/>
                      </a:cubicBezTo>
                      <a:cubicBezTo>
                        <a:pt x="16721" y="6836"/>
                        <a:pt x="16766" y="6574"/>
                        <a:pt x="16836" y="6326"/>
                      </a:cubicBezTo>
                      <a:cubicBezTo>
                        <a:pt x="16913" y="6079"/>
                        <a:pt x="17023" y="5866"/>
                        <a:pt x="17184" y="5687"/>
                      </a:cubicBezTo>
                      <a:cubicBezTo>
                        <a:pt x="17338" y="5509"/>
                        <a:pt x="17556" y="5419"/>
                        <a:pt x="17830" y="5419"/>
                      </a:cubicBezTo>
                      <a:cubicBezTo>
                        <a:pt x="17489" y="5152"/>
                        <a:pt x="17210" y="4803"/>
                        <a:pt x="16999" y="4377"/>
                      </a:cubicBezTo>
                      <a:cubicBezTo>
                        <a:pt x="16788" y="3951"/>
                        <a:pt x="16682" y="3470"/>
                        <a:pt x="16682" y="2937"/>
                      </a:cubicBezTo>
                      <a:cubicBezTo>
                        <a:pt x="16682" y="2540"/>
                        <a:pt x="16745" y="2163"/>
                        <a:pt x="16872" y="1806"/>
                      </a:cubicBezTo>
                      <a:cubicBezTo>
                        <a:pt x="16999" y="1449"/>
                        <a:pt x="17174" y="1135"/>
                        <a:pt x="17400" y="861"/>
                      </a:cubicBezTo>
                      <a:cubicBezTo>
                        <a:pt x="17626" y="590"/>
                        <a:pt x="17890" y="380"/>
                        <a:pt x="18187" y="228"/>
                      </a:cubicBezTo>
                      <a:cubicBezTo>
                        <a:pt x="18487" y="78"/>
                        <a:pt x="18809" y="0"/>
                        <a:pt x="19152" y="0"/>
                      </a:cubicBezTo>
                      <a:cubicBezTo>
                        <a:pt x="19481" y="0"/>
                        <a:pt x="19795" y="78"/>
                        <a:pt x="20095" y="228"/>
                      </a:cubicBezTo>
                      <a:cubicBezTo>
                        <a:pt x="20395" y="380"/>
                        <a:pt x="20657" y="590"/>
                        <a:pt x="20882" y="861"/>
                      </a:cubicBezTo>
                      <a:cubicBezTo>
                        <a:pt x="21108" y="1135"/>
                        <a:pt x="21286" y="1449"/>
                        <a:pt x="21413" y="1806"/>
                      </a:cubicBezTo>
                      <a:cubicBezTo>
                        <a:pt x="21538" y="2163"/>
                        <a:pt x="21600" y="2540"/>
                        <a:pt x="21600" y="2937"/>
                      </a:cubicBezTo>
                      <a:cubicBezTo>
                        <a:pt x="21600" y="3458"/>
                        <a:pt x="21499" y="3939"/>
                        <a:pt x="21295" y="4371"/>
                      </a:cubicBezTo>
                      <a:cubicBezTo>
                        <a:pt x="21094" y="4800"/>
                        <a:pt x="20820" y="5152"/>
                        <a:pt x="20474" y="5419"/>
                      </a:cubicBezTo>
                    </a:path>
                  </a:pathLst>
                </a:custGeom>
                <a:solidFill>
                  <a:srgbClr val="27B0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299085">
                    <a:defRPr/>
                  </a:pPr>
                  <a:endParaRPr sz="2600" kern="0">
                    <a:solidFill>
                      <a:srgbClr val="323232">
                        <a:lumMod val="25000"/>
                        <a:lumOff val="75000"/>
                      </a:srgbClr>
                    </a:solidFill>
                    <a:latin typeface="Helvetica Light"/>
                    <a:ea typeface="微软雅黑" panose="020B0503020204020204" pitchFamily="34" charset="-122"/>
                    <a:sym typeface="Helvetica Light"/>
                  </a:endParaRPr>
                </a:p>
              </p:txBody>
            </p:sp>
            <p:sp>
              <p:nvSpPr>
                <p:cNvPr id="157" name="文本框 180"/>
                <p:cNvSpPr txBox="1"/>
                <p:nvPr/>
              </p:nvSpPr>
              <p:spPr>
                <a:xfrm>
                  <a:off x="4000214" y="2353304"/>
                  <a:ext cx="1172844" cy="3988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69925">
                    <a:defRPr/>
                  </a:pPr>
                  <a:r>
                    <a:rPr lang="zh-CN" altLang="en-US" sz="1500" b="1" kern="0" dirty="0">
                      <a:solidFill>
                        <a:srgbClr val="27B4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市民</a:t>
                  </a:r>
                  <a:r>
                    <a:rPr lang="en-US" altLang="zh-CN" sz="1500" b="1" kern="0" dirty="0">
                      <a:solidFill>
                        <a:srgbClr val="27B4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/</a:t>
                  </a:r>
                  <a:r>
                    <a:rPr lang="zh-CN" altLang="en-US" sz="1500" b="1" kern="0" dirty="0">
                      <a:solidFill>
                        <a:srgbClr val="27B4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企业</a:t>
                  </a:r>
                </a:p>
              </p:txBody>
            </p:sp>
          </p:grpSp>
          <p:grpSp>
            <p:nvGrpSpPr>
              <p:cNvPr id="115" name="组合 114"/>
              <p:cNvGrpSpPr/>
              <p:nvPr/>
            </p:nvGrpSpPr>
            <p:grpSpPr>
              <a:xfrm>
                <a:off x="10373" y="5351"/>
                <a:ext cx="1979" cy="1121"/>
                <a:chOff x="7676764" y="2082970"/>
                <a:chExt cx="1604369" cy="1053097"/>
              </a:xfrm>
            </p:grpSpPr>
            <p:sp>
              <p:nvSpPr>
                <p:cNvPr id="152" name="椭圆 151"/>
                <p:cNvSpPr/>
                <p:nvPr/>
              </p:nvSpPr>
              <p:spPr>
                <a:xfrm>
                  <a:off x="7676764" y="2195535"/>
                  <a:ext cx="1604369" cy="472892"/>
                </a:xfrm>
                <a:prstGeom prst="ellipse">
                  <a:avLst/>
                </a:prstGeom>
                <a:solidFill>
                  <a:srgbClr val="FFE6D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69925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等线" panose="02010600030101010101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3" name="Shape 1828"/>
                <p:cNvSpPr/>
                <p:nvPr/>
              </p:nvSpPr>
              <p:spPr>
                <a:xfrm>
                  <a:off x="8209113" y="2082970"/>
                  <a:ext cx="517323" cy="4322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768" y="5419"/>
                      </a:moveTo>
                      <a:cubicBezTo>
                        <a:pt x="4051" y="5419"/>
                        <a:pt x="4272" y="5506"/>
                        <a:pt x="4428" y="5687"/>
                      </a:cubicBezTo>
                      <a:cubicBezTo>
                        <a:pt x="4586" y="5866"/>
                        <a:pt x="4702" y="6079"/>
                        <a:pt x="4766" y="6326"/>
                      </a:cubicBezTo>
                      <a:cubicBezTo>
                        <a:pt x="4836" y="6574"/>
                        <a:pt x="4879" y="6836"/>
                        <a:pt x="4894" y="7107"/>
                      </a:cubicBezTo>
                      <a:cubicBezTo>
                        <a:pt x="4910" y="7377"/>
                        <a:pt x="4918" y="7596"/>
                        <a:pt x="4918" y="7760"/>
                      </a:cubicBezTo>
                      <a:lnTo>
                        <a:pt x="4918" y="9857"/>
                      </a:lnTo>
                      <a:cubicBezTo>
                        <a:pt x="4810" y="9929"/>
                        <a:pt x="4721" y="10015"/>
                        <a:pt x="4646" y="10110"/>
                      </a:cubicBezTo>
                      <a:cubicBezTo>
                        <a:pt x="4574" y="10208"/>
                        <a:pt x="4469" y="10257"/>
                        <a:pt x="4330" y="10257"/>
                      </a:cubicBezTo>
                      <a:lnTo>
                        <a:pt x="562" y="10257"/>
                      </a:lnTo>
                      <a:cubicBezTo>
                        <a:pt x="439" y="10257"/>
                        <a:pt x="338" y="10208"/>
                        <a:pt x="257" y="10110"/>
                      </a:cubicBezTo>
                      <a:cubicBezTo>
                        <a:pt x="178" y="10015"/>
                        <a:pt x="94" y="9929"/>
                        <a:pt x="0" y="9857"/>
                      </a:cubicBezTo>
                      <a:lnTo>
                        <a:pt x="0" y="7760"/>
                      </a:lnTo>
                      <a:cubicBezTo>
                        <a:pt x="0" y="7596"/>
                        <a:pt x="5" y="7377"/>
                        <a:pt x="12" y="7107"/>
                      </a:cubicBezTo>
                      <a:cubicBezTo>
                        <a:pt x="19" y="6836"/>
                        <a:pt x="58" y="6574"/>
                        <a:pt x="125" y="6326"/>
                      </a:cubicBezTo>
                      <a:cubicBezTo>
                        <a:pt x="197" y="6079"/>
                        <a:pt x="310" y="5866"/>
                        <a:pt x="466" y="5687"/>
                      </a:cubicBezTo>
                      <a:cubicBezTo>
                        <a:pt x="624" y="5509"/>
                        <a:pt x="842" y="5419"/>
                        <a:pt x="1123" y="5419"/>
                      </a:cubicBezTo>
                      <a:cubicBezTo>
                        <a:pt x="782" y="5152"/>
                        <a:pt x="509" y="4803"/>
                        <a:pt x="305" y="4377"/>
                      </a:cubicBezTo>
                      <a:cubicBezTo>
                        <a:pt x="103" y="3951"/>
                        <a:pt x="0" y="3470"/>
                        <a:pt x="0" y="2937"/>
                      </a:cubicBezTo>
                      <a:cubicBezTo>
                        <a:pt x="0" y="2540"/>
                        <a:pt x="65" y="2163"/>
                        <a:pt x="190" y="1806"/>
                      </a:cubicBezTo>
                      <a:cubicBezTo>
                        <a:pt x="317" y="1449"/>
                        <a:pt x="492" y="1135"/>
                        <a:pt x="718" y="861"/>
                      </a:cubicBezTo>
                      <a:cubicBezTo>
                        <a:pt x="943" y="590"/>
                        <a:pt x="1207" y="380"/>
                        <a:pt x="1505" y="228"/>
                      </a:cubicBezTo>
                      <a:cubicBezTo>
                        <a:pt x="1805" y="78"/>
                        <a:pt x="2119" y="0"/>
                        <a:pt x="2446" y="0"/>
                      </a:cubicBezTo>
                      <a:cubicBezTo>
                        <a:pt x="2794" y="0"/>
                        <a:pt x="3115" y="78"/>
                        <a:pt x="3413" y="228"/>
                      </a:cubicBezTo>
                      <a:cubicBezTo>
                        <a:pt x="3713" y="380"/>
                        <a:pt x="3970" y="590"/>
                        <a:pt x="4188" y="861"/>
                      </a:cubicBezTo>
                      <a:cubicBezTo>
                        <a:pt x="4406" y="1135"/>
                        <a:pt x="4584" y="1449"/>
                        <a:pt x="4716" y="1806"/>
                      </a:cubicBezTo>
                      <a:cubicBezTo>
                        <a:pt x="4850" y="2163"/>
                        <a:pt x="4918" y="2540"/>
                        <a:pt x="4918" y="2937"/>
                      </a:cubicBezTo>
                      <a:cubicBezTo>
                        <a:pt x="4918" y="3458"/>
                        <a:pt x="4814" y="3939"/>
                        <a:pt x="4603" y="4371"/>
                      </a:cubicBezTo>
                      <a:cubicBezTo>
                        <a:pt x="4392" y="4800"/>
                        <a:pt x="4116" y="5152"/>
                        <a:pt x="3768" y="5419"/>
                      </a:cubicBezTo>
                      <a:moveTo>
                        <a:pt x="18166" y="12063"/>
                      </a:moveTo>
                      <a:cubicBezTo>
                        <a:pt x="18672" y="12604"/>
                        <a:pt x="19070" y="13143"/>
                        <a:pt x="19356" y="13670"/>
                      </a:cubicBezTo>
                      <a:cubicBezTo>
                        <a:pt x="19642" y="14197"/>
                        <a:pt x="19788" y="14801"/>
                        <a:pt x="19788" y="15481"/>
                      </a:cubicBezTo>
                      <a:lnTo>
                        <a:pt x="19788" y="20817"/>
                      </a:lnTo>
                      <a:cubicBezTo>
                        <a:pt x="19694" y="20869"/>
                        <a:pt x="19620" y="20932"/>
                        <a:pt x="19558" y="20995"/>
                      </a:cubicBezTo>
                      <a:cubicBezTo>
                        <a:pt x="19498" y="21062"/>
                        <a:pt x="19426" y="21122"/>
                        <a:pt x="19344" y="21191"/>
                      </a:cubicBezTo>
                      <a:cubicBezTo>
                        <a:pt x="19262" y="21252"/>
                        <a:pt x="19174" y="21318"/>
                        <a:pt x="19075" y="21387"/>
                      </a:cubicBezTo>
                      <a:cubicBezTo>
                        <a:pt x="18977" y="21456"/>
                        <a:pt x="18835" y="21528"/>
                        <a:pt x="18662" y="21600"/>
                      </a:cubicBezTo>
                      <a:lnTo>
                        <a:pt x="2942" y="21600"/>
                      </a:lnTo>
                      <a:cubicBezTo>
                        <a:pt x="2676" y="21600"/>
                        <a:pt x="2467" y="21499"/>
                        <a:pt x="2318" y="21292"/>
                      </a:cubicBezTo>
                      <a:cubicBezTo>
                        <a:pt x="2167" y="21082"/>
                        <a:pt x="2004" y="20926"/>
                        <a:pt x="1819" y="20817"/>
                      </a:cubicBezTo>
                      <a:lnTo>
                        <a:pt x="1819" y="15481"/>
                      </a:lnTo>
                      <a:cubicBezTo>
                        <a:pt x="1819" y="14764"/>
                        <a:pt x="1990" y="14127"/>
                        <a:pt x="2335" y="13572"/>
                      </a:cubicBezTo>
                      <a:cubicBezTo>
                        <a:pt x="2678" y="13019"/>
                        <a:pt x="3053" y="12512"/>
                        <a:pt x="3461" y="12063"/>
                      </a:cubicBezTo>
                      <a:cubicBezTo>
                        <a:pt x="3535" y="11971"/>
                        <a:pt x="3634" y="11870"/>
                        <a:pt x="3754" y="11766"/>
                      </a:cubicBezTo>
                      <a:cubicBezTo>
                        <a:pt x="3874" y="11660"/>
                        <a:pt x="4001" y="11591"/>
                        <a:pt x="4138" y="11553"/>
                      </a:cubicBezTo>
                      <a:cubicBezTo>
                        <a:pt x="4277" y="11496"/>
                        <a:pt x="4433" y="11467"/>
                        <a:pt x="4610" y="11455"/>
                      </a:cubicBezTo>
                      <a:cubicBezTo>
                        <a:pt x="4786" y="11447"/>
                        <a:pt x="4956" y="11424"/>
                        <a:pt x="5126" y="11389"/>
                      </a:cubicBezTo>
                      <a:cubicBezTo>
                        <a:pt x="5594" y="11300"/>
                        <a:pt x="6091" y="11210"/>
                        <a:pt x="6622" y="11121"/>
                      </a:cubicBezTo>
                      <a:cubicBezTo>
                        <a:pt x="7150" y="11035"/>
                        <a:pt x="7666" y="10946"/>
                        <a:pt x="8172" y="10853"/>
                      </a:cubicBezTo>
                      <a:cubicBezTo>
                        <a:pt x="7483" y="10326"/>
                        <a:pt x="6929" y="9632"/>
                        <a:pt x="6514" y="8763"/>
                      </a:cubicBezTo>
                      <a:cubicBezTo>
                        <a:pt x="6094" y="7896"/>
                        <a:pt x="5885" y="6940"/>
                        <a:pt x="5885" y="5903"/>
                      </a:cubicBezTo>
                      <a:cubicBezTo>
                        <a:pt x="5885" y="5097"/>
                        <a:pt x="6017" y="4331"/>
                        <a:pt x="6276" y="3608"/>
                      </a:cubicBezTo>
                      <a:cubicBezTo>
                        <a:pt x="6535" y="2885"/>
                        <a:pt x="6888" y="2261"/>
                        <a:pt x="7332" y="1734"/>
                      </a:cubicBezTo>
                      <a:cubicBezTo>
                        <a:pt x="7778" y="1204"/>
                        <a:pt x="8299" y="786"/>
                        <a:pt x="8894" y="472"/>
                      </a:cubicBezTo>
                      <a:cubicBezTo>
                        <a:pt x="9494" y="159"/>
                        <a:pt x="10126" y="3"/>
                        <a:pt x="10802" y="3"/>
                      </a:cubicBezTo>
                      <a:cubicBezTo>
                        <a:pt x="11477" y="3"/>
                        <a:pt x="12113" y="159"/>
                        <a:pt x="12710" y="472"/>
                      </a:cubicBezTo>
                      <a:cubicBezTo>
                        <a:pt x="13308" y="786"/>
                        <a:pt x="13826" y="1204"/>
                        <a:pt x="14273" y="1734"/>
                      </a:cubicBezTo>
                      <a:cubicBezTo>
                        <a:pt x="14717" y="2261"/>
                        <a:pt x="15067" y="2885"/>
                        <a:pt x="15329" y="3608"/>
                      </a:cubicBezTo>
                      <a:cubicBezTo>
                        <a:pt x="15590" y="4331"/>
                        <a:pt x="15720" y="5097"/>
                        <a:pt x="15720" y="5903"/>
                      </a:cubicBezTo>
                      <a:cubicBezTo>
                        <a:pt x="15720" y="6940"/>
                        <a:pt x="15514" y="7890"/>
                        <a:pt x="15101" y="8757"/>
                      </a:cubicBezTo>
                      <a:cubicBezTo>
                        <a:pt x="14686" y="9621"/>
                        <a:pt x="14129" y="10321"/>
                        <a:pt x="13433" y="10853"/>
                      </a:cubicBezTo>
                      <a:cubicBezTo>
                        <a:pt x="13937" y="10946"/>
                        <a:pt x="14453" y="11032"/>
                        <a:pt x="14978" y="11115"/>
                      </a:cubicBezTo>
                      <a:cubicBezTo>
                        <a:pt x="15504" y="11199"/>
                        <a:pt x="16006" y="11288"/>
                        <a:pt x="16478" y="11389"/>
                      </a:cubicBezTo>
                      <a:cubicBezTo>
                        <a:pt x="16654" y="11426"/>
                        <a:pt x="16826" y="11449"/>
                        <a:pt x="16994" y="11455"/>
                      </a:cubicBezTo>
                      <a:cubicBezTo>
                        <a:pt x="17162" y="11467"/>
                        <a:pt x="17323" y="11496"/>
                        <a:pt x="17467" y="11553"/>
                      </a:cubicBezTo>
                      <a:cubicBezTo>
                        <a:pt x="17604" y="11591"/>
                        <a:pt x="17731" y="11660"/>
                        <a:pt x="17851" y="11766"/>
                      </a:cubicBezTo>
                      <a:cubicBezTo>
                        <a:pt x="17966" y="11870"/>
                        <a:pt x="18074" y="11971"/>
                        <a:pt x="18166" y="12063"/>
                      </a:cubicBezTo>
                      <a:moveTo>
                        <a:pt x="20474" y="5419"/>
                      </a:moveTo>
                      <a:cubicBezTo>
                        <a:pt x="20758" y="5419"/>
                        <a:pt x="20974" y="5506"/>
                        <a:pt x="21125" y="5687"/>
                      </a:cubicBezTo>
                      <a:cubicBezTo>
                        <a:pt x="21271" y="5866"/>
                        <a:pt x="21382" y="6079"/>
                        <a:pt x="21449" y="6326"/>
                      </a:cubicBezTo>
                      <a:cubicBezTo>
                        <a:pt x="21521" y="6574"/>
                        <a:pt x="21562" y="6836"/>
                        <a:pt x="21576" y="7107"/>
                      </a:cubicBezTo>
                      <a:cubicBezTo>
                        <a:pt x="21593" y="7377"/>
                        <a:pt x="21600" y="7596"/>
                        <a:pt x="21600" y="7760"/>
                      </a:cubicBezTo>
                      <a:lnTo>
                        <a:pt x="21600" y="9857"/>
                      </a:lnTo>
                      <a:cubicBezTo>
                        <a:pt x="21509" y="9929"/>
                        <a:pt x="21422" y="10015"/>
                        <a:pt x="21341" y="10110"/>
                      </a:cubicBezTo>
                      <a:cubicBezTo>
                        <a:pt x="21262" y="10208"/>
                        <a:pt x="21158" y="10257"/>
                        <a:pt x="21036" y="10257"/>
                      </a:cubicBezTo>
                      <a:lnTo>
                        <a:pt x="17268" y="10257"/>
                      </a:lnTo>
                      <a:cubicBezTo>
                        <a:pt x="17131" y="10257"/>
                        <a:pt x="17023" y="10208"/>
                        <a:pt x="16954" y="10110"/>
                      </a:cubicBezTo>
                      <a:cubicBezTo>
                        <a:pt x="16879" y="10015"/>
                        <a:pt x="16790" y="9929"/>
                        <a:pt x="16682" y="9857"/>
                      </a:cubicBezTo>
                      <a:lnTo>
                        <a:pt x="16682" y="7760"/>
                      </a:lnTo>
                      <a:cubicBezTo>
                        <a:pt x="16682" y="7596"/>
                        <a:pt x="16692" y="7377"/>
                        <a:pt x="16706" y="7107"/>
                      </a:cubicBezTo>
                      <a:cubicBezTo>
                        <a:pt x="16721" y="6836"/>
                        <a:pt x="16766" y="6574"/>
                        <a:pt x="16836" y="6326"/>
                      </a:cubicBezTo>
                      <a:cubicBezTo>
                        <a:pt x="16913" y="6079"/>
                        <a:pt x="17023" y="5866"/>
                        <a:pt x="17184" y="5687"/>
                      </a:cubicBezTo>
                      <a:cubicBezTo>
                        <a:pt x="17338" y="5509"/>
                        <a:pt x="17556" y="5419"/>
                        <a:pt x="17830" y="5419"/>
                      </a:cubicBezTo>
                      <a:cubicBezTo>
                        <a:pt x="17489" y="5152"/>
                        <a:pt x="17210" y="4803"/>
                        <a:pt x="16999" y="4377"/>
                      </a:cubicBezTo>
                      <a:cubicBezTo>
                        <a:pt x="16788" y="3951"/>
                        <a:pt x="16682" y="3470"/>
                        <a:pt x="16682" y="2937"/>
                      </a:cubicBezTo>
                      <a:cubicBezTo>
                        <a:pt x="16682" y="2540"/>
                        <a:pt x="16745" y="2163"/>
                        <a:pt x="16872" y="1806"/>
                      </a:cubicBezTo>
                      <a:cubicBezTo>
                        <a:pt x="16999" y="1449"/>
                        <a:pt x="17174" y="1135"/>
                        <a:pt x="17400" y="861"/>
                      </a:cubicBezTo>
                      <a:cubicBezTo>
                        <a:pt x="17626" y="590"/>
                        <a:pt x="17890" y="380"/>
                        <a:pt x="18187" y="228"/>
                      </a:cubicBezTo>
                      <a:cubicBezTo>
                        <a:pt x="18487" y="78"/>
                        <a:pt x="18809" y="0"/>
                        <a:pt x="19152" y="0"/>
                      </a:cubicBezTo>
                      <a:cubicBezTo>
                        <a:pt x="19481" y="0"/>
                        <a:pt x="19795" y="78"/>
                        <a:pt x="20095" y="228"/>
                      </a:cubicBezTo>
                      <a:cubicBezTo>
                        <a:pt x="20395" y="380"/>
                        <a:pt x="20657" y="590"/>
                        <a:pt x="20882" y="861"/>
                      </a:cubicBezTo>
                      <a:cubicBezTo>
                        <a:pt x="21108" y="1135"/>
                        <a:pt x="21286" y="1449"/>
                        <a:pt x="21413" y="1806"/>
                      </a:cubicBezTo>
                      <a:cubicBezTo>
                        <a:pt x="21538" y="2163"/>
                        <a:pt x="21600" y="2540"/>
                        <a:pt x="21600" y="2937"/>
                      </a:cubicBezTo>
                      <a:cubicBezTo>
                        <a:pt x="21600" y="3458"/>
                        <a:pt x="21499" y="3939"/>
                        <a:pt x="21295" y="4371"/>
                      </a:cubicBezTo>
                      <a:cubicBezTo>
                        <a:pt x="21094" y="4800"/>
                        <a:pt x="20820" y="5152"/>
                        <a:pt x="20474" y="5419"/>
                      </a:cubicBezTo>
                    </a:path>
                  </a:pathLst>
                </a:custGeom>
                <a:solidFill>
                  <a:srgbClr val="ED7D3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299085">
                    <a:defRPr/>
                  </a:pPr>
                  <a:endParaRPr sz="2600" kern="0">
                    <a:solidFill>
                      <a:srgbClr val="323232">
                        <a:lumMod val="25000"/>
                        <a:lumOff val="75000"/>
                      </a:srgbClr>
                    </a:solidFill>
                    <a:latin typeface="Helvetica Light"/>
                    <a:ea typeface="微软雅黑" panose="020B0503020204020204" pitchFamily="34" charset="-122"/>
                    <a:sym typeface="Helvetica Light"/>
                  </a:endParaRPr>
                </a:p>
              </p:txBody>
            </p:sp>
            <p:sp>
              <p:nvSpPr>
                <p:cNvPr id="154" name="文本框 221"/>
                <p:cNvSpPr txBox="1"/>
                <p:nvPr/>
              </p:nvSpPr>
              <p:spPr>
                <a:xfrm>
                  <a:off x="7875740" y="2631061"/>
                  <a:ext cx="1286639" cy="5050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69925">
                    <a:defRPr/>
                  </a:pPr>
                  <a:r>
                    <a:rPr lang="zh-CN" altLang="en-US" sz="1500" b="1" kern="0" dirty="0">
                      <a:solidFill>
                        <a:srgbClr val="ED7D3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政务人员</a:t>
                  </a:r>
                </a:p>
              </p:txBody>
            </p:sp>
          </p:grpSp>
          <p:cxnSp>
            <p:nvCxnSpPr>
              <p:cNvPr id="116" name="直接箭头连接符 115"/>
              <p:cNvCxnSpPr/>
              <p:nvPr/>
            </p:nvCxnSpPr>
            <p:spPr>
              <a:xfrm>
                <a:off x="6234" y="5708"/>
                <a:ext cx="4057" cy="0"/>
              </a:xfrm>
              <a:prstGeom prst="straightConnector1">
                <a:avLst/>
              </a:prstGeom>
              <a:noFill/>
              <a:ln w="25400" cap="flat" cmpd="sng" algn="ctr">
                <a:gradFill>
                  <a:gsLst>
                    <a:gs pos="0">
                      <a:srgbClr val="27B0EE"/>
                    </a:gs>
                    <a:gs pos="100000">
                      <a:srgbClr val="ED7D31"/>
                    </a:gs>
                  </a:gsLst>
                  <a:lin ang="0" scaled="0"/>
                </a:gradFill>
                <a:prstDash val="solid"/>
                <a:miter lim="800000"/>
                <a:headEnd type="stealth" w="lg" len="med"/>
                <a:tailEnd type="stealth" w="lg" len="med"/>
              </a:ln>
              <a:effectLst/>
            </p:spPr>
          </p:cxnSp>
          <p:cxnSp>
            <p:nvCxnSpPr>
              <p:cNvPr id="117" name="连接符: 曲线 116"/>
              <p:cNvCxnSpPr/>
              <p:nvPr/>
            </p:nvCxnSpPr>
            <p:spPr>
              <a:xfrm rot="5400000" flipH="1" flipV="1">
                <a:off x="8346" y="3082"/>
                <a:ext cx="14" cy="4637"/>
              </a:xfrm>
              <a:prstGeom prst="curvedConnector3">
                <a:avLst>
                  <a:gd name="adj1" fmla="val 4974807"/>
                </a:avLst>
              </a:prstGeom>
              <a:noFill/>
              <a:ln w="25400" cap="flat" cmpd="sng" algn="ctr">
                <a:gradFill>
                  <a:gsLst>
                    <a:gs pos="0">
                      <a:srgbClr val="27B0EE"/>
                    </a:gs>
                    <a:gs pos="100000">
                      <a:srgbClr val="ED7D31"/>
                    </a:gs>
                  </a:gsLst>
                  <a:lin ang="5400000" scaled="0"/>
                </a:gradFill>
                <a:prstDash val="solid"/>
                <a:miter lim="800000"/>
                <a:headEnd type="stealth" w="lg" len="med"/>
                <a:tailEnd type="stealth" w="lg" len="med"/>
              </a:ln>
              <a:effectLst/>
            </p:spPr>
          </p:cxnSp>
          <p:cxnSp>
            <p:nvCxnSpPr>
              <p:cNvPr id="118" name="连接符: 曲线 117"/>
              <p:cNvCxnSpPr/>
              <p:nvPr/>
            </p:nvCxnSpPr>
            <p:spPr>
              <a:xfrm rot="16200000" flipH="1">
                <a:off x="8293" y="3746"/>
                <a:ext cx="14" cy="4637"/>
              </a:xfrm>
              <a:prstGeom prst="curvedConnector3">
                <a:avLst>
                  <a:gd name="adj1" fmla="val 4497620"/>
                </a:avLst>
              </a:prstGeom>
              <a:noFill/>
              <a:ln w="25400" cap="flat" cmpd="sng" algn="ctr">
                <a:gradFill>
                  <a:gsLst>
                    <a:gs pos="0">
                      <a:srgbClr val="27B0EE"/>
                    </a:gs>
                    <a:gs pos="100000">
                      <a:srgbClr val="ED7D31"/>
                    </a:gs>
                  </a:gsLst>
                  <a:lin ang="5400000" scaled="0"/>
                </a:gradFill>
                <a:prstDash val="solid"/>
                <a:miter lim="800000"/>
                <a:headEnd type="stealth" w="lg" len="med"/>
                <a:tailEnd type="stealth" w="lg" len="med"/>
              </a:ln>
              <a:effectLst/>
            </p:spPr>
          </p:cxnSp>
          <p:sp>
            <p:nvSpPr>
              <p:cNvPr id="119" name="矩形: 圆角 118"/>
              <p:cNvSpPr/>
              <p:nvPr/>
            </p:nvSpPr>
            <p:spPr>
              <a:xfrm>
                <a:off x="7180" y="4534"/>
                <a:ext cx="2346" cy="363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w="1270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69925">
                  <a:defRPr/>
                </a:pPr>
                <a:r>
                  <a:rPr lang="zh-CN" altLang="en-US" sz="1200" b="1" kern="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增强政策透明度</a:t>
                </a:r>
              </a:p>
            </p:txBody>
          </p:sp>
          <p:sp>
            <p:nvSpPr>
              <p:cNvPr id="120" name="矩形: 圆角 119"/>
              <p:cNvSpPr/>
              <p:nvPr/>
            </p:nvSpPr>
            <p:spPr>
              <a:xfrm>
                <a:off x="7255" y="6438"/>
                <a:ext cx="2270" cy="363"/>
              </a:xfrm>
              <a:prstGeom prst="roundRect">
                <a:avLst>
                  <a:gd name="adj" fmla="val 50000"/>
                </a:avLst>
              </a:prstGeom>
              <a:solidFill>
                <a:srgbClr val="FFF8E5"/>
              </a:solidFill>
              <a:ln w="1270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69925">
                  <a:defRPr/>
                </a:pPr>
                <a:r>
                  <a:rPr lang="zh-CN" altLang="en-US" sz="1200" b="1" kern="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智能化业务流程</a:t>
                </a:r>
              </a:p>
            </p:txBody>
          </p:sp>
          <p:cxnSp>
            <p:nvCxnSpPr>
              <p:cNvPr id="121" name="直接箭头连接符 120"/>
              <p:cNvCxnSpPr/>
              <p:nvPr/>
            </p:nvCxnSpPr>
            <p:spPr>
              <a:xfrm flipH="1" flipV="1">
                <a:off x="2955" y="6863"/>
                <a:ext cx="1529" cy="1471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11C7E5"/>
                </a:solidFill>
                <a:prstDash val="sysDash"/>
                <a:miter lim="800000"/>
                <a:headEnd type="stealth" w="lg" len="lg"/>
                <a:tailEnd type="stealth" w="lg" len="lg"/>
              </a:ln>
              <a:effectLst/>
            </p:spPr>
          </p:cxnSp>
          <p:grpSp>
            <p:nvGrpSpPr>
              <p:cNvPr id="122" name="组合 121"/>
              <p:cNvGrpSpPr/>
              <p:nvPr/>
            </p:nvGrpSpPr>
            <p:grpSpPr>
              <a:xfrm>
                <a:off x="3893" y="3864"/>
                <a:ext cx="1843" cy="1088"/>
                <a:chOff x="1683" y="5442"/>
                <a:chExt cx="2090" cy="1347"/>
              </a:xfrm>
            </p:grpSpPr>
            <p:grpSp>
              <p:nvGrpSpPr>
                <p:cNvPr id="148" name="组合 147"/>
                <p:cNvGrpSpPr/>
                <p:nvPr/>
              </p:nvGrpSpPr>
              <p:grpSpPr>
                <a:xfrm>
                  <a:off x="1683" y="5442"/>
                  <a:ext cx="2090" cy="1347"/>
                  <a:chOff x="3837546" y="3579962"/>
                  <a:chExt cx="1494092" cy="1020538"/>
                </a:xfrm>
              </p:grpSpPr>
              <p:sp>
                <p:nvSpPr>
                  <p:cNvPr id="150" name="椭圆 149"/>
                  <p:cNvSpPr/>
                  <p:nvPr/>
                </p:nvSpPr>
                <p:spPr>
                  <a:xfrm>
                    <a:off x="4294584" y="3579962"/>
                    <a:ext cx="540000" cy="540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 cap="flat" cmpd="sng" algn="ctr">
                    <a:solidFill>
                      <a:srgbClr val="006DE8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669925">
                      <a:defRPr/>
                    </a:pPr>
                    <a:endParaRPr lang="zh-CN" altLang="en-US" kern="0">
                      <a:solidFill>
                        <a:prstClr val="white"/>
                      </a:solidFill>
                      <a:latin typeface="等线" panose="02010600030101010101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1" name="文本框 254"/>
                  <p:cNvSpPr txBox="1"/>
                  <p:nvPr/>
                </p:nvSpPr>
                <p:spPr>
                  <a:xfrm>
                    <a:off x="3837546" y="4168305"/>
                    <a:ext cx="1494092" cy="4321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 defTabSz="669925">
                      <a:defRPr/>
                    </a:pPr>
                    <a:r>
                      <a:rPr lang="zh-CN" altLang="en-US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业务流程引导</a:t>
                    </a:r>
                  </a:p>
                </p:txBody>
              </p:sp>
            </p:grpSp>
            <p:pic>
              <p:nvPicPr>
                <p:cNvPr id="149" name="图片 148" descr="活动运营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77" y="5587"/>
                  <a:ext cx="436" cy="436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组合 122"/>
              <p:cNvGrpSpPr/>
              <p:nvPr/>
            </p:nvGrpSpPr>
            <p:grpSpPr>
              <a:xfrm>
                <a:off x="4782" y="6802"/>
                <a:ext cx="1418" cy="1068"/>
                <a:chOff x="13530" y="1877"/>
                <a:chExt cx="1608" cy="1323"/>
              </a:xfrm>
            </p:grpSpPr>
            <p:grpSp>
              <p:nvGrpSpPr>
                <p:cNvPr id="144" name="组合 143"/>
                <p:cNvGrpSpPr/>
                <p:nvPr/>
              </p:nvGrpSpPr>
              <p:grpSpPr>
                <a:xfrm>
                  <a:off x="13530" y="1877"/>
                  <a:ext cx="1608" cy="1323"/>
                  <a:chOff x="4107323" y="3579962"/>
                  <a:chExt cx="1151660" cy="1003058"/>
                </a:xfrm>
              </p:grpSpPr>
              <p:sp>
                <p:nvSpPr>
                  <p:cNvPr id="146" name="椭圆 145"/>
                  <p:cNvSpPr/>
                  <p:nvPr/>
                </p:nvSpPr>
                <p:spPr>
                  <a:xfrm>
                    <a:off x="4294584" y="3579962"/>
                    <a:ext cx="540000" cy="540000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rgbClr val="006DE8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669925">
                      <a:defRPr/>
                    </a:pPr>
                    <a:endParaRPr lang="zh-CN" altLang="en-US" kern="0">
                      <a:solidFill>
                        <a:prstClr val="white"/>
                      </a:solidFill>
                      <a:latin typeface="等线" panose="02010600030101010101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7" name="文本框 225"/>
                  <p:cNvSpPr txBox="1"/>
                  <p:nvPr/>
                </p:nvSpPr>
                <p:spPr>
                  <a:xfrm>
                    <a:off x="4107323" y="4184189"/>
                    <a:ext cx="1151660" cy="3988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669925">
                      <a:defRPr/>
                    </a:pPr>
                    <a:r>
                      <a:rPr lang="zh-CN" altLang="en-US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政务新闻</a:t>
                    </a:r>
                    <a:r>
                      <a:rPr lang="en-US" altLang="zh-CN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/</a:t>
                    </a:r>
                    <a:r>
                      <a:rPr lang="zh-CN" altLang="en-US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公告</a:t>
                    </a:r>
                  </a:p>
                </p:txBody>
              </p:sp>
            </p:grpSp>
            <p:pic>
              <p:nvPicPr>
                <p:cNvPr id="145" name="图片 144" descr="知识库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976" y="2032"/>
                  <a:ext cx="398" cy="398"/>
                </a:xfrm>
                <a:prstGeom prst="rect">
                  <a:avLst/>
                </a:prstGeom>
              </p:spPr>
            </p:pic>
          </p:grpSp>
          <p:grpSp>
            <p:nvGrpSpPr>
              <p:cNvPr id="124" name="组合 123"/>
              <p:cNvGrpSpPr/>
              <p:nvPr/>
            </p:nvGrpSpPr>
            <p:grpSpPr>
              <a:xfrm>
                <a:off x="7761" y="3375"/>
                <a:ext cx="1843" cy="1048"/>
                <a:chOff x="16010" y="3274"/>
                <a:chExt cx="2091" cy="1298"/>
              </a:xfrm>
            </p:grpSpPr>
            <p:grpSp>
              <p:nvGrpSpPr>
                <p:cNvPr id="140" name="组合 139"/>
                <p:cNvGrpSpPr/>
                <p:nvPr/>
              </p:nvGrpSpPr>
              <p:grpSpPr>
                <a:xfrm>
                  <a:off x="16010" y="3274"/>
                  <a:ext cx="2091" cy="1298"/>
                  <a:chOff x="4105350" y="3579962"/>
                  <a:chExt cx="1493692" cy="985291"/>
                </a:xfrm>
              </p:grpSpPr>
              <p:sp>
                <p:nvSpPr>
                  <p:cNvPr id="142" name="椭圆 141"/>
                  <p:cNvSpPr/>
                  <p:nvPr/>
                </p:nvSpPr>
                <p:spPr>
                  <a:xfrm>
                    <a:off x="4294584" y="3579962"/>
                    <a:ext cx="540000" cy="540000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rgbClr val="006DE8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669925">
                      <a:defRPr/>
                    </a:pPr>
                    <a:endParaRPr lang="zh-CN" altLang="en-US" kern="0">
                      <a:solidFill>
                        <a:prstClr val="white"/>
                      </a:solidFill>
                      <a:latin typeface="等线" panose="02010600030101010101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3" name="文本框 229"/>
                  <p:cNvSpPr txBox="1"/>
                  <p:nvPr/>
                </p:nvSpPr>
                <p:spPr>
                  <a:xfrm>
                    <a:off x="4105350" y="4132059"/>
                    <a:ext cx="1493692" cy="43319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669925">
                      <a:defRPr/>
                    </a:pPr>
                    <a:r>
                      <a:rPr lang="zh-CN" altLang="en-US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政务咨询顾问</a:t>
                    </a:r>
                  </a:p>
                </p:txBody>
              </p:sp>
            </p:grpSp>
            <p:pic>
              <p:nvPicPr>
                <p:cNvPr id="141" name="图片 140" descr="视频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426" y="3405"/>
                  <a:ext cx="454" cy="454"/>
                </a:xfrm>
                <a:prstGeom prst="rect">
                  <a:avLst/>
                </a:prstGeom>
              </p:spPr>
            </p:pic>
          </p:grpSp>
          <p:grpSp>
            <p:nvGrpSpPr>
              <p:cNvPr id="125" name="组合 124"/>
              <p:cNvGrpSpPr/>
              <p:nvPr/>
            </p:nvGrpSpPr>
            <p:grpSpPr>
              <a:xfrm>
                <a:off x="10952" y="6817"/>
                <a:ext cx="1331" cy="1049"/>
                <a:chOff x="15249" y="5467"/>
                <a:chExt cx="1509" cy="1299"/>
              </a:xfrm>
            </p:grpSpPr>
            <p:grpSp>
              <p:nvGrpSpPr>
                <p:cNvPr id="136" name="组合 135"/>
                <p:cNvGrpSpPr/>
                <p:nvPr/>
              </p:nvGrpSpPr>
              <p:grpSpPr>
                <a:xfrm>
                  <a:off x="15249" y="5467"/>
                  <a:ext cx="1509" cy="1299"/>
                  <a:chOff x="4131495" y="3579962"/>
                  <a:chExt cx="1080693" cy="984950"/>
                </a:xfrm>
              </p:grpSpPr>
              <p:sp>
                <p:nvSpPr>
                  <p:cNvPr id="138" name="椭圆 137"/>
                  <p:cNvSpPr/>
                  <p:nvPr/>
                </p:nvSpPr>
                <p:spPr>
                  <a:xfrm>
                    <a:off x="4294584" y="3579962"/>
                    <a:ext cx="540000" cy="540000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rgbClr val="006DE8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669925">
                      <a:defRPr/>
                    </a:pPr>
                    <a:endParaRPr lang="zh-CN" altLang="en-US" kern="0">
                      <a:solidFill>
                        <a:prstClr val="white"/>
                      </a:solidFill>
                      <a:latin typeface="等线" panose="02010600030101010101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9" name="文本框 229"/>
                  <p:cNvSpPr txBox="1"/>
                  <p:nvPr/>
                </p:nvSpPr>
                <p:spPr>
                  <a:xfrm>
                    <a:off x="4131495" y="4132244"/>
                    <a:ext cx="1080693" cy="4326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 defTabSz="669925">
                      <a:defRPr/>
                    </a:pPr>
                    <a:r>
                      <a:rPr lang="zh-CN" altLang="en-US" sz="1200" b="1" kern="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政策解读</a:t>
                    </a:r>
                  </a:p>
                </p:txBody>
              </p:sp>
            </p:grpSp>
            <p:pic>
              <p:nvPicPr>
                <p:cNvPr id="137" name="图片 136" descr="人工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694" y="5635"/>
                  <a:ext cx="388" cy="388"/>
                </a:xfrm>
                <a:prstGeom prst="rect">
                  <a:avLst/>
                </a:prstGeom>
              </p:spPr>
            </p:pic>
          </p:grpSp>
          <p:sp>
            <p:nvSpPr>
              <p:cNvPr id="126" name="矩形: 圆角 125"/>
              <p:cNvSpPr/>
              <p:nvPr/>
            </p:nvSpPr>
            <p:spPr>
              <a:xfrm>
                <a:off x="7255" y="5506"/>
                <a:ext cx="2270" cy="363"/>
              </a:xfrm>
              <a:prstGeom prst="roundRect">
                <a:avLst>
                  <a:gd name="adj" fmla="val 50000"/>
                </a:avLst>
              </a:prstGeom>
              <a:solidFill>
                <a:srgbClr val="DEEBF7"/>
              </a:solidFill>
              <a:ln w="12700" cap="flat" cmpd="sng" algn="ctr">
                <a:solidFill>
                  <a:srgbClr val="0C84F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69925">
                  <a:defRPr/>
                </a:pPr>
                <a:r>
                  <a:rPr lang="zh-CN" altLang="en-US" sz="1200" b="1" kern="0" dirty="0">
                    <a:solidFill>
                      <a:srgbClr val="0C84F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智能化政务服务</a:t>
                </a:r>
              </a:p>
            </p:txBody>
          </p:sp>
          <p:grpSp>
            <p:nvGrpSpPr>
              <p:cNvPr id="128" name="组合 127"/>
              <p:cNvGrpSpPr/>
              <p:nvPr/>
            </p:nvGrpSpPr>
            <p:grpSpPr>
              <a:xfrm>
                <a:off x="13201" y="5357"/>
                <a:ext cx="1331" cy="1115"/>
                <a:chOff x="4271819" y="3579962"/>
                <a:chExt cx="1079214" cy="1046563"/>
              </a:xfrm>
            </p:grpSpPr>
            <p:sp>
              <p:nvSpPr>
                <p:cNvPr id="130" name="椭圆 129"/>
                <p:cNvSpPr/>
                <p:nvPr/>
              </p:nvSpPr>
              <p:spPr>
                <a:xfrm>
                  <a:off x="4452004" y="3579962"/>
                  <a:ext cx="540000" cy="5400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0C84F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69925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等线" panose="02010600030101010101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1" name="文本框 245"/>
                <p:cNvSpPr txBox="1"/>
                <p:nvPr/>
              </p:nvSpPr>
              <p:spPr>
                <a:xfrm>
                  <a:off x="4271819" y="4193965"/>
                  <a:ext cx="1079214" cy="432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669925">
                    <a:defRPr/>
                  </a:pPr>
                  <a:r>
                    <a:rPr lang="zh-CN" altLang="en-US" sz="1200" b="1" kern="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数据分析</a:t>
                  </a:r>
                </a:p>
              </p:txBody>
            </p:sp>
          </p:grpSp>
          <p:pic>
            <p:nvPicPr>
              <p:cNvPr id="129" name="图片 128" descr="定价资源位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94" y="5513"/>
                <a:ext cx="326" cy="298"/>
              </a:xfrm>
              <a:prstGeom prst="rect">
                <a:avLst/>
              </a:prstGeom>
            </p:spPr>
          </p:pic>
        </p:grpSp>
      </p:grpSp>
      <p:grpSp>
        <p:nvGrpSpPr>
          <p:cNvPr id="26" name="组合 25"/>
          <p:cNvGrpSpPr/>
          <p:nvPr/>
        </p:nvGrpSpPr>
        <p:grpSpPr>
          <a:xfrm>
            <a:off x="536753" y="5187130"/>
            <a:ext cx="3761260" cy="338554"/>
            <a:chOff x="7624723" y="4294417"/>
            <a:chExt cx="4612302" cy="338554"/>
          </a:xfrm>
        </p:grpSpPr>
        <p:sp>
          <p:nvSpPr>
            <p:cNvPr id="40" name="文本框 39"/>
            <p:cNvSpPr txBox="1"/>
            <p:nvPr/>
          </p:nvSpPr>
          <p:spPr>
            <a:xfrm>
              <a:off x="7871428" y="4294417"/>
              <a:ext cx="436559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</a:rPr>
                <a:t>90%</a:t>
              </a:r>
              <a:r>
                <a:rPr lang="zh-CN" altLang="en-US" sz="1600" dirty="0"/>
                <a:t>高频咨询场景的智能化闭环处理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4723" y="4336703"/>
              <a:ext cx="246705" cy="246705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4369480" y="5177300"/>
            <a:ext cx="3560077" cy="338554"/>
            <a:chOff x="7615222" y="5133688"/>
            <a:chExt cx="4081509" cy="338554"/>
          </a:xfrm>
        </p:grpSpPr>
        <p:sp>
          <p:nvSpPr>
            <p:cNvPr id="42" name="文本框 41"/>
            <p:cNvSpPr txBox="1"/>
            <p:nvPr/>
          </p:nvSpPr>
          <p:spPr>
            <a:xfrm>
              <a:off x="7839143" y="5133688"/>
              <a:ext cx="38575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政务知识库动态更新效率</a:t>
              </a:r>
              <a:r>
                <a:rPr lang="zh-CN" altLang="en-US" sz="1600" b="1" dirty="0">
                  <a:solidFill>
                    <a:srgbClr val="FF0000"/>
                  </a:solidFill>
                </a:rPr>
                <a:t>提升</a:t>
              </a:r>
              <a:r>
                <a:rPr lang="en-US" altLang="zh-CN" sz="1600" b="1" dirty="0">
                  <a:solidFill>
                    <a:srgbClr val="FF0000"/>
                  </a:solidFill>
                </a:rPr>
                <a:t>300%</a:t>
              </a: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5222" y="5190455"/>
              <a:ext cx="246705" cy="246705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/>
        </p:nvGrpSpPr>
        <p:grpSpPr>
          <a:xfrm>
            <a:off x="8104308" y="5187130"/>
            <a:ext cx="3560076" cy="338554"/>
            <a:chOff x="7615222" y="5981243"/>
            <a:chExt cx="4892727" cy="338554"/>
          </a:xfrm>
        </p:grpSpPr>
        <p:sp>
          <p:nvSpPr>
            <p:cNvPr id="44" name="文本框 43"/>
            <p:cNvSpPr txBox="1"/>
            <p:nvPr/>
          </p:nvSpPr>
          <p:spPr>
            <a:xfrm>
              <a:off x="7839142" y="5981243"/>
              <a:ext cx="466880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跨部门协同响应时效</a:t>
              </a:r>
              <a:r>
                <a:rPr lang="zh-CN" altLang="en-US" sz="1600" b="1" dirty="0">
                  <a:solidFill>
                    <a:srgbClr val="FF0000"/>
                  </a:solidFill>
                </a:rPr>
                <a:t>缩短至</a:t>
              </a:r>
              <a:r>
                <a:rPr lang="en-US" altLang="zh-CN" sz="1600" b="1" dirty="0">
                  <a:solidFill>
                    <a:srgbClr val="FF0000"/>
                  </a:solidFill>
                </a:rPr>
                <a:t>5</a:t>
              </a:r>
              <a:r>
                <a:rPr lang="zh-CN" altLang="en-US" sz="1600" b="1" dirty="0">
                  <a:solidFill>
                    <a:srgbClr val="FF0000"/>
                  </a:solidFill>
                </a:rPr>
                <a:t>分钟级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5222" y="6028501"/>
              <a:ext cx="246705" cy="24670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522" y="382369"/>
            <a:ext cx="76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02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68752"/>
            <a:ext cx="5294403" cy="5884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应用架构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0" name="矩形 289"/>
          <p:cNvSpPr/>
          <p:nvPr>
            <p:custDataLst>
              <p:tags r:id="rId1"/>
            </p:custDataLst>
          </p:nvPr>
        </p:nvSpPr>
        <p:spPr>
          <a:xfrm>
            <a:off x="1871346" y="1084580"/>
            <a:ext cx="5065394" cy="5454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1" name="矩形 290"/>
          <p:cNvSpPr/>
          <p:nvPr>
            <p:custDataLst>
              <p:tags r:id="rId2"/>
            </p:custDataLst>
          </p:nvPr>
        </p:nvSpPr>
        <p:spPr>
          <a:xfrm>
            <a:off x="7139304" y="1068061"/>
            <a:ext cx="3512185" cy="5353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2" name="矩形 291"/>
          <p:cNvSpPr/>
          <p:nvPr>
            <p:custDataLst>
              <p:tags r:id="rId3"/>
            </p:custDataLst>
          </p:nvPr>
        </p:nvSpPr>
        <p:spPr>
          <a:xfrm>
            <a:off x="555624" y="1084581"/>
            <a:ext cx="1241425" cy="51752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124841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用户层</a:t>
            </a:r>
          </a:p>
        </p:txBody>
      </p:sp>
      <p:sp>
        <p:nvSpPr>
          <p:cNvPr id="293" name="矩形 292"/>
          <p:cNvSpPr/>
          <p:nvPr>
            <p:custDataLst>
              <p:tags r:id="rId4"/>
            </p:custDataLst>
          </p:nvPr>
        </p:nvSpPr>
        <p:spPr>
          <a:xfrm>
            <a:off x="1878964" y="2761578"/>
            <a:ext cx="9285605" cy="3274738"/>
          </a:xfrm>
          <a:prstGeom prst="rect">
            <a:avLst/>
          </a:prstGeom>
          <a:solidFill>
            <a:srgbClr val="006DE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 defTabSz="124841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4" name="矩形 293"/>
          <p:cNvSpPr/>
          <p:nvPr>
            <p:custDataLst>
              <p:tags r:id="rId5"/>
            </p:custDataLst>
          </p:nvPr>
        </p:nvSpPr>
        <p:spPr>
          <a:xfrm>
            <a:off x="561975" y="1666876"/>
            <a:ext cx="1238250" cy="45751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124841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渠道层</a:t>
            </a:r>
          </a:p>
        </p:txBody>
      </p:sp>
      <p:sp>
        <p:nvSpPr>
          <p:cNvPr id="295" name="矩形 294"/>
          <p:cNvSpPr/>
          <p:nvPr>
            <p:custDataLst>
              <p:tags r:id="rId6"/>
            </p:custDataLst>
          </p:nvPr>
        </p:nvSpPr>
        <p:spPr>
          <a:xfrm>
            <a:off x="1871344" y="1680065"/>
            <a:ext cx="9285605" cy="467270"/>
          </a:xfrm>
          <a:prstGeom prst="rect">
            <a:avLst/>
          </a:prstGeom>
          <a:solidFill>
            <a:srgbClr val="D1F1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 defTabSz="124841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b="1" noProof="0" dirty="0">
              <a:ln>
                <a:noFill/>
              </a:ln>
              <a:solidFill>
                <a:srgbClr val="3CBE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7" name="矩形 296"/>
          <p:cNvSpPr/>
          <p:nvPr>
            <p:custDataLst>
              <p:tags r:id="rId7"/>
            </p:custDataLst>
          </p:nvPr>
        </p:nvSpPr>
        <p:spPr>
          <a:xfrm>
            <a:off x="577925" y="2181623"/>
            <a:ext cx="1228089" cy="53873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124841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应用层</a:t>
            </a:r>
          </a:p>
        </p:txBody>
      </p:sp>
      <p:sp>
        <p:nvSpPr>
          <p:cNvPr id="298" name="矩形 297"/>
          <p:cNvSpPr/>
          <p:nvPr>
            <p:custDataLst>
              <p:tags r:id="rId8"/>
            </p:custDataLst>
          </p:nvPr>
        </p:nvSpPr>
        <p:spPr>
          <a:xfrm>
            <a:off x="556177" y="2761578"/>
            <a:ext cx="1238250" cy="327473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124841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服务层</a:t>
            </a:r>
          </a:p>
        </p:txBody>
      </p:sp>
      <p:sp>
        <p:nvSpPr>
          <p:cNvPr id="299" name="矩形 298"/>
          <p:cNvSpPr/>
          <p:nvPr>
            <p:custDataLst>
              <p:tags r:id="rId9"/>
            </p:custDataLst>
          </p:nvPr>
        </p:nvSpPr>
        <p:spPr>
          <a:xfrm>
            <a:off x="561975" y="6106755"/>
            <a:ext cx="1238250" cy="540385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124841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</a:t>
            </a:r>
          </a:p>
          <a:p>
            <a:pPr lvl="0" algn="ctr" defTabSz="124841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支撑层</a:t>
            </a:r>
          </a:p>
        </p:txBody>
      </p:sp>
      <p:sp>
        <p:nvSpPr>
          <p:cNvPr id="300" name="矩形 299"/>
          <p:cNvSpPr/>
          <p:nvPr>
            <p:custDataLst>
              <p:tags r:id="rId10"/>
            </p:custDataLst>
          </p:nvPr>
        </p:nvSpPr>
        <p:spPr>
          <a:xfrm>
            <a:off x="1878965" y="2180990"/>
            <a:ext cx="9277984" cy="514549"/>
          </a:xfrm>
          <a:prstGeom prst="rect">
            <a:avLst/>
          </a:prstGeom>
          <a:solidFill>
            <a:srgbClr val="E0F5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 defTabSz="124841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b="1" noProof="0" dirty="0">
              <a:ln>
                <a:noFill/>
              </a:ln>
              <a:solidFill>
                <a:srgbClr val="14B4E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1" name="文本框 300"/>
          <p:cNvSpPr txBox="1"/>
          <p:nvPr>
            <p:custDataLst>
              <p:tags r:id="rId11"/>
            </p:custDataLst>
          </p:nvPr>
        </p:nvSpPr>
        <p:spPr>
          <a:xfrm>
            <a:off x="1956269" y="2251231"/>
            <a:ext cx="991410" cy="411639"/>
          </a:xfrm>
          <a:prstGeom prst="roundRect">
            <a:avLst>
              <a:gd name="adj" fmla="val 0"/>
            </a:avLst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lIns="121894" tIns="60945" rIns="121894" bIns="60945" rtlCol="0" anchor="ctr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政务解答</a:t>
            </a:r>
          </a:p>
        </p:txBody>
      </p:sp>
      <p:sp>
        <p:nvSpPr>
          <p:cNvPr id="302" name="文本框 301"/>
          <p:cNvSpPr txBox="1"/>
          <p:nvPr>
            <p:custDataLst>
              <p:tags r:id="rId12"/>
            </p:custDataLst>
          </p:nvPr>
        </p:nvSpPr>
        <p:spPr>
          <a:xfrm>
            <a:off x="7219760" y="2251045"/>
            <a:ext cx="1333585" cy="411639"/>
          </a:xfrm>
          <a:prstGeom prst="roundRect">
            <a:avLst>
              <a:gd name="adj" fmla="val 0"/>
            </a:avLst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lIns="121894" tIns="60945" rIns="121894" bIns="60945" rtlCol="0" anchor="ctr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政务费用计算</a:t>
            </a:r>
          </a:p>
        </p:txBody>
      </p:sp>
      <p:sp>
        <p:nvSpPr>
          <p:cNvPr id="303" name="文本框 302"/>
          <p:cNvSpPr txBox="1"/>
          <p:nvPr>
            <p:custDataLst>
              <p:tags r:id="rId13"/>
            </p:custDataLst>
          </p:nvPr>
        </p:nvSpPr>
        <p:spPr>
          <a:xfrm>
            <a:off x="2996739" y="2251231"/>
            <a:ext cx="991410" cy="411639"/>
          </a:xfrm>
          <a:prstGeom prst="roundRect">
            <a:avLst>
              <a:gd name="adj" fmla="val 0"/>
            </a:avLst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lIns="121894" tIns="60945" rIns="121894" bIns="60945" rtlCol="0" anchor="ctr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数据整合</a:t>
            </a:r>
          </a:p>
        </p:txBody>
      </p:sp>
      <p:sp>
        <p:nvSpPr>
          <p:cNvPr id="304" name="文本框 303"/>
          <p:cNvSpPr txBox="1"/>
          <p:nvPr>
            <p:custDataLst>
              <p:tags r:id="rId14"/>
            </p:custDataLst>
          </p:nvPr>
        </p:nvSpPr>
        <p:spPr>
          <a:xfrm>
            <a:off x="6155399" y="2248412"/>
            <a:ext cx="991410" cy="411639"/>
          </a:xfrm>
          <a:prstGeom prst="roundRect">
            <a:avLst>
              <a:gd name="adj" fmla="val 0"/>
            </a:avLst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lIns="121894" tIns="60945" rIns="121894" bIns="60945" rtlCol="0" anchor="ctr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数据分析</a:t>
            </a:r>
          </a:p>
        </p:txBody>
      </p:sp>
      <p:sp>
        <p:nvSpPr>
          <p:cNvPr id="305" name="文本框 304"/>
          <p:cNvSpPr txBox="1"/>
          <p:nvPr>
            <p:custDataLst>
              <p:tags r:id="rId15"/>
            </p:custDataLst>
          </p:nvPr>
        </p:nvSpPr>
        <p:spPr>
          <a:xfrm>
            <a:off x="4028930" y="2251046"/>
            <a:ext cx="991410" cy="411639"/>
          </a:xfrm>
          <a:prstGeom prst="roundRect">
            <a:avLst>
              <a:gd name="adj" fmla="val 0"/>
            </a:avLst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lIns="121894" tIns="60945" rIns="121894" bIns="60945" rtlCol="0" anchor="ctr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热点问答</a:t>
            </a:r>
          </a:p>
        </p:txBody>
      </p:sp>
      <p:sp>
        <p:nvSpPr>
          <p:cNvPr id="306" name="文本框 305"/>
          <p:cNvSpPr txBox="1"/>
          <p:nvPr>
            <p:custDataLst>
              <p:tags r:id="rId16"/>
            </p:custDataLst>
          </p:nvPr>
        </p:nvSpPr>
        <p:spPr>
          <a:xfrm>
            <a:off x="5069400" y="2253784"/>
            <a:ext cx="991411" cy="388394"/>
          </a:xfrm>
          <a:prstGeom prst="roundRect">
            <a:avLst>
              <a:gd name="adj" fmla="val 0"/>
            </a:avLst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lIns="121894" tIns="60945" rIns="121894" bIns="60945" rtlCol="0" anchor="ctr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流程问答</a:t>
            </a:r>
          </a:p>
        </p:txBody>
      </p:sp>
      <p:sp>
        <p:nvSpPr>
          <p:cNvPr id="307" name="文本框 306"/>
          <p:cNvSpPr txBox="1"/>
          <p:nvPr>
            <p:custDataLst>
              <p:tags r:id="rId17"/>
            </p:custDataLst>
          </p:nvPr>
        </p:nvSpPr>
        <p:spPr>
          <a:xfrm>
            <a:off x="8626296" y="2248924"/>
            <a:ext cx="983771" cy="411639"/>
          </a:xfrm>
          <a:prstGeom prst="rect">
            <a:avLst/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wrap="square" lIns="121894" tIns="60945" rIns="121894" bIns="60945" rtlCol="0" anchor="ctr" anchorCtr="0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智能助理</a:t>
            </a:r>
          </a:p>
        </p:txBody>
      </p:sp>
      <p:sp>
        <p:nvSpPr>
          <p:cNvPr id="308" name="文本框 307"/>
          <p:cNvSpPr txBox="1"/>
          <p:nvPr>
            <p:custDataLst>
              <p:tags r:id="rId18"/>
            </p:custDataLst>
          </p:nvPr>
        </p:nvSpPr>
        <p:spPr>
          <a:xfrm>
            <a:off x="9682375" y="2247829"/>
            <a:ext cx="1344307" cy="411639"/>
          </a:xfrm>
          <a:prstGeom prst="rect">
            <a:avLst/>
          </a:prstGeom>
          <a:solidFill>
            <a:srgbClr val="14B4EB"/>
          </a:solidFill>
          <a:ln w="25400" cap="flat" cmpd="sng" algn="ctr">
            <a:noFill/>
            <a:prstDash val="solid"/>
          </a:ln>
          <a:effectLst/>
        </p:spPr>
        <p:txBody>
          <a:bodyPr wrap="square" lIns="121894" tIns="60945" rIns="121894" bIns="60945" rtlCol="0" anchor="ctr" anchorCtr="0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defTabSz="1664335">
              <a:buClrTx/>
              <a:buSzTx/>
              <a:buFontTx/>
              <a:defRPr/>
            </a:pPr>
            <a:r>
              <a:rPr lang="zh-CN" altLang="en-US" sz="1400" kern="0" dirty="0">
                <a:solidFill>
                  <a:sysClr val="window" lastClr="FFFFFF"/>
                </a:solidFill>
                <a:sym typeface="+mn-ea"/>
              </a:rPr>
              <a:t>政策咨询顾问</a:t>
            </a:r>
          </a:p>
        </p:txBody>
      </p:sp>
      <p:sp>
        <p:nvSpPr>
          <p:cNvPr id="312" name="矩形 311"/>
          <p:cNvSpPr/>
          <p:nvPr>
            <p:custDataLst>
              <p:tags r:id="rId19"/>
            </p:custDataLst>
          </p:nvPr>
        </p:nvSpPr>
        <p:spPr>
          <a:xfrm>
            <a:off x="1871345" y="6107140"/>
            <a:ext cx="9293224" cy="540000"/>
          </a:xfrm>
          <a:prstGeom prst="rect">
            <a:avLst/>
          </a:prstGeom>
          <a:solidFill>
            <a:srgbClr val="3083E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13" name="文本框 312"/>
          <p:cNvSpPr txBox="1"/>
          <p:nvPr>
            <p:custDataLst>
              <p:tags r:id="rId20"/>
            </p:custDataLst>
          </p:nvPr>
        </p:nvSpPr>
        <p:spPr bwMode="auto">
          <a:xfrm>
            <a:off x="2025803" y="6192308"/>
            <a:ext cx="1071691" cy="430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numCol="1" spcCol="0" rtlCol="0" fromWordArt="0" anchor="ctr" anchorCtr="1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sym typeface="+mn-ea"/>
              </a:rPr>
              <a:t>DeepSeek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14" name="文本框 313"/>
          <p:cNvSpPr txBox="1"/>
          <p:nvPr>
            <p:custDataLst>
              <p:tags r:id="rId21"/>
            </p:custDataLst>
          </p:nvPr>
        </p:nvSpPr>
        <p:spPr bwMode="auto">
          <a:xfrm>
            <a:off x="4465239" y="6186009"/>
            <a:ext cx="1071691" cy="430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numCol="1" spcCol="0" rtlCol="0" fromWordArt="0" anchor="ctr" anchorCtr="1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ChatGLM</a:t>
            </a:r>
          </a:p>
        </p:txBody>
      </p:sp>
      <p:sp>
        <p:nvSpPr>
          <p:cNvPr id="315" name="文本框 314"/>
          <p:cNvSpPr txBox="1"/>
          <p:nvPr>
            <p:custDataLst>
              <p:tags r:id="rId22"/>
            </p:custDataLst>
          </p:nvPr>
        </p:nvSpPr>
        <p:spPr bwMode="auto">
          <a:xfrm>
            <a:off x="5689181" y="6179652"/>
            <a:ext cx="1438911" cy="4430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spcCol="0" rtlCol="0" fromWordArt="0" anchor="ctr" anchorCtr="1" forceAA="0" compatLnSpc="0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华为盘古大模型</a:t>
            </a:r>
          </a:p>
        </p:txBody>
      </p:sp>
      <p:sp>
        <p:nvSpPr>
          <p:cNvPr id="316" name="文本框 315"/>
          <p:cNvSpPr txBox="1"/>
          <p:nvPr>
            <p:custDataLst>
              <p:tags r:id="rId23"/>
            </p:custDataLst>
          </p:nvPr>
        </p:nvSpPr>
        <p:spPr bwMode="auto">
          <a:xfrm>
            <a:off x="8693638" y="6148774"/>
            <a:ext cx="1273811" cy="473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spcCol="0" rtlCol="0" fromWordArt="0" anchor="ctr" anchorCtr="1" forceAA="0" compatLnSpc="0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科大星火认知</a:t>
            </a:r>
          </a:p>
        </p:txBody>
      </p:sp>
      <p:sp>
        <p:nvSpPr>
          <p:cNvPr id="317" name="文本框 316"/>
          <p:cNvSpPr txBox="1"/>
          <p:nvPr>
            <p:custDataLst>
              <p:tags r:id="rId24"/>
            </p:custDataLst>
          </p:nvPr>
        </p:nvSpPr>
        <p:spPr bwMode="auto">
          <a:xfrm>
            <a:off x="7251701" y="6156038"/>
            <a:ext cx="1318328" cy="473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spcCol="0" rtlCol="0" fromWordArt="0" anchor="ctr" anchorCtr="1" forceAA="0" compatLnSpc="0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百度文心一言</a:t>
            </a:r>
          </a:p>
        </p:txBody>
      </p:sp>
      <p:sp>
        <p:nvSpPr>
          <p:cNvPr id="318" name="文本框 317"/>
          <p:cNvSpPr txBox="1"/>
          <p:nvPr>
            <p:custDataLst>
              <p:tags r:id="rId25"/>
            </p:custDataLst>
          </p:nvPr>
        </p:nvSpPr>
        <p:spPr bwMode="auto">
          <a:xfrm>
            <a:off x="10036509" y="6159160"/>
            <a:ext cx="1086149" cy="4422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spcCol="0" rtlCol="0" fromWordArt="0" anchor="ctr" anchorCtr="1" forceAA="0" compatLnSpc="0">
            <a:noAutofit/>
          </a:bodyPr>
          <a:lstStyle>
            <a:defPPr>
              <a:defRPr lang="zh-CN"/>
            </a:defPPr>
            <a:lvl1pPr algn="ctr">
              <a:defRPr sz="13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其它大模型</a:t>
            </a:r>
          </a:p>
        </p:txBody>
      </p:sp>
      <p:sp>
        <p:nvSpPr>
          <p:cNvPr id="319" name="圆角矩形 428"/>
          <p:cNvSpPr/>
          <p:nvPr>
            <p:custDataLst>
              <p:tags r:id="rId26"/>
            </p:custDataLst>
          </p:nvPr>
        </p:nvSpPr>
        <p:spPr>
          <a:xfrm>
            <a:off x="1928637" y="2781047"/>
            <a:ext cx="2161360" cy="2051318"/>
          </a:xfrm>
          <a:prstGeom prst="roundRect">
            <a:avLst>
              <a:gd name="adj" fmla="val 0"/>
            </a:avLst>
          </a:prstGeom>
          <a:noFill/>
          <a:ln>
            <a:solidFill>
              <a:srgbClr val="3083E0">
                <a:alpha val="20000"/>
              </a:srgb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知识中心</a:t>
            </a:r>
          </a:p>
        </p:txBody>
      </p:sp>
      <p:sp>
        <p:nvSpPr>
          <p:cNvPr id="320" name="圆角矩形 429"/>
          <p:cNvSpPr/>
          <p:nvPr>
            <p:custDataLst>
              <p:tags r:id="rId27"/>
            </p:custDataLst>
          </p:nvPr>
        </p:nvSpPr>
        <p:spPr>
          <a:xfrm>
            <a:off x="9491001" y="2779384"/>
            <a:ext cx="1359393" cy="2051938"/>
          </a:xfrm>
          <a:prstGeom prst="roundRect">
            <a:avLst>
              <a:gd name="adj" fmla="val 0"/>
            </a:avLst>
          </a:prstGeom>
          <a:noFill/>
          <a:ln>
            <a:solidFill>
              <a:srgbClr val="3083E0">
                <a:alpha val="20000"/>
              </a:srgb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用户中心</a:t>
            </a:r>
          </a:p>
        </p:txBody>
      </p:sp>
      <p:sp>
        <p:nvSpPr>
          <p:cNvPr id="321" name="圆角矩形 431"/>
          <p:cNvSpPr/>
          <p:nvPr>
            <p:custDataLst>
              <p:tags r:id="rId28"/>
            </p:custDataLst>
          </p:nvPr>
        </p:nvSpPr>
        <p:spPr>
          <a:xfrm>
            <a:off x="6904732" y="2786541"/>
            <a:ext cx="2288970" cy="2047596"/>
          </a:xfrm>
          <a:prstGeom prst="roundRect">
            <a:avLst>
              <a:gd name="adj" fmla="val 0"/>
            </a:avLst>
          </a:prstGeom>
          <a:noFill/>
          <a:ln>
            <a:solidFill>
              <a:srgbClr val="3083E0">
                <a:alpha val="20000"/>
              </a:srgb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管理中心</a:t>
            </a:r>
          </a:p>
        </p:txBody>
      </p:sp>
      <p:sp>
        <p:nvSpPr>
          <p:cNvPr id="322" name="圆角矩形 437"/>
          <p:cNvSpPr/>
          <p:nvPr>
            <p:custDataLst>
              <p:tags r:id="rId29"/>
            </p:custDataLst>
          </p:nvPr>
        </p:nvSpPr>
        <p:spPr>
          <a:xfrm>
            <a:off x="4375471" y="2792337"/>
            <a:ext cx="2180581" cy="2046975"/>
          </a:xfrm>
          <a:prstGeom prst="roundRect">
            <a:avLst>
              <a:gd name="adj" fmla="val 0"/>
            </a:avLst>
          </a:prstGeom>
          <a:noFill/>
          <a:ln>
            <a:solidFill>
              <a:srgbClr val="3083E0">
                <a:alpha val="20000"/>
              </a:srgb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问答中心</a:t>
            </a:r>
          </a:p>
        </p:txBody>
      </p:sp>
      <p:sp>
        <p:nvSpPr>
          <p:cNvPr id="323" name="圆角矩形 442"/>
          <p:cNvSpPr/>
          <p:nvPr>
            <p:custDataLst>
              <p:tags r:id="rId30"/>
            </p:custDataLst>
          </p:nvPr>
        </p:nvSpPr>
        <p:spPr>
          <a:xfrm>
            <a:off x="1928637" y="4868675"/>
            <a:ext cx="4423211" cy="1146552"/>
          </a:xfrm>
          <a:prstGeom prst="roundRect">
            <a:avLst>
              <a:gd name="adj" fmla="val 0"/>
            </a:avLst>
          </a:prstGeom>
          <a:noFill/>
          <a:ln>
            <a:solidFill>
              <a:srgbClr val="3083E0">
                <a:alpha val="20000"/>
              </a:srgb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政务</a:t>
            </a: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智能体中心</a:t>
            </a:r>
          </a:p>
        </p:txBody>
      </p:sp>
      <p:sp>
        <p:nvSpPr>
          <p:cNvPr id="324" name="文本框 323"/>
          <p:cNvSpPr txBox="1"/>
          <p:nvPr>
            <p:custDataLst>
              <p:tags r:id="rId31"/>
            </p:custDataLst>
          </p:nvPr>
        </p:nvSpPr>
        <p:spPr>
          <a:xfrm>
            <a:off x="2004725" y="5126510"/>
            <a:ext cx="1333352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政策咨询</a:t>
            </a:r>
          </a:p>
        </p:txBody>
      </p:sp>
      <p:sp>
        <p:nvSpPr>
          <p:cNvPr id="325" name="文本框 324"/>
          <p:cNvSpPr txBox="1"/>
          <p:nvPr>
            <p:custDataLst>
              <p:tags r:id="rId32"/>
            </p:custDataLst>
          </p:nvPr>
        </p:nvSpPr>
        <p:spPr>
          <a:xfrm>
            <a:off x="3517225" y="5126510"/>
            <a:ext cx="1277229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latin typeface="Inter"/>
                <a:sym typeface="+mn-ea"/>
              </a:rPr>
              <a:t>热点问答</a:t>
            </a:r>
            <a:endParaRPr lang="zh-CN" altLang="en-US" sz="1400" kern="1200" noProof="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26" name="文本框 325"/>
          <p:cNvSpPr txBox="1"/>
          <p:nvPr>
            <p:custDataLst>
              <p:tags r:id="rId33"/>
            </p:custDataLst>
          </p:nvPr>
        </p:nvSpPr>
        <p:spPr>
          <a:xfrm>
            <a:off x="3517225" y="5591330"/>
            <a:ext cx="1277229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数据分析</a:t>
            </a:r>
          </a:p>
        </p:txBody>
      </p:sp>
      <p:sp>
        <p:nvSpPr>
          <p:cNvPr id="327" name="文本框 326"/>
          <p:cNvSpPr txBox="1"/>
          <p:nvPr>
            <p:custDataLst>
              <p:tags r:id="rId34"/>
            </p:custDataLst>
          </p:nvPr>
        </p:nvSpPr>
        <p:spPr>
          <a:xfrm>
            <a:off x="4967445" y="5127284"/>
            <a:ext cx="1283750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dirty="0">
                <a:solidFill>
                  <a:schemeClr val="bg1"/>
                </a:solidFill>
                <a:sym typeface="+mn-ea"/>
              </a:rPr>
              <a:t>政务业务</a:t>
            </a:r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计算</a:t>
            </a:r>
          </a:p>
        </p:txBody>
      </p:sp>
      <p:sp>
        <p:nvSpPr>
          <p:cNvPr id="328" name="文本框 327"/>
          <p:cNvSpPr txBox="1"/>
          <p:nvPr>
            <p:custDataLst>
              <p:tags r:id="rId35"/>
            </p:custDataLst>
          </p:nvPr>
        </p:nvSpPr>
        <p:spPr>
          <a:xfrm>
            <a:off x="2004725" y="5591330"/>
            <a:ext cx="1333352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业务咨询</a:t>
            </a:r>
          </a:p>
        </p:txBody>
      </p:sp>
      <p:sp>
        <p:nvSpPr>
          <p:cNvPr id="329" name="文本框 328"/>
          <p:cNvSpPr txBox="1"/>
          <p:nvPr>
            <p:custDataLst>
              <p:tags r:id="rId36"/>
            </p:custDataLst>
          </p:nvPr>
        </p:nvSpPr>
        <p:spPr>
          <a:xfrm>
            <a:off x="4967354" y="5591914"/>
            <a:ext cx="1283750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......</a:t>
            </a:r>
          </a:p>
        </p:txBody>
      </p:sp>
      <p:sp>
        <p:nvSpPr>
          <p:cNvPr id="330" name="文本框 152"/>
          <p:cNvSpPr txBox="1"/>
          <p:nvPr>
            <p:custDataLst>
              <p:tags r:id="rId37"/>
            </p:custDataLst>
          </p:nvPr>
        </p:nvSpPr>
        <p:spPr>
          <a:xfrm>
            <a:off x="9418628" y="5124173"/>
            <a:ext cx="1397649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知识包管理</a:t>
            </a:r>
          </a:p>
        </p:txBody>
      </p:sp>
      <p:sp>
        <p:nvSpPr>
          <p:cNvPr id="331" name="圆角矩形 78"/>
          <p:cNvSpPr/>
          <p:nvPr>
            <p:custDataLst>
              <p:tags r:id="rId38"/>
            </p:custDataLst>
          </p:nvPr>
        </p:nvSpPr>
        <p:spPr>
          <a:xfrm>
            <a:off x="6453449" y="4872736"/>
            <a:ext cx="2708174" cy="1146551"/>
          </a:xfrm>
          <a:prstGeom prst="roundRect">
            <a:avLst>
              <a:gd name="adj" fmla="val 0"/>
            </a:avLst>
          </a:prstGeom>
          <a:noFill/>
          <a:ln>
            <a:solidFill>
              <a:srgbClr val="3083E0">
                <a:alpha val="20000"/>
              </a:srgb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运营中心</a:t>
            </a:r>
          </a:p>
        </p:txBody>
      </p:sp>
      <p:sp>
        <p:nvSpPr>
          <p:cNvPr id="332" name="圆角矩形 79"/>
          <p:cNvSpPr/>
          <p:nvPr>
            <p:custDataLst>
              <p:tags r:id="rId39"/>
            </p:custDataLst>
          </p:nvPr>
        </p:nvSpPr>
        <p:spPr>
          <a:xfrm>
            <a:off x="9317028" y="4854933"/>
            <a:ext cx="1561117" cy="1138659"/>
          </a:xfrm>
          <a:prstGeom prst="roundRect">
            <a:avLst>
              <a:gd name="adj" fmla="val 0"/>
            </a:avLst>
          </a:prstGeom>
          <a:noFill/>
          <a:ln>
            <a:solidFill>
              <a:srgbClr val="3083E0">
                <a:alpha val="20000"/>
              </a:srgb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项目中心</a:t>
            </a:r>
          </a:p>
        </p:txBody>
      </p:sp>
      <p:sp>
        <p:nvSpPr>
          <p:cNvPr id="333" name="文本框 332"/>
          <p:cNvSpPr txBox="1"/>
          <p:nvPr>
            <p:custDataLst>
              <p:tags r:id="rId40"/>
            </p:custDataLst>
          </p:nvPr>
        </p:nvSpPr>
        <p:spPr>
          <a:xfrm>
            <a:off x="6537619" y="5616279"/>
            <a:ext cx="1081067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统计分析</a:t>
            </a:r>
          </a:p>
        </p:txBody>
      </p:sp>
      <p:sp>
        <p:nvSpPr>
          <p:cNvPr id="334" name="文本框 333"/>
          <p:cNvSpPr txBox="1"/>
          <p:nvPr>
            <p:custDataLst>
              <p:tags r:id="rId41"/>
            </p:custDataLst>
          </p:nvPr>
        </p:nvSpPr>
        <p:spPr>
          <a:xfrm>
            <a:off x="6537619" y="5151459"/>
            <a:ext cx="1081067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会话管理</a:t>
            </a:r>
          </a:p>
        </p:txBody>
      </p:sp>
      <p:sp>
        <p:nvSpPr>
          <p:cNvPr id="335" name="文本框 334"/>
          <p:cNvSpPr txBox="1"/>
          <p:nvPr>
            <p:custDataLst>
              <p:tags r:id="rId42"/>
            </p:custDataLst>
          </p:nvPr>
        </p:nvSpPr>
        <p:spPr>
          <a:xfrm>
            <a:off x="7781236" y="5151459"/>
            <a:ext cx="1081067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监控管理</a:t>
            </a:r>
          </a:p>
        </p:txBody>
      </p:sp>
      <p:sp>
        <p:nvSpPr>
          <p:cNvPr id="336" name="文本框 152"/>
          <p:cNvSpPr txBox="1"/>
          <p:nvPr>
            <p:custDataLst>
              <p:tags r:id="rId43"/>
            </p:custDataLst>
          </p:nvPr>
        </p:nvSpPr>
        <p:spPr>
          <a:xfrm>
            <a:off x="9418628" y="5588993"/>
            <a:ext cx="1397649" cy="354818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en-US" altLang="zh-CN" sz="1400" kern="1200" noProof="0" dirty="0">
                <a:solidFill>
                  <a:schemeClr val="bg1"/>
                </a:solidFill>
                <a:sym typeface="+mn-ea"/>
              </a:rPr>
              <a:t>......</a:t>
            </a:r>
          </a:p>
        </p:txBody>
      </p:sp>
      <p:sp>
        <p:nvSpPr>
          <p:cNvPr id="337" name="文本框 336"/>
          <p:cNvSpPr txBox="1"/>
          <p:nvPr>
            <p:custDataLst>
              <p:tags r:id="rId44"/>
            </p:custDataLst>
          </p:nvPr>
        </p:nvSpPr>
        <p:spPr>
          <a:xfrm>
            <a:off x="7781236" y="5616279"/>
            <a:ext cx="1081067" cy="36271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en-US" altLang="zh-CN" sz="1400" kern="1200" noProof="0" dirty="0">
                <a:solidFill>
                  <a:schemeClr val="bg1"/>
                </a:solidFill>
                <a:sym typeface="+mn-ea"/>
              </a:rPr>
              <a:t>......</a:t>
            </a:r>
          </a:p>
        </p:txBody>
      </p:sp>
      <p:sp>
        <p:nvSpPr>
          <p:cNvPr id="338" name="文本框 152"/>
          <p:cNvSpPr txBox="1"/>
          <p:nvPr>
            <p:custDataLst>
              <p:tags r:id="rId45"/>
            </p:custDataLst>
          </p:nvPr>
        </p:nvSpPr>
        <p:spPr>
          <a:xfrm>
            <a:off x="5496469" y="3945450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知识问答</a:t>
            </a:r>
          </a:p>
        </p:txBody>
      </p:sp>
      <p:sp>
        <p:nvSpPr>
          <p:cNvPr id="339" name="文本框 152"/>
          <p:cNvSpPr txBox="1"/>
          <p:nvPr>
            <p:custDataLst>
              <p:tags r:id="rId46"/>
            </p:custDataLst>
          </p:nvPr>
        </p:nvSpPr>
        <p:spPr>
          <a:xfrm>
            <a:off x="9589426" y="3076345"/>
            <a:ext cx="1163973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用户管理</a:t>
            </a:r>
          </a:p>
        </p:txBody>
      </p:sp>
      <p:sp>
        <p:nvSpPr>
          <p:cNvPr id="340" name="文本框 152"/>
          <p:cNvSpPr txBox="1"/>
          <p:nvPr>
            <p:custDataLst>
              <p:tags r:id="rId47"/>
            </p:custDataLst>
          </p:nvPr>
        </p:nvSpPr>
        <p:spPr>
          <a:xfrm>
            <a:off x="9589426" y="3513860"/>
            <a:ext cx="1163973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会话记录</a:t>
            </a:r>
          </a:p>
        </p:txBody>
      </p:sp>
      <p:sp>
        <p:nvSpPr>
          <p:cNvPr id="341" name="文本框 152"/>
          <p:cNvSpPr txBox="1"/>
          <p:nvPr>
            <p:custDataLst>
              <p:tags r:id="rId48"/>
            </p:custDataLst>
          </p:nvPr>
        </p:nvSpPr>
        <p:spPr>
          <a:xfrm>
            <a:off x="6992996" y="3083086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机器人管理</a:t>
            </a:r>
          </a:p>
        </p:txBody>
      </p:sp>
      <p:sp>
        <p:nvSpPr>
          <p:cNvPr id="342" name="文本框 152"/>
          <p:cNvSpPr txBox="1"/>
          <p:nvPr>
            <p:custDataLst>
              <p:tags r:id="rId49"/>
            </p:custDataLst>
          </p:nvPr>
        </p:nvSpPr>
        <p:spPr>
          <a:xfrm>
            <a:off x="8102834" y="3083086"/>
            <a:ext cx="1058788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渠道管理</a:t>
            </a:r>
          </a:p>
        </p:txBody>
      </p:sp>
      <p:sp>
        <p:nvSpPr>
          <p:cNvPr id="343" name="文本框 152"/>
          <p:cNvSpPr txBox="1"/>
          <p:nvPr>
            <p:custDataLst>
              <p:tags r:id="rId50"/>
            </p:custDataLst>
          </p:nvPr>
        </p:nvSpPr>
        <p:spPr>
          <a:xfrm>
            <a:off x="6992996" y="3520606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>
                <a:solidFill>
                  <a:schemeClr val="bg1"/>
                </a:solidFill>
                <a:sym typeface="+mn-ea"/>
              </a:rPr>
              <a:t>咨询管理</a:t>
            </a:r>
            <a:endParaRPr lang="zh-CN" altLang="en-US" sz="1400" kern="1200" noProof="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44" name="文本框 152"/>
          <p:cNvSpPr txBox="1"/>
          <p:nvPr>
            <p:custDataLst>
              <p:tags r:id="rId51"/>
            </p:custDataLst>
          </p:nvPr>
        </p:nvSpPr>
        <p:spPr>
          <a:xfrm>
            <a:off x="3066860" y="4372744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数据向量化</a:t>
            </a:r>
          </a:p>
        </p:txBody>
      </p:sp>
      <p:sp>
        <p:nvSpPr>
          <p:cNvPr id="345" name="文本框 152"/>
          <p:cNvSpPr txBox="1"/>
          <p:nvPr>
            <p:custDataLst>
              <p:tags r:id="rId52"/>
            </p:custDataLst>
          </p:nvPr>
        </p:nvSpPr>
        <p:spPr>
          <a:xfrm>
            <a:off x="8102834" y="3520606"/>
            <a:ext cx="1090868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异常问答管理</a:t>
            </a:r>
          </a:p>
        </p:txBody>
      </p:sp>
      <p:sp>
        <p:nvSpPr>
          <p:cNvPr id="346" name="文本框 152"/>
          <p:cNvSpPr txBox="1"/>
          <p:nvPr>
            <p:custDataLst>
              <p:tags r:id="rId53"/>
            </p:custDataLst>
          </p:nvPr>
        </p:nvSpPr>
        <p:spPr>
          <a:xfrm>
            <a:off x="9589426" y="3943755"/>
            <a:ext cx="1163973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反馈评价</a:t>
            </a:r>
          </a:p>
        </p:txBody>
      </p:sp>
      <p:sp>
        <p:nvSpPr>
          <p:cNvPr id="347" name="文本框 152"/>
          <p:cNvSpPr txBox="1"/>
          <p:nvPr>
            <p:custDataLst>
              <p:tags r:id="rId54"/>
            </p:custDataLst>
          </p:nvPr>
        </p:nvSpPr>
        <p:spPr>
          <a:xfrm>
            <a:off x="4442147" y="4388733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>
                <a:sym typeface="+mn-ea"/>
              </a:rPr>
              <a:t>图音识别</a:t>
            </a:r>
          </a:p>
        </p:txBody>
      </p:sp>
      <p:sp>
        <p:nvSpPr>
          <p:cNvPr id="348" name="文本框 152"/>
          <p:cNvSpPr txBox="1"/>
          <p:nvPr>
            <p:custDataLst>
              <p:tags r:id="rId55"/>
            </p:custDataLst>
          </p:nvPr>
        </p:nvSpPr>
        <p:spPr>
          <a:xfrm>
            <a:off x="5497739" y="4377885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多模态转换</a:t>
            </a:r>
          </a:p>
        </p:txBody>
      </p:sp>
      <p:sp>
        <p:nvSpPr>
          <p:cNvPr id="349" name="文本框 152"/>
          <p:cNvSpPr txBox="1"/>
          <p:nvPr>
            <p:custDataLst>
              <p:tags r:id="rId56"/>
            </p:custDataLst>
          </p:nvPr>
        </p:nvSpPr>
        <p:spPr>
          <a:xfrm>
            <a:off x="5495199" y="3515555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>
                <a:sym typeface="+mn-ea"/>
              </a:rPr>
              <a:t>向量查询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</p:txBody>
      </p:sp>
      <p:sp>
        <p:nvSpPr>
          <p:cNvPr id="350" name="文本框 152"/>
          <p:cNvSpPr txBox="1"/>
          <p:nvPr>
            <p:custDataLst>
              <p:tags r:id="rId57"/>
            </p:custDataLst>
          </p:nvPr>
        </p:nvSpPr>
        <p:spPr>
          <a:xfrm>
            <a:off x="4442147" y="3526403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>
                <a:sym typeface="+mn-ea"/>
              </a:rPr>
              <a:t>意图识别</a:t>
            </a:r>
          </a:p>
        </p:txBody>
      </p:sp>
      <p:sp>
        <p:nvSpPr>
          <p:cNvPr id="351" name="文本框 350"/>
          <p:cNvSpPr txBox="1"/>
          <p:nvPr>
            <p:custDataLst>
              <p:tags r:id="rId58"/>
            </p:custDataLst>
          </p:nvPr>
        </p:nvSpPr>
        <p:spPr>
          <a:xfrm>
            <a:off x="8102834" y="3950501"/>
            <a:ext cx="1058788" cy="386830"/>
          </a:xfrm>
          <a:prstGeom prst="roundRect">
            <a:avLst>
              <a:gd name="adj" fmla="val 0"/>
            </a:avLst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Prompt配置</a:t>
            </a:r>
          </a:p>
        </p:txBody>
      </p:sp>
      <p:sp>
        <p:nvSpPr>
          <p:cNvPr id="352" name="文本框 152"/>
          <p:cNvSpPr txBox="1"/>
          <p:nvPr>
            <p:custDataLst>
              <p:tags r:id="rId59"/>
            </p:custDataLst>
          </p:nvPr>
        </p:nvSpPr>
        <p:spPr>
          <a:xfrm>
            <a:off x="4442147" y="3956298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>
                <a:sym typeface="+mn-ea"/>
              </a:rPr>
              <a:t>内容生成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</p:txBody>
      </p:sp>
      <p:sp>
        <p:nvSpPr>
          <p:cNvPr id="353" name="文本框 152"/>
          <p:cNvSpPr txBox="1"/>
          <p:nvPr>
            <p:custDataLst>
              <p:tags r:id="rId60"/>
            </p:custDataLst>
          </p:nvPr>
        </p:nvSpPr>
        <p:spPr>
          <a:xfrm>
            <a:off x="6992996" y="3950501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>
                <a:solidFill>
                  <a:schemeClr val="bg1"/>
                </a:solidFill>
                <a:sym typeface="+mn-ea"/>
              </a:rPr>
              <a:t>关键词提取</a:t>
            </a:r>
          </a:p>
        </p:txBody>
      </p:sp>
      <p:sp>
        <p:nvSpPr>
          <p:cNvPr id="354" name="文本框 152"/>
          <p:cNvSpPr txBox="1"/>
          <p:nvPr>
            <p:custDataLst>
              <p:tags r:id="rId61"/>
            </p:custDataLst>
          </p:nvPr>
        </p:nvSpPr>
        <p:spPr>
          <a:xfrm>
            <a:off x="4442147" y="3088883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语义理解</a:t>
            </a:r>
          </a:p>
        </p:txBody>
      </p:sp>
      <p:sp>
        <p:nvSpPr>
          <p:cNvPr id="355" name="文本框 152"/>
          <p:cNvSpPr txBox="1"/>
          <p:nvPr>
            <p:custDataLst>
              <p:tags r:id="rId62"/>
            </p:custDataLst>
          </p:nvPr>
        </p:nvSpPr>
        <p:spPr>
          <a:xfrm>
            <a:off x="5493929" y="3078035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语义分析</a:t>
            </a:r>
          </a:p>
        </p:txBody>
      </p:sp>
      <p:sp>
        <p:nvSpPr>
          <p:cNvPr id="356" name="文本框 152"/>
          <p:cNvSpPr txBox="1"/>
          <p:nvPr>
            <p:custDataLst>
              <p:tags r:id="rId63"/>
            </p:custDataLst>
          </p:nvPr>
        </p:nvSpPr>
        <p:spPr>
          <a:xfrm>
            <a:off x="6992996" y="4382936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系统管理</a:t>
            </a:r>
          </a:p>
        </p:txBody>
      </p:sp>
      <p:sp>
        <p:nvSpPr>
          <p:cNvPr id="357" name="文本框 152"/>
          <p:cNvSpPr txBox="1"/>
          <p:nvPr>
            <p:custDataLst>
              <p:tags r:id="rId64"/>
            </p:custDataLst>
          </p:nvPr>
        </p:nvSpPr>
        <p:spPr>
          <a:xfrm>
            <a:off x="8102834" y="4382936"/>
            <a:ext cx="1058788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词库管理</a:t>
            </a:r>
          </a:p>
        </p:txBody>
      </p:sp>
      <p:sp>
        <p:nvSpPr>
          <p:cNvPr id="358" name="文本框 152"/>
          <p:cNvSpPr txBox="1"/>
          <p:nvPr>
            <p:custDataLst>
              <p:tags r:id="rId65"/>
            </p:custDataLst>
          </p:nvPr>
        </p:nvSpPr>
        <p:spPr>
          <a:xfrm>
            <a:off x="3066860" y="3510414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知识标注</a:t>
            </a:r>
          </a:p>
        </p:txBody>
      </p:sp>
      <p:sp>
        <p:nvSpPr>
          <p:cNvPr id="359" name="文本框 152"/>
          <p:cNvSpPr txBox="1"/>
          <p:nvPr>
            <p:custDataLst>
              <p:tags r:id="rId66"/>
            </p:custDataLst>
          </p:nvPr>
        </p:nvSpPr>
        <p:spPr>
          <a:xfrm>
            <a:off x="2008647" y="3082672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知识管理</a:t>
            </a:r>
          </a:p>
        </p:txBody>
      </p:sp>
      <p:sp>
        <p:nvSpPr>
          <p:cNvPr id="360" name="文本框 152"/>
          <p:cNvSpPr txBox="1"/>
          <p:nvPr>
            <p:custDataLst>
              <p:tags r:id="rId67"/>
            </p:custDataLst>
          </p:nvPr>
        </p:nvSpPr>
        <p:spPr>
          <a:xfrm>
            <a:off x="1997217" y="4382522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知识调优</a:t>
            </a:r>
          </a:p>
        </p:txBody>
      </p:sp>
      <p:sp>
        <p:nvSpPr>
          <p:cNvPr id="361" name="文本框 152"/>
          <p:cNvSpPr txBox="1"/>
          <p:nvPr>
            <p:custDataLst>
              <p:tags r:id="rId68"/>
            </p:custDataLst>
          </p:nvPr>
        </p:nvSpPr>
        <p:spPr>
          <a:xfrm>
            <a:off x="2008647" y="3520192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知识新增</a:t>
            </a:r>
          </a:p>
        </p:txBody>
      </p:sp>
      <p:sp>
        <p:nvSpPr>
          <p:cNvPr id="362" name="文本框 152"/>
          <p:cNvSpPr txBox="1"/>
          <p:nvPr>
            <p:custDataLst>
              <p:tags r:id="rId69"/>
            </p:custDataLst>
          </p:nvPr>
        </p:nvSpPr>
        <p:spPr>
          <a:xfrm>
            <a:off x="2004837" y="3950087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知识搜索</a:t>
            </a:r>
          </a:p>
        </p:txBody>
      </p:sp>
      <p:sp>
        <p:nvSpPr>
          <p:cNvPr id="363" name="文本框 152"/>
          <p:cNvSpPr txBox="1"/>
          <p:nvPr>
            <p:custDataLst>
              <p:tags r:id="rId70"/>
            </p:custDataLst>
          </p:nvPr>
        </p:nvSpPr>
        <p:spPr>
          <a:xfrm>
            <a:off x="3066860" y="3940309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知识缓存</a:t>
            </a:r>
          </a:p>
        </p:txBody>
      </p:sp>
      <p:sp>
        <p:nvSpPr>
          <p:cNvPr id="364" name="文本框 152"/>
          <p:cNvSpPr txBox="1"/>
          <p:nvPr>
            <p:custDataLst>
              <p:tags r:id="rId71"/>
            </p:custDataLst>
          </p:nvPr>
        </p:nvSpPr>
        <p:spPr>
          <a:xfrm>
            <a:off x="3066860" y="3072894"/>
            <a:ext cx="985106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89262" tIns="44632" rIns="89262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zh-CN" altLang="en-US" sz="1400" kern="1200" noProof="0" dirty="0">
                <a:solidFill>
                  <a:schemeClr val="bg1"/>
                </a:solidFill>
                <a:sym typeface="+mn-ea"/>
              </a:rPr>
              <a:t>知识更新</a:t>
            </a:r>
          </a:p>
        </p:txBody>
      </p:sp>
      <p:sp>
        <p:nvSpPr>
          <p:cNvPr id="365" name="文本框 152"/>
          <p:cNvSpPr txBox="1"/>
          <p:nvPr>
            <p:custDataLst>
              <p:tags r:id="rId72"/>
            </p:custDataLst>
          </p:nvPr>
        </p:nvSpPr>
        <p:spPr>
          <a:xfrm>
            <a:off x="9589426" y="4376190"/>
            <a:ext cx="1163973" cy="386830"/>
          </a:xfrm>
          <a:prstGeom prst="rect">
            <a:avLst/>
          </a:prstGeom>
          <a:solidFill>
            <a:srgbClr val="006DE8"/>
          </a:solidFill>
          <a:ln>
            <a:noFill/>
          </a:ln>
        </p:spPr>
        <p:txBody>
          <a:bodyPr wrap="square" lIns="0" tIns="44632" rIns="0" bIns="44632" rtlCol="0" anchor="ctr" anchorCtr="1">
            <a:noAutofit/>
          </a:bodyPr>
          <a:lstStyle>
            <a:defPPr>
              <a:defRPr lang="zh-CN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en-US" altLang="zh-CN" sz="1400" kern="1200" noProof="0" dirty="0">
                <a:solidFill>
                  <a:schemeClr val="bg1"/>
                </a:solidFill>
                <a:sym typeface="+mn-ea"/>
              </a:rPr>
              <a:t>......</a:t>
            </a:r>
          </a:p>
        </p:txBody>
      </p:sp>
      <p:sp>
        <p:nvSpPr>
          <p:cNvPr id="366" name="矩形 365"/>
          <p:cNvSpPr/>
          <p:nvPr>
            <p:custDataLst>
              <p:tags r:id="rId73"/>
            </p:custDataLst>
          </p:nvPr>
        </p:nvSpPr>
        <p:spPr>
          <a:xfrm>
            <a:off x="7066597" y="1075982"/>
            <a:ext cx="4090352" cy="546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7" name="TextBox 2"/>
          <p:cNvSpPr txBox="1"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6149147" y="1237237"/>
            <a:ext cx="929005" cy="306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 eaLnBrk="0" hangingPunct="0">
              <a:defRPr/>
            </a:pPr>
            <a:r>
              <a:rPr lang="zh-CN" altLang="en-US" sz="1400" dirty="0">
                <a:solidFill>
                  <a:schemeClr val="bg1"/>
                </a:solidFill>
              </a:rPr>
              <a:t>自然人</a:t>
            </a:r>
          </a:p>
        </p:txBody>
      </p:sp>
      <p:pic>
        <p:nvPicPr>
          <p:cNvPr id="368" name="图片 367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8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58" y="1147309"/>
            <a:ext cx="424180" cy="424180"/>
          </a:xfrm>
          <a:prstGeom prst="rect">
            <a:avLst/>
          </a:prstGeom>
        </p:spPr>
      </p:pic>
      <p:pic>
        <p:nvPicPr>
          <p:cNvPr id="369" name="图片 368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8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604" y="1153311"/>
            <a:ext cx="455930" cy="455930"/>
          </a:xfrm>
          <a:prstGeom prst="rect">
            <a:avLst/>
          </a:prstGeom>
        </p:spPr>
      </p:pic>
      <p:sp>
        <p:nvSpPr>
          <p:cNvPr id="370" name="TextBox 2"/>
          <p:cNvSpPr txBox="1"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2737645" y="1216645"/>
            <a:ext cx="1615365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l" eaLnBrk="0" hangingPunct="0">
              <a:defRPr/>
            </a:pPr>
            <a:r>
              <a:rPr lang="zh-CN" altLang="en-US" sz="1400" dirty="0">
                <a:solidFill>
                  <a:schemeClr val="bg1"/>
                </a:solidFill>
              </a:rPr>
              <a:t>社会中介组织中介</a:t>
            </a:r>
          </a:p>
        </p:txBody>
      </p:sp>
      <p:sp>
        <p:nvSpPr>
          <p:cNvPr id="371" name="TextBox 2"/>
          <p:cNvSpPr txBox="1"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4967354" y="1224668"/>
            <a:ext cx="1118870" cy="306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 eaLnBrk="0" hangingPunct="0">
              <a:defRPr/>
            </a:pPr>
            <a:r>
              <a:rPr lang="zh-CN" altLang="en-US" sz="1400" dirty="0">
                <a:solidFill>
                  <a:schemeClr val="bg1"/>
                </a:solidFill>
              </a:rPr>
              <a:t>企业</a:t>
            </a:r>
          </a:p>
        </p:txBody>
      </p:sp>
      <p:pic>
        <p:nvPicPr>
          <p:cNvPr id="373" name="图片 372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8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678" y="1219134"/>
            <a:ext cx="342265" cy="34544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102834" y="1130768"/>
            <a:ext cx="1769744" cy="424815"/>
            <a:chOff x="7303135" y="1158231"/>
            <a:chExt cx="1769744" cy="424815"/>
          </a:xfrm>
        </p:grpSpPr>
        <p:sp>
          <p:nvSpPr>
            <p:cNvPr id="372" name="TextBox 2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7715884" y="1226099"/>
              <a:ext cx="135699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l" eaLnBrk="0" hangingPunct="0">
                <a:defRPr/>
              </a:pPr>
              <a:r>
                <a:rPr lang="zh-CN" altLang="en-US" sz="1400" dirty="0">
                  <a:solidFill>
                    <a:schemeClr val="bg1"/>
                  </a:solidFill>
                </a:rPr>
                <a:t>政务工作人员</a:t>
              </a:r>
            </a:p>
          </p:txBody>
        </p:sp>
        <p:pic>
          <p:nvPicPr>
            <p:cNvPr id="375" name="图片 374"/>
            <p:cNvPicPr>
              <a:picLocks noChangeAspect="1"/>
            </p:cNvPicPr>
            <p:nvPr>
              <p:custDataLst>
                <p:tags r:id="rId84"/>
              </p:custDataLst>
            </p:nvPr>
          </p:nvPicPr>
          <p:blipFill>
            <a:blip r:embed="rId90"/>
            <a:srcRect l="8703" t="8785" r="9289" b="6921"/>
            <a:stretch>
              <a:fillRect/>
            </a:stretch>
          </p:blipFill>
          <p:spPr>
            <a:xfrm>
              <a:off x="7303135" y="1158231"/>
              <a:ext cx="412750" cy="424815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5638995" y="1719989"/>
            <a:ext cx="1777172" cy="401752"/>
            <a:chOff x="2188942" y="1722639"/>
            <a:chExt cx="1777172" cy="401752"/>
          </a:xfrm>
        </p:grpSpPr>
        <p:sp>
          <p:nvSpPr>
            <p:cNvPr id="296" name="文本框 295"/>
            <p:cNvSpPr txBox="1"/>
            <p:nvPr>
              <p:custDataLst>
                <p:tags r:id="rId81"/>
              </p:custDataLst>
            </p:nvPr>
          </p:nvSpPr>
          <p:spPr>
            <a:xfrm>
              <a:off x="2188942" y="1722639"/>
              <a:ext cx="1777172" cy="401752"/>
            </a:xfrm>
            <a:prstGeom prst="roundRect">
              <a:avLst>
                <a:gd name="adj" fmla="val 0"/>
              </a:avLst>
            </a:prstGeom>
            <a:solidFill>
              <a:srgbClr val="3CBEB4"/>
            </a:solidFill>
            <a:ln w="25400" cap="flat" cmpd="sng" algn="ctr">
              <a:noFill/>
              <a:prstDash val="solid"/>
            </a:ln>
            <a:effectLst/>
          </p:spPr>
          <p:txBody>
            <a:bodyPr lIns="71755" tIns="60945" rIns="71755" bIns="60945" rtlCol="0" anchor="ctr">
              <a:noAutofit/>
            </a:bodyPr>
            <a:lstStyle>
              <a:defPPr>
                <a:defRPr lang="zh-CN"/>
              </a:defPPr>
              <a:lvl1pPr algn="ctr">
                <a:defRPr sz="130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 algn="ctr" defTabSz="1664335">
                <a:buClrTx/>
                <a:buSzTx/>
                <a:buFontTx/>
                <a:defRPr/>
              </a:pPr>
              <a:r>
                <a:rPr lang="zh-CN" altLang="en-US" sz="1400" kern="0" dirty="0">
                  <a:solidFill>
                    <a:sysClr val="window" lastClr="FFFFFF"/>
                  </a:solidFill>
                  <a:sym typeface="+mn-ea"/>
                </a:rPr>
                <a:t>Web端</a:t>
              </a:r>
            </a:p>
          </p:txBody>
        </p:sp>
        <p:pic>
          <p:nvPicPr>
            <p:cNvPr id="379" name="图片 189" descr="templates\docerresourceshop\icons\\32313537333437313b32313537333436363bb5e7c4d4"/>
            <p:cNvPicPr>
              <a:picLocks noChangeAspect="1"/>
            </p:cNvPicPr>
            <p:nvPr>
              <p:custDataLst>
                <p:tags r:id="rId82"/>
              </p:custDataLst>
            </p:nvPr>
          </p:nvPicPr>
          <p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/>
            </a:stretch>
          </p:blipFill>
          <p:spPr>
            <a:xfrm>
              <a:off x="2492778" y="1797263"/>
              <a:ext cx="241532" cy="241532"/>
            </a:xfrm>
            <a:prstGeom prst="rect">
              <a:avLst/>
            </a:prstGeom>
            <a:gradFill flip="none" rotWithShape="1">
              <a:gsLst>
                <a:gs pos="57000">
                  <a:srgbClr val="0162F9">
                    <a:alpha val="100000"/>
                  </a:srgbClr>
                </a:gs>
                <a:gs pos="6000">
                  <a:srgbClr val="00B6F7"/>
                </a:gs>
                <a:gs pos="91000">
                  <a:srgbClr val="010EFA"/>
                </a:gs>
              </a:gsLst>
              <a:lin ang="0" scaled="1"/>
              <a:tileRect/>
            </a:gradFill>
            <a:effectLst>
              <a:outerShdw blurRad="406400" dist="50800" dir="2700000" algn="tl" rotWithShape="0">
                <a:srgbClr val="00B6F7">
                  <a:alpha val="40000"/>
                </a:srgbClr>
              </a:outerShdw>
            </a:effectLst>
          </p:spPr>
        </p:pic>
      </p:grpSp>
      <p:sp>
        <p:nvSpPr>
          <p:cNvPr id="14" name="文本框 13"/>
          <p:cNvSpPr txBox="1"/>
          <p:nvPr>
            <p:custDataLst>
              <p:tags r:id="rId80"/>
            </p:custDataLst>
          </p:nvPr>
        </p:nvSpPr>
        <p:spPr bwMode="auto">
          <a:xfrm>
            <a:off x="3244418" y="6186009"/>
            <a:ext cx="1071691" cy="430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numCol="1" spcCol="0" rtlCol="0" fromWordArt="0" anchor="ctr" anchorCtr="1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sym typeface="+mn-ea"/>
              </a:rPr>
              <a:t>Qwen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522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02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58229"/>
            <a:ext cx="5294403" cy="5884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技术架构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矩形: 圆角 8"/>
          <p:cNvSpPr/>
          <p:nvPr/>
        </p:nvSpPr>
        <p:spPr>
          <a:xfrm>
            <a:off x="497840" y="1017843"/>
            <a:ext cx="10744200" cy="417007"/>
          </a:xfrm>
          <a:prstGeom prst="roundRect">
            <a:avLst>
              <a:gd name="adj" fmla="val 242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访问渠道</a:t>
            </a:r>
            <a:endParaRPr lang="en-US" altLang="zh-CN" sz="1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8"/>
          <p:cNvSpPr/>
          <p:nvPr/>
        </p:nvSpPr>
        <p:spPr>
          <a:xfrm>
            <a:off x="478115" y="2067881"/>
            <a:ext cx="10763926" cy="3046542"/>
          </a:xfrm>
          <a:prstGeom prst="roundRect">
            <a:avLst>
              <a:gd name="adj" fmla="val 109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政务</a:t>
            </a:r>
            <a:r>
              <a:rPr lang="en-US" altLang="zh-CN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</a:p>
        </p:txBody>
      </p:sp>
      <p:sp>
        <p:nvSpPr>
          <p:cNvPr id="7" name="圆角矩形 64"/>
          <p:cNvSpPr/>
          <p:nvPr/>
        </p:nvSpPr>
        <p:spPr>
          <a:xfrm>
            <a:off x="497840" y="2669156"/>
            <a:ext cx="8329046" cy="474504"/>
          </a:xfrm>
          <a:prstGeom prst="roundRect">
            <a:avLst>
              <a:gd name="adj" fmla="val 4973"/>
            </a:avLst>
          </a:prstGeom>
          <a:solidFill>
            <a:srgbClr val="B5B5B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智能中控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65"/>
          <p:cNvSpPr/>
          <p:nvPr/>
        </p:nvSpPr>
        <p:spPr>
          <a:xfrm>
            <a:off x="8978438" y="2672316"/>
            <a:ext cx="1402119" cy="468184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结果生成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（大模型）</a:t>
            </a:r>
          </a:p>
        </p:txBody>
      </p:sp>
      <p:sp>
        <p:nvSpPr>
          <p:cNvPr id="9" name="圆角矩形 66"/>
          <p:cNvSpPr/>
          <p:nvPr/>
        </p:nvSpPr>
        <p:spPr>
          <a:xfrm>
            <a:off x="6405392" y="2308465"/>
            <a:ext cx="4659071" cy="273016"/>
          </a:xfrm>
          <a:prstGeom prst="roundRect">
            <a:avLst>
              <a:gd name="adj" fmla="val 6463"/>
            </a:avLst>
          </a:prstGeom>
          <a:solidFill>
            <a:srgbClr val="B5B5B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多模态输出</a:t>
            </a:r>
            <a:endParaRPr lang="zh-CN" altLang="en-US" sz="1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67"/>
          <p:cNvSpPr/>
          <p:nvPr/>
        </p:nvSpPr>
        <p:spPr>
          <a:xfrm>
            <a:off x="1956331" y="2887672"/>
            <a:ext cx="1225015" cy="180789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意图识别</a:t>
            </a:r>
          </a:p>
        </p:txBody>
      </p:sp>
      <p:sp>
        <p:nvSpPr>
          <p:cNvPr id="11" name="圆角矩形 68"/>
          <p:cNvSpPr/>
          <p:nvPr/>
        </p:nvSpPr>
        <p:spPr>
          <a:xfrm>
            <a:off x="6147139" y="2887672"/>
            <a:ext cx="1225015" cy="180789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实体识别</a:t>
            </a:r>
          </a:p>
        </p:txBody>
      </p:sp>
      <p:sp>
        <p:nvSpPr>
          <p:cNvPr id="12" name="圆角矩形 69"/>
          <p:cNvSpPr/>
          <p:nvPr/>
        </p:nvSpPr>
        <p:spPr>
          <a:xfrm>
            <a:off x="559395" y="2887672"/>
            <a:ext cx="1225015" cy="180789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规则引擎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70"/>
          <p:cNvSpPr/>
          <p:nvPr/>
        </p:nvSpPr>
        <p:spPr>
          <a:xfrm>
            <a:off x="4750203" y="2887672"/>
            <a:ext cx="1225015" cy="180789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圆角矩形 71"/>
          <p:cNvSpPr/>
          <p:nvPr/>
        </p:nvSpPr>
        <p:spPr>
          <a:xfrm>
            <a:off x="7544074" y="2887672"/>
            <a:ext cx="1225015" cy="180789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业务分类</a:t>
            </a:r>
          </a:p>
        </p:txBody>
      </p:sp>
      <p:sp>
        <p:nvSpPr>
          <p:cNvPr id="15" name="圆角矩形 72"/>
          <p:cNvSpPr/>
          <p:nvPr/>
        </p:nvSpPr>
        <p:spPr>
          <a:xfrm>
            <a:off x="3353267" y="2887672"/>
            <a:ext cx="1225015" cy="180789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长短记忆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02480" y="2100948"/>
            <a:ext cx="5574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用户输入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203707" y="3184897"/>
            <a:ext cx="51061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意图分发</a:t>
            </a:r>
          </a:p>
        </p:txBody>
      </p:sp>
      <p:cxnSp>
        <p:nvCxnSpPr>
          <p:cNvPr id="18" name="直接箭头连接符 17"/>
          <p:cNvCxnSpPr>
            <a:stCxn id="9" idx="0"/>
          </p:cNvCxnSpPr>
          <p:nvPr/>
        </p:nvCxnSpPr>
        <p:spPr>
          <a:xfrm flipH="1" flipV="1">
            <a:off x="8734927" y="2069658"/>
            <a:ext cx="1" cy="238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8841712" y="2083752"/>
            <a:ext cx="66230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结果输出</a:t>
            </a:r>
          </a:p>
        </p:txBody>
      </p:sp>
      <p:sp>
        <p:nvSpPr>
          <p:cNvPr id="21" name="圆角矩形 82"/>
          <p:cNvSpPr/>
          <p:nvPr/>
        </p:nvSpPr>
        <p:spPr>
          <a:xfrm>
            <a:off x="497840" y="2318078"/>
            <a:ext cx="5477378" cy="262110"/>
          </a:xfrm>
          <a:prstGeom prst="roundRect">
            <a:avLst>
              <a:gd name="adj" fmla="val 4973"/>
            </a:avLst>
          </a:prstGeom>
          <a:solidFill>
            <a:srgbClr val="B5B5B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输入优化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038921" y="2482652"/>
            <a:ext cx="0" cy="335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87"/>
          <p:cNvSpPr/>
          <p:nvPr/>
        </p:nvSpPr>
        <p:spPr>
          <a:xfrm>
            <a:off x="1266245" y="2369565"/>
            <a:ext cx="688657" cy="178636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query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改写</a:t>
            </a:r>
          </a:p>
        </p:txBody>
      </p:sp>
      <p:sp>
        <p:nvSpPr>
          <p:cNvPr id="27" name="圆角矩形 40"/>
          <p:cNvSpPr/>
          <p:nvPr/>
        </p:nvSpPr>
        <p:spPr>
          <a:xfrm>
            <a:off x="416935" y="5177798"/>
            <a:ext cx="10825105" cy="414020"/>
          </a:xfrm>
          <a:prstGeom prst="roundRect">
            <a:avLst>
              <a:gd name="adj" fmla="val 2296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tIns="36000" rtlCol="0" anchor="t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应用开发套件</a:t>
            </a:r>
          </a:p>
        </p:txBody>
      </p:sp>
      <p:sp>
        <p:nvSpPr>
          <p:cNvPr id="28" name="圆角矩形 82"/>
          <p:cNvSpPr/>
          <p:nvPr/>
        </p:nvSpPr>
        <p:spPr>
          <a:xfrm>
            <a:off x="5994691" y="5361684"/>
            <a:ext cx="930474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Planning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圆角矩形 82"/>
          <p:cNvSpPr/>
          <p:nvPr/>
        </p:nvSpPr>
        <p:spPr>
          <a:xfrm>
            <a:off x="7022054" y="5361684"/>
            <a:ext cx="930474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Chains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圆角矩形 82"/>
          <p:cNvSpPr/>
          <p:nvPr/>
        </p:nvSpPr>
        <p:spPr>
          <a:xfrm>
            <a:off x="8060396" y="5368246"/>
            <a:ext cx="930474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Models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圆角矩形 82"/>
          <p:cNvSpPr/>
          <p:nvPr/>
        </p:nvSpPr>
        <p:spPr>
          <a:xfrm>
            <a:off x="9087759" y="5361683"/>
            <a:ext cx="930474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Memory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圆角矩形 82"/>
          <p:cNvSpPr/>
          <p:nvPr/>
        </p:nvSpPr>
        <p:spPr>
          <a:xfrm>
            <a:off x="10126101" y="5368245"/>
            <a:ext cx="930474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Tools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圆角矩形 169"/>
          <p:cNvSpPr/>
          <p:nvPr/>
        </p:nvSpPr>
        <p:spPr>
          <a:xfrm>
            <a:off x="4488910" y="2368499"/>
            <a:ext cx="595007" cy="18381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视觉识别</a:t>
            </a:r>
          </a:p>
        </p:txBody>
      </p:sp>
      <p:sp>
        <p:nvSpPr>
          <p:cNvPr id="34" name="圆角矩形 106"/>
          <p:cNvSpPr/>
          <p:nvPr/>
        </p:nvSpPr>
        <p:spPr>
          <a:xfrm>
            <a:off x="4393523" y="1149774"/>
            <a:ext cx="756364" cy="230880"/>
          </a:xfrm>
          <a:prstGeom prst="roundRect">
            <a:avLst>
              <a:gd name="adj" fmla="val 6463"/>
            </a:avLst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Web</a:t>
            </a:r>
            <a:endParaRPr lang="zh-CN" altLang="en-US" sz="8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120"/>
          <p:cNvSpPr/>
          <p:nvPr/>
        </p:nvSpPr>
        <p:spPr>
          <a:xfrm>
            <a:off x="497840" y="3840855"/>
            <a:ext cx="9882717" cy="1260697"/>
          </a:xfrm>
          <a:prstGeom prst="roundRect">
            <a:avLst>
              <a:gd name="adj" fmla="val 4973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资产接入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圆角矩形 123"/>
          <p:cNvSpPr/>
          <p:nvPr/>
        </p:nvSpPr>
        <p:spPr>
          <a:xfrm>
            <a:off x="6418030" y="4084628"/>
            <a:ext cx="3908758" cy="942600"/>
          </a:xfrm>
          <a:prstGeom prst="roundRect">
            <a:avLst>
              <a:gd name="adj" fmla="val 6463"/>
            </a:avLst>
          </a:prstGeom>
          <a:solidFill>
            <a:srgbClr val="B5B5B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工具库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098113" y="3886531"/>
            <a:ext cx="6613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模型调用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413117" y="3882155"/>
            <a:ext cx="569517" cy="126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工具调用</a:t>
            </a:r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2073566" y="4078175"/>
            <a:ext cx="0" cy="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459014" y="3916276"/>
            <a:ext cx="77879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知识库检索</a:t>
            </a:r>
          </a:p>
        </p:txBody>
      </p:sp>
      <p:sp>
        <p:nvSpPr>
          <p:cNvPr id="45" name="圆角矩形 141"/>
          <p:cNvSpPr/>
          <p:nvPr/>
        </p:nvSpPr>
        <p:spPr>
          <a:xfrm>
            <a:off x="497840" y="3309524"/>
            <a:ext cx="9882717" cy="414020"/>
          </a:xfrm>
          <a:prstGeom prst="roundRect">
            <a:avLst>
              <a:gd name="adj" fmla="val 4973"/>
            </a:avLst>
          </a:prstGeom>
          <a:solidFill>
            <a:srgbClr val="B5B5B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任务执行</a:t>
            </a:r>
          </a:p>
        </p:txBody>
      </p:sp>
      <p:sp>
        <p:nvSpPr>
          <p:cNvPr id="46" name="圆角矩形 142"/>
          <p:cNvSpPr/>
          <p:nvPr/>
        </p:nvSpPr>
        <p:spPr>
          <a:xfrm>
            <a:off x="2357922" y="3422776"/>
            <a:ext cx="1085379" cy="24023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搜索增强助手</a:t>
            </a:r>
          </a:p>
        </p:txBody>
      </p:sp>
      <p:sp>
        <p:nvSpPr>
          <p:cNvPr id="47" name="圆角矩形 143"/>
          <p:cNvSpPr/>
          <p:nvPr/>
        </p:nvSpPr>
        <p:spPr>
          <a:xfrm>
            <a:off x="3989252" y="3421844"/>
            <a:ext cx="1085379" cy="24023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>
              <a:defRPr/>
            </a:pPr>
            <a:r>
              <a:rPr lang="zh-CN" altLang="en-US" sz="9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报表助手</a:t>
            </a:r>
          </a:p>
        </p:txBody>
      </p:sp>
      <p:sp>
        <p:nvSpPr>
          <p:cNvPr id="48" name="圆角矩形 144"/>
          <p:cNvSpPr/>
          <p:nvPr/>
        </p:nvSpPr>
        <p:spPr>
          <a:xfrm>
            <a:off x="559395" y="3413172"/>
            <a:ext cx="1085379" cy="24023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智能问答助手</a:t>
            </a:r>
          </a:p>
        </p:txBody>
      </p:sp>
      <p:sp>
        <p:nvSpPr>
          <p:cNvPr id="49" name="圆角矩形 145"/>
          <p:cNvSpPr/>
          <p:nvPr/>
        </p:nvSpPr>
        <p:spPr>
          <a:xfrm>
            <a:off x="8952658" y="3407259"/>
            <a:ext cx="1085379" cy="24023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助手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5640007" y="5389693"/>
            <a:ext cx="3435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SDK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47000" y="5361684"/>
            <a:ext cx="4204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提示词</a:t>
            </a:r>
          </a:p>
        </p:txBody>
      </p:sp>
      <p:sp>
        <p:nvSpPr>
          <p:cNvPr id="52" name="圆角矩形 82"/>
          <p:cNvSpPr/>
          <p:nvPr/>
        </p:nvSpPr>
        <p:spPr>
          <a:xfrm>
            <a:off x="889614" y="5348814"/>
            <a:ext cx="792000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提示词管理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圆角矩形 82"/>
          <p:cNvSpPr/>
          <p:nvPr/>
        </p:nvSpPr>
        <p:spPr>
          <a:xfrm>
            <a:off x="2742621" y="5361684"/>
            <a:ext cx="792000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提示词调优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圆角矩形 150"/>
          <p:cNvSpPr/>
          <p:nvPr/>
        </p:nvSpPr>
        <p:spPr>
          <a:xfrm>
            <a:off x="7321372" y="2368782"/>
            <a:ext cx="560006" cy="174835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</a:t>
            </a:r>
          </a:p>
        </p:txBody>
      </p:sp>
      <p:sp>
        <p:nvSpPr>
          <p:cNvPr id="55" name="圆角矩形 151"/>
          <p:cNvSpPr/>
          <p:nvPr/>
        </p:nvSpPr>
        <p:spPr>
          <a:xfrm>
            <a:off x="7945920" y="2368782"/>
            <a:ext cx="560006" cy="174835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富文本</a:t>
            </a:r>
          </a:p>
        </p:txBody>
      </p:sp>
      <p:sp>
        <p:nvSpPr>
          <p:cNvPr id="56" name="圆角矩形 152"/>
          <p:cNvSpPr/>
          <p:nvPr/>
        </p:nvSpPr>
        <p:spPr>
          <a:xfrm>
            <a:off x="8570468" y="2368782"/>
            <a:ext cx="560006" cy="174835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语音</a:t>
            </a:r>
          </a:p>
        </p:txBody>
      </p:sp>
      <p:sp>
        <p:nvSpPr>
          <p:cNvPr id="57" name="圆角矩形 153"/>
          <p:cNvSpPr/>
          <p:nvPr/>
        </p:nvSpPr>
        <p:spPr>
          <a:xfrm>
            <a:off x="9195016" y="2368782"/>
            <a:ext cx="560006" cy="174835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图像</a:t>
            </a:r>
          </a:p>
        </p:txBody>
      </p:sp>
      <p:sp>
        <p:nvSpPr>
          <p:cNvPr id="58" name="圆角矩形 154"/>
          <p:cNvSpPr/>
          <p:nvPr/>
        </p:nvSpPr>
        <p:spPr>
          <a:xfrm>
            <a:off x="10613510" y="2669155"/>
            <a:ext cx="411251" cy="2358855"/>
          </a:xfrm>
          <a:prstGeom prst="roundRect">
            <a:avLst>
              <a:gd name="adj" fmla="val 4973"/>
            </a:avLst>
          </a:prstGeom>
          <a:solidFill>
            <a:srgbClr val="B5B5B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安全审核</a:t>
            </a:r>
          </a:p>
        </p:txBody>
      </p:sp>
      <p:sp>
        <p:nvSpPr>
          <p:cNvPr id="63" name="矩形: 圆角 8"/>
          <p:cNvSpPr/>
          <p:nvPr/>
        </p:nvSpPr>
        <p:spPr>
          <a:xfrm>
            <a:off x="497840" y="1476213"/>
            <a:ext cx="10744200" cy="523240"/>
          </a:xfrm>
          <a:prstGeom prst="roundRect">
            <a:avLst>
              <a:gd name="adj" fmla="val 242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政务智能服务应用</a:t>
            </a:r>
            <a:endParaRPr lang="en-US" altLang="zh-CN" sz="1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圆角矩形 106"/>
          <p:cNvSpPr/>
          <p:nvPr/>
        </p:nvSpPr>
        <p:spPr>
          <a:xfrm>
            <a:off x="603541" y="1700436"/>
            <a:ext cx="816635" cy="2308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</a:t>
            </a:r>
            <a:r>
              <a: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政务助手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圆角矩形 107"/>
          <p:cNvSpPr/>
          <p:nvPr/>
        </p:nvSpPr>
        <p:spPr>
          <a:xfrm>
            <a:off x="1481355" y="1709518"/>
            <a:ext cx="868680" cy="231140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流程解答</a:t>
            </a:r>
          </a:p>
        </p:txBody>
      </p:sp>
      <p:sp>
        <p:nvSpPr>
          <p:cNvPr id="66" name="圆角矩形 108"/>
          <p:cNvSpPr/>
          <p:nvPr/>
        </p:nvSpPr>
        <p:spPr>
          <a:xfrm>
            <a:off x="2428797" y="1700436"/>
            <a:ext cx="854075" cy="2308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dirty="0">
                <a:effectLst/>
                <a:latin typeface="Inter"/>
              </a:rPr>
              <a:t>政务业务引导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圆角矩形 109"/>
          <p:cNvSpPr/>
          <p:nvPr/>
        </p:nvSpPr>
        <p:spPr>
          <a:xfrm>
            <a:off x="3369271" y="1685324"/>
            <a:ext cx="1024252" cy="254888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dirty="0">
                <a:effectLst/>
                <a:latin typeface="Inter"/>
              </a:rPr>
              <a:t>政务费用计算</a:t>
            </a:r>
          </a:p>
        </p:txBody>
      </p:sp>
      <p:sp>
        <p:nvSpPr>
          <p:cNvPr id="68" name="圆角矩形 109"/>
          <p:cNvSpPr/>
          <p:nvPr/>
        </p:nvSpPr>
        <p:spPr>
          <a:xfrm>
            <a:off x="7351844" y="1693207"/>
            <a:ext cx="854075" cy="230880"/>
          </a:xfrm>
          <a:prstGeom prst="roundRect">
            <a:avLst>
              <a:gd name="adj" fmla="val 6463"/>
            </a:avLst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</a:p>
        </p:txBody>
      </p:sp>
      <p:sp>
        <p:nvSpPr>
          <p:cNvPr id="69" name="圆角矩形 109"/>
          <p:cNvSpPr/>
          <p:nvPr/>
        </p:nvSpPr>
        <p:spPr>
          <a:xfrm>
            <a:off x="4445613" y="1693217"/>
            <a:ext cx="854075" cy="2308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dirty="0">
                <a:effectLst/>
                <a:latin typeface="Inter"/>
              </a:rPr>
              <a:t>政务政策顾问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圆角矩形 109"/>
          <p:cNvSpPr/>
          <p:nvPr/>
        </p:nvSpPr>
        <p:spPr>
          <a:xfrm>
            <a:off x="10326787" y="1686912"/>
            <a:ext cx="854075" cy="2308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圆角矩形 109"/>
          <p:cNvSpPr/>
          <p:nvPr/>
        </p:nvSpPr>
        <p:spPr>
          <a:xfrm>
            <a:off x="6405392" y="1695100"/>
            <a:ext cx="854075" cy="2308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dirty="0">
                <a:effectLst/>
                <a:latin typeface="Inter"/>
              </a:rPr>
              <a:t>智能政务</a:t>
            </a:r>
            <a:r>
              <a:rPr lang="zh-CN" altLang="en-US" sz="800" dirty="0">
                <a:latin typeface="Inter"/>
              </a:rPr>
              <a:t>导引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3681561" y="4076558"/>
            <a:ext cx="2661889" cy="963977"/>
            <a:chOff x="3019759" y="3938409"/>
            <a:chExt cx="2750556" cy="94105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73" name="圆角矩形 122"/>
            <p:cNvSpPr/>
            <p:nvPr/>
          </p:nvSpPr>
          <p:spPr>
            <a:xfrm>
              <a:off x="3019759" y="3938409"/>
              <a:ext cx="2750556" cy="941052"/>
            </a:xfrm>
            <a:prstGeom prst="roundRect">
              <a:avLst>
                <a:gd name="adj" fmla="val 6463"/>
              </a:avLst>
            </a:prstGeom>
            <a:grpFill/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知识库</a:t>
              </a:r>
            </a:p>
          </p:txBody>
        </p:sp>
        <p:sp>
          <p:nvSpPr>
            <p:cNvPr id="74" name="圆角矩形 127"/>
            <p:cNvSpPr/>
            <p:nvPr/>
          </p:nvSpPr>
          <p:spPr>
            <a:xfrm>
              <a:off x="4739339" y="4367329"/>
              <a:ext cx="830512" cy="180000"/>
            </a:xfrm>
            <a:prstGeom prst="roundRect">
              <a:avLst>
                <a:gd name="adj" fmla="val 6463"/>
              </a:avLst>
            </a:prstGeom>
            <a:grpFill/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图数据库</a:t>
              </a:r>
            </a:p>
          </p:txBody>
        </p:sp>
        <p:sp>
          <p:nvSpPr>
            <p:cNvPr id="75" name="圆角矩形 128"/>
            <p:cNvSpPr/>
            <p:nvPr/>
          </p:nvSpPr>
          <p:spPr>
            <a:xfrm>
              <a:off x="4739339" y="4594542"/>
              <a:ext cx="830512" cy="180000"/>
            </a:xfrm>
            <a:prstGeom prst="roundRect">
              <a:avLst>
                <a:gd name="adj" fmla="val 6463"/>
              </a:avLst>
            </a:prstGeom>
            <a:grpFill/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搜索</a:t>
              </a:r>
            </a:p>
          </p:txBody>
        </p:sp>
        <p:sp>
          <p:nvSpPr>
            <p:cNvPr id="76" name="圆角矩形 129"/>
            <p:cNvSpPr/>
            <p:nvPr/>
          </p:nvSpPr>
          <p:spPr>
            <a:xfrm>
              <a:off x="4739339" y="4140116"/>
              <a:ext cx="830512" cy="180000"/>
            </a:xfrm>
            <a:prstGeom prst="roundRect">
              <a:avLst>
                <a:gd name="adj" fmla="val 6463"/>
              </a:avLst>
            </a:prstGeom>
            <a:grpFill/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关系型数据库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3044758" y="4124816"/>
              <a:ext cx="1608102" cy="654376"/>
              <a:chOff x="2991418" y="4140056"/>
              <a:chExt cx="1608102" cy="654376"/>
            </a:xfrm>
            <a:grpFill/>
          </p:grpSpPr>
          <p:sp>
            <p:nvSpPr>
              <p:cNvPr id="78" name="圆角矩形 126"/>
              <p:cNvSpPr/>
              <p:nvPr/>
            </p:nvSpPr>
            <p:spPr>
              <a:xfrm>
                <a:off x="2991418" y="4140056"/>
                <a:ext cx="1608102" cy="654376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algn="ctr">
                  <a:defRPr/>
                </a:pP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向量数据库</a:t>
                </a:r>
              </a:p>
            </p:txBody>
          </p:sp>
          <p:sp>
            <p:nvSpPr>
              <p:cNvPr id="79" name="圆角矩形 126"/>
              <p:cNvSpPr/>
              <p:nvPr/>
            </p:nvSpPr>
            <p:spPr>
              <a:xfrm>
                <a:off x="3014383" y="4364459"/>
                <a:ext cx="757199" cy="180391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700" b="0" i="0" dirty="0">
                    <a:effectLst/>
                    <a:latin typeface="Inter"/>
                  </a:rPr>
                  <a:t>政务知识库</a:t>
                </a:r>
                <a:endParaRPr lang="zh-CN" altLang="en-US" sz="7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圆角矩形 126"/>
              <p:cNvSpPr/>
              <p:nvPr/>
            </p:nvSpPr>
            <p:spPr>
              <a:xfrm>
                <a:off x="3800453" y="4364459"/>
                <a:ext cx="735546" cy="174192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700" b="0" i="0" dirty="0">
                    <a:effectLst/>
                    <a:latin typeface="Inter"/>
                  </a:rPr>
                  <a:t>政务 </a:t>
                </a:r>
                <a:r>
                  <a:rPr lang="en-US" altLang="zh-CN" sz="700" b="0" i="0" dirty="0">
                    <a:effectLst/>
                    <a:cs typeface="+mn-lt"/>
                  </a:rPr>
                  <a:t>QA</a:t>
                </a:r>
                <a:r>
                  <a:rPr lang="en-US" altLang="zh-CN" sz="700" b="0" i="0" dirty="0">
                    <a:effectLst/>
                    <a:latin typeface="Inter"/>
                  </a:rPr>
                  <a:t> </a:t>
                </a:r>
                <a:r>
                  <a:rPr lang="zh-CN" altLang="en-US" sz="700" b="0" i="0" dirty="0">
                    <a:effectLst/>
                    <a:latin typeface="Inter"/>
                  </a:rPr>
                  <a:t>库</a:t>
                </a:r>
                <a:endParaRPr lang="zh-CN" altLang="en-US" sz="7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圆角矩形 126"/>
              <p:cNvSpPr/>
              <p:nvPr/>
            </p:nvSpPr>
            <p:spPr>
              <a:xfrm>
                <a:off x="3014913" y="4572631"/>
                <a:ext cx="851357" cy="16346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700" b="0" i="0" dirty="0">
                    <a:effectLst/>
                    <a:latin typeface="Inter"/>
                  </a:rPr>
                  <a:t>政务办事流程库</a:t>
                </a:r>
                <a:endParaRPr lang="zh-CN" altLang="en-US" sz="7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126"/>
              <p:cNvSpPr/>
              <p:nvPr/>
            </p:nvSpPr>
            <p:spPr>
              <a:xfrm>
                <a:off x="3896931" y="4568237"/>
                <a:ext cx="643534" cy="167863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en-US" altLang="zh-CN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xx</a:t>
                </a: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</a:t>
                </a:r>
              </a:p>
            </p:txBody>
          </p:sp>
        </p:grpSp>
      </p:grpSp>
      <p:grpSp>
        <p:nvGrpSpPr>
          <p:cNvPr id="83" name="组合 82"/>
          <p:cNvGrpSpPr/>
          <p:nvPr/>
        </p:nvGrpSpPr>
        <p:grpSpPr>
          <a:xfrm>
            <a:off x="531268" y="4074691"/>
            <a:ext cx="3104370" cy="957215"/>
            <a:chOff x="249856" y="4026859"/>
            <a:chExt cx="3189240" cy="953035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84" name="圆角矩形 121"/>
            <p:cNvSpPr/>
            <p:nvPr/>
          </p:nvSpPr>
          <p:spPr>
            <a:xfrm>
              <a:off x="249856" y="4026859"/>
              <a:ext cx="3189240" cy="953035"/>
            </a:xfrm>
            <a:prstGeom prst="roundRect">
              <a:avLst>
                <a:gd name="adj" fmla="val 6463"/>
              </a:avLst>
            </a:prstGeom>
            <a:grpFill/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模型库</a:t>
              </a: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306643" y="4222303"/>
              <a:ext cx="1494756" cy="634455"/>
              <a:chOff x="306643" y="4237543"/>
              <a:chExt cx="1494756" cy="634455"/>
            </a:xfrm>
            <a:grpFill/>
          </p:grpSpPr>
          <p:sp>
            <p:nvSpPr>
              <p:cNvPr id="92" name="圆角矩形 130"/>
              <p:cNvSpPr/>
              <p:nvPr/>
            </p:nvSpPr>
            <p:spPr>
              <a:xfrm>
                <a:off x="306643" y="4237543"/>
                <a:ext cx="1494756" cy="634455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开源模型</a:t>
                </a:r>
              </a:p>
            </p:txBody>
          </p:sp>
          <p:sp>
            <p:nvSpPr>
              <p:cNvPr id="93" name="圆角矩形 126"/>
              <p:cNvSpPr/>
              <p:nvPr/>
            </p:nvSpPr>
            <p:spPr>
              <a:xfrm>
                <a:off x="403163" y="4480748"/>
                <a:ext cx="630000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800" kern="0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百川</a:t>
                </a:r>
              </a:p>
            </p:txBody>
          </p:sp>
          <p:sp>
            <p:nvSpPr>
              <p:cNvPr id="94" name="圆角矩形 126"/>
              <p:cNvSpPr/>
              <p:nvPr/>
            </p:nvSpPr>
            <p:spPr>
              <a:xfrm>
                <a:off x="1071403" y="4480950"/>
                <a:ext cx="658817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智谱</a:t>
                </a:r>
              </a:p>
            </p:txBody>
          </p:sp>
          <p:sp>
            <p:nvSpPr>
              <p:cNvPr id="95" name="圆角矩形 126"/>
              <p:cNvSpPr/>
              <p:nvPr/>
            </p:nvSpPr>
            <p:spPr>
              <a:xfrm>
                <a:off x="403141" y="4676768"/>
                <a:ext cx="630000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800" kern="0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千问</a:t>
                </a:r>
              </a:p>
            </p:txBody>
          </p:sp>
          <p:sp>
            <p:nvSpPr>
              <p:cNvPr id="96" name="圆角矩形 126"/>
              <p:cNvSpPr/>
              <p:nvPr/>
            </p:nvSpPr>
            <p:spPr>
              <a:xfrm>
                <a:off x="1071403" y="4671647"/>
                <a:ext cx="658817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en-US" altLang="zh-CN" sz="7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DeepSeek</a:t>
                </a:r>
                <a:endParaRPr lang="zh-CN" altLang="en-US" sz="7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1878934" y="4222232"/>
              <a:ext cx="1465982" cy="634455"/>
              <a:chOff x="439665" y="4237543"/>
              <a:chExt cx="1465982" cy="634455"/>
            </a:xfrm>
            <a:grpFill/>
          </p:grpSpPr>
          <p:sp>
            <p:nvSpPr>
              <p:cNvPr id="87" name="圆角矩形 130"/>
              <p:cNvSpPr/>
              <p:nvPr/>
            </p:nvSpPr>
            <p:spPr>
              <a:xfrm>
                <a:off x="439665" y="4237543"/>
                <a:ext cx="1465982" cy="634455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闭</a:t>
                </a: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源模型</a:t>
                </a:r>
              </a:p>
            </p:txBody>
          </p:sp>
          <p:sp>
            <p:nvSpPr>
              <p:cNvPr id="88" name="圆角矩形 126"/>
              <p:cNvSpPr/>
              <p:nvPr/>
            </p:nvSpPr>
            <p:spPr>
              <a:xfrm>
                <a:off x="525061" y="4480950"/>
                <a:ext cx="630000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华为盘古</a:t>
                </a:r>
              </a:p>
            </p:txBody>
          </p:sp>
          <p:sp>
            <p:nvSpPr>
              <p:cNvPr id="89" name="圆角矩形 126"/>
              <p:cNvSpPr/>
              <p:nvPr/>
            </p:nvSpPr>
            <p:spPr>
              <a:xfrm>
                <a:off x="1193323" y="4480950"/>
                <a:ext cx="630000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文心一言</a:t>
                </a:r>
              </a:p>
            </p:txBody>
          </p:sp>
          <p:sp>
            <p:nvSpPr>
              <p:cNvPr id="90" name="圆角矩形 126"/>
              <p:cNvSpPr/>
              <p:nvPr/>
            </p:nvSpPr>
            <p:spPr>
              <a:xfrm>
                <a:off x="525061" y="4676768"/>
                <a:ext cx="630000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讯飞星火</a:t>
                </a:r>
              </a:p>
            </p:txBody>
          </p:sp>
          <p:sp>
            <p:nvSpPr>
              <p:cNvPr id="91" name="圆角矩形 126"/>
              <p:cNvSpPr/>
              <p:nvPr/>
            </p:nvSpPr>
            <p:spPr>
              <a:xfrm>
                <a:off x="1193324" y="4671647"/>
                <a:ext cx="628466" cy="149079"/>
              </a:xfrm>
              <a:prstGeom prst="roundRect">
                <a:avLst>
                  <a:gd name="adj" fmla="val 6463"/>
                </a:avLst>
              </a:prstGeom>
              <a:grpFill/>
              <a:ln w="9525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en-US" altLang="zh-CN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Qwen</a:t>
                </a:r>
                <a:r>
                  <a:rPr lang="zh-CN" altLang="en-US" sz="8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</a:t>
                </a:r>
              </a:p>
            </p:txBody>
          </p:sp>
        </p:grpSp>
      </p:grpSp>
      <p:sp>
        <p:nvSpPr>
          <p:cNvPr id="97" name="圆角矩形 126"/>
          <p:cNvSpPr/>
          <p:nvPr/>
        </p:nvSpPr>
        <p:spPr>
          <a:xfrm>
            <a:off x="6471757" y="4277201"/>
            <a:ext cx="1882012" cy="659463"/>
          </a:xfrm>
          <a:prstGeom prst="roundRect">
            <a:avLst>
              <a:gd name="adj" fmla="val 6463"/>
            </a:avLst>
          </a:prstGeom>
          <a:solidFill>
            <a:srgbClr val="DDDDDD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接入工具</a:t>
            </a:r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/API)</a:t>
            </a:r>
            <a:endParaRPr lang="zh-CN" altLang="en-US" sz="8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6"/>
          <p:cNvSpPr/>
          <p:nvPr/>
        </p:nvSpPr>
        <p:spPr>
          <a:xfrm>
            <a:off x="6511361" y="4518335"/>
            <a:ext cx="911501" cy="159415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7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政务业务计算工具</a:t>
            </a:r>
          </a:p>
        </p:txBody>
      </p:sp>
      <p:sp>
        <p:nvSpPr>
          <p:cNvPr id="99" name="圆角矩形 126"/>
          <p:cNvSpPr/>
          <p:nvPr/>
        </p:nvSpPr>
        <p:spPr>
          <a:xfrm>
            <a:off x="7450380" y="4520611"/>
            <a:ext cx="805010" cy="15713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用户画像</a:t>
            </a:r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zh-CN" altLang="en-US" sz="8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圆角矩形 126"/>
          <p:cNvSpPr/>
          <p:nvPr/>
        </p:nvSpPr>
        <p:spPr>
          <a:xfrm>
            <a:off x="6511362" y="4709679"/>
            <a:ext cx="911500" cy="14325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7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政务服务评估 </a:t>
            </a:r>
            <a:r>
              <a:rPr lang="en-US" altLang="zh-CN" sz="7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</a:t>
            </a:r>
            <a:endParaRPr lang="zh-CN" altLang="en-US" sz="7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1" name="圆角矩形 126"/>
          <p:cNvSpPr/>
          <p:nvPr/>
        </p:nvSpPr>
        <p:spPr>
          <a:xfrm>
            <a:off x="7443184" y="4704558"/>
            <a:ext cx="805010" cy="14973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/API</a:t>
            </a:r>
            <a:endParaRPr lang="zh-CN" altLang="en-US" sz="8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圆角矩形 143"/>
          <p:cNvSpPr/>
          <p:nvPr/>
        </p:nvSpPr>
        <p:spPr>
          <a:xfrm>
            <a:off x="5993704" y="3413172"/>
            <a:ext cx="1085379" cy="240237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 algn="ctr">
              <a:defRPr/>
            </a:pPr>
            <a:r>
              <a:rPr lang="zh-CN" altLang="en-US" sz="9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流程编排助手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圆角矩形 153"/>
          <p:cNvSpPr/>
          <p:nvPr/>
        </p:nvSpPr>
        <p:spPr>
          <a:xfrm>
            <a:off x="10444114" y="2368782"/>
            <a:ext cx="560006" cy="174835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圆角矩形 82"/>
          <p:cNvSpPr/>
          <p:nvPr/>
        </p:nvSpPr>
        <p:spPr>
          <a:xfrm>
            <a:off x="4689025" y="5365244"/>
            <a:ext cx="792000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提示词</a:t>
            </a:r>
            <a:r>
              <a:rPr lang="zh-CN" altLang="en-US" sz="9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撰写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" name="圆角矩形 82"/>
          <p:cNvSpPr/>
          <p:nvPr/>
        </p:nvSpPr>
        <p:spPr>
          <a:xfrm>
            <a:off x="1795930" y="5354713"/>
            <a:ext cx="792000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提示词</a:t>
            </a:r>
            <a:r>
              <a:rPr lang="zh-CN" altLang="en-US" sz="9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" name="圆角矩形 82"/>
          <p:cNvSpPr/>
          <p:nvPr/>
        </p:nvSpPr>
        <p:spPr>
          <a:xfrm>
            <a:off x="3653866" y="5365299"/>
            <a:ext cx="900000" cy="179629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模版智能填充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8412750" y="4279948"/>
            <a:ext cx="1824686" cy="659463"/>
            <a:chOff x="8319580" y="3565453"/>
            <a:chExt cx="1951613" cy="656583"/>
          </a:xfrm>
        </p:grpSpPr>
        <p:sp>
          <p:nvSpPr>
            <p:cNvPr id="110" name="圆角矩形 126"/>
            <p:cNvSpPr/>
            <p:nvPr/>
          </p:nvSpPr>
          <p:spPr>
            <a:xfrm>
              <a:off x="8319580" y="3565453"/>
              <a:ext cx="1951613" cy="656583"/>
            </a:xfrm>
            <a:prstGeom prst="roundRect">
              <a:avLst>
                <a:gd name="adj" fmla="val 6463"/>
              </a:avLst>
            </a:prstGeom>
            <a:solidFill>
              <a:srgbClr val="DDDDDD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algn="ctr">
                <a:defRPr/>
              </a:pPr>
              <a:r>
                <a:rPr lang="zh-CN" altLang="en-US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预置工具</a:t>
              </a:r>
            </a:p>
          </p:txBody>
        </p:sp>
        <p:sp>
          <p:nvSpPr>
            <p:cNvPr id="111" name="圆角矩形 126"/>
            <p:cNvSpPr/>
            <p:nvPr/>
          </p:nvSpPr>
          <p:spPr>
            <a:xfrm>
              <a:off x="8444669" y="3802799"/>
              <a:ext cx="810000" cy="149079"/>
            </a:xfrm>
            <a:prstGeom prst="roundRect">
              <a:avLst>
                <a:gd name="adj" fmla="val 6463"/>
              </a:avLst>
            </a:prstGeom>
            <a:solidFill>
              <a:schemeClr val="bg1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altLang="zh-CN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NL2SQL</a:t>
              </a:r>
              <a:endParaRPr lang="zh-CN" altLang="en-US" sz="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圆角矩形 126"/>
            <p:cNvSpPr/>
            <p:nvPr/>
          </p:nvSpPr>
          <p:spPr>
            <a:xfrm>
              <a:off x="9322736" y="3799504"/>
              <a:ext cx="776581" cy="156851"/>
            </a:xfrm>
            <a:prstGeom prst="roundRect">
              <a:avLst>
                <a:gd name="adj" fmla="val 6463"/>
              </a:avLst>
            </a:prstGeom>
            <a:solidFill>
              <a:schemeClr val="bg1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代码解释器</a:t>
              </a:r>
            </a:p>
          </p:txBody>
        </p:sp>
        <p:sp>
          <p:nvSpPr>
            <p:cNvPr id="113" name="圆角矩形 126"/>
            <p:cNvSpPr/>
            <p:nvPr/>
          </p:nvSpPr>
          <p:spPr>
            <a:xfrm>
              <a:off x="8446625" y="3984291"/>
              <a:ext cx="810000" cy="149079"/>
            </a:xfrm>
            <a:prstGeom prst="roundRect">
              <a:avLst>
                <a:gd name="adj" fmla="val 6463"/>
              </a:avLst>
            </a:prstGeom>
            <a:solidFill>
              <a:schemeClr val="bg1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en-US" altLang="zh-CN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</a:t>
              </a:r>
              <a:r>
                <a:rPr lang="zh-CN" altLang="en-US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</a:t>
              </a:r>
            </a:p>
          </p:txBody>
        </p:sp>
        <p:sp>
          <p:nvSpPr>
            <p:cNvPr id="114" name="圆角矩形 126"/>
            <p:cNvSpPr/>
            <p:nvPr/>
          </p:nvSpPr>
          <p:spPr>
            <a:xfrm>
              <a:off x="9322736" y="3988210"/>
              <a:ext cx="785105" cy="147731"/>
            </a:xfrm>
            <a:prstGeom prst="roundRect">
              <a:avLst>
                <a:gd name="adj" fmla="val 6463"/>
              </a:avLst>
            </a:prstGeom>
            <a:solidFill>
              <a:schemeClr val="bg1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altLang="zh-CN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  <a:r>
                <a:rPr lang="zh-CN" altLang="en-US" sz="8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</a:t>
              </a:r>
            </a:p>
          </p:txBody>
        </p:sp>
      </p:grpSp>
      <p:sp>
        <p:nvSpPr>
          <p:cNvPr id="115" name="圆角矩形 145"/>
          <p:cNvSpPr/>
          <p:nvPr/>
        </p:nvSpPr>
        <p:spPr>
          <a:xfrm>
            <a:off x="7610858" y="3407421"/>
            <a:ext cx="1085379" cy="240237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 algn="ctr">
              <a:defRPr/>
            </a:pPr>
            <a:r>
              <a:rPr lang="zh-CN" altLang="en-US" sz="9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工具调用助手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7" name="直接箭头连接符 116"/>
          <p:cNvCxnSpPr>
            <a:stCxn id="7" idx="2"/>
            <a:endCxn id="102" idx="0"/>
          </p:cNvCxnSpPr>
          <p:nvPr/>
        </p:nvCxnSpPr>
        <p:spPr>
          <a:xfrm>
            <a:off x="4662363" y="3143660"/>
            <a:ext cx="1874031" cy="269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stCxn id="7" idx="2"/>
            <a:endCxn id="48" idx="0"/>
          </p:cNvCxnSpPr>
          <p:nvPr/>
        </p:nvCxnSpPr>
        <p:spPr>
          <a:xfrm flipH="1">
            <a:off x="1102085" y="3143660"/>
            <a:ext cx="3560278" cy="269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stCxn id="7" idx="2"/>
            <a:endCxn id="115" idx="0"/>
          </p:cNvCxnSpPr>
          <p:nvPr/>
        </p:nvCxnSpPr>
        <p:spPr>
          <a:xfrm>
            <a:off x="4662363" y="3143660"/>
            <a:ext cx="3491185" cy="26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>
            <a:stCxn id="7" idx="2"/>
            <a:endCxn id="47" idx="0"/>
          </p:cNvCxnSpPr>
          <p:nvPr/>
        </p:nvCxnSpPr>
        <p:spPr>
          <a:xfrm flipH="1">
            <a:off x="4531942" y="3143660"/>
            <a:ext cx="130421" cy="278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>
            <a:stCxn id="7" idx="2"/>
            <a:endCxn id="46" idx="0"/>
          </p:cNvCxnSpPr>
          <p:nvPr/>
        </p:nvCxnSpPr>
        <p:spPr>
          <a:xfrm flipH="1">
            <a:off x="2900612" y="3143660"/>
            <a:ext cx="1761751" cy="27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stCxn id="7" idx="2"/>
            <a:endCxn id="49" idx="0"/>
          </p:cNvCxnSpPr>
          <p:nvPr/>
        </p:nvCxnSpPr>
        <p:spPr>
          <a:xfrm>
            <a:off x="4662363" y="3143660"/>
            <a:ext cx="4832985" cy="263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圆角矩形 153"/>
          <p:cNvSpPr/>
          <p:nvPr/>
        </p:nvSpPr>
        <p:spPr>
          <a:xfrm>
            <a:off x="9819564" y="2369027"/>
            <a:ext cx="560006" cy="174835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图表</a:t>
            </a:r>
          </a:p>
        </p:txBody>
      </p:sp>
      <p:sp>
        <p:nvSpPr>
          <p:cNvPr id="124" name="圆角矩形 109"/>
          <p:cNvSpPr/>
          <p:nvPr>
            <p:custDataLst>
              <p:tags r:id="rId1"/>
            </p:custDataLst>
          </p:nvPr>
        </p:nvSpPr>
        <p:spPr>
          <a:xfrm>
            <a:off x="5465448" y="1700436"/>
            <a:ext cx="854075" cy="2308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政务 </a:t>
            </a:r>
            <a:r>
              <a:rPr lang="en-US" altLang="zh-CN" sz="8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5" name="圆角矩形 109"/>
          <p:cNvSpPr/>
          <p:nvPr>
            <p:custDataLst>
              <p:tags r:id="rId2"/>
            </p:custDataLst>
          </p:nvPr>
        </p:nvSpPr>
        <p:spPr>
          <a:xfrm>
            <a:off x="9416228" y="1691541"/>
            <a:ext cx="854075" cy="230880"/>
          </a:xfrm>
          <a:prstGeom prst="roundRect">
            <a:avLst>
              <a:gd name="adj" fmla="val 6463"/>
            </a:avLst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dirty="0">
                <a:effectLst/>
                <a:latin typeface="Inter"/>
              </a:rPr>
              <a:t>政务投资顾问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6" name="圆角矩形 109"/>
          <p:cNvSpPr/>
          <p:nvPr>
            <p:custDataLst>
              <p:tags r:id="rId3"/>
            </p:custDataLst>
          </p:nvPr>
        </p:nvSpPr>
        <p:spPr>
          <a:xfrm>
            <a:off x="8301750" y="1685736"/>
            <a:ext cx="1024255" cy="231435"/>
          </a:xfrm>
          <a:prstGeom prst="roundRect">
            <a:avLst>
              <a:gd name="adj" fmla="val 6463"/>
            </a:avLst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dirty="0">
                <a:effectLst/>
                <a:latin typeface="Inter"/>
              </a:rPr>
              <a:t>政务项目融资辅助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7" name="直接箭头连接符 126"/>
          <p:cNvCxnSpPr/>
          <p:nvPr/>
        </p:nvCxnSpPr>
        <p:spPr>
          <a:xfrm>
            <a:off x="722000" y="1966670"/>
            <a:ext cx="67" cy="350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: 圆角 8"/>
          <p:cNvSpPr/>
          <p:nvPr>
            <p:custDataLst>
              <p:tags r:id="rId4"/>
            </p:custDataLst>
          </p:nvPr>
        </p:nvSpPr>
        <p:spPr>
          <a:xfrm>
            <a:off x="4460818" y="5734298"/>
            <a:ext cx="3009917" cy="1068658"/>
          </a:xfrm>
          <a:prstGeom prst="roundRect">
            <a:avLst>
              <a:gd name="adj" fmla="val 2428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53975" tIns="45702" rIns="91404" bIns="45702" numCol="1" spcCol="0" rtlCol="0" fromWordArt="0" anchor="b" anchorCtr="0" forceAA="0" compatLnSpc="1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中间件</a:t>
            </a:r>
          </a:p>
        </p:txBody>
      </p:sp>
      <p:grpSp>
        <p:nvGrpSpPr>
          <p:cNvPr id="129" name="组合 128"/>
          <p:cNvGrpSpPr/>
          <p:nvPr/>
        </p:nvGrpSpPr>
        <p:grpSpPr>
          <a:xfrm>
            <a:off x="666116" y="5866331"/>
            <a:ext cx="2266950" cy="882075"/>
            <a:chOff x="707650" y="4986095"/>
            <a:chExt cx="2474752" cy="691186"/>
          </a:xfrm>
        </p:grpSpPr>
        <p:sp>
          <p:nvSpPr>
            <p:cNvPr id="130" name="圆角矩形 14"/>
            <p:cNvSpPr/>
            <p:nvPr>
              <p:custDataLst>
                <p:tags r:id="rId37"/>
              </p:custDataLst>
            </p:nvPr>
          </p:nvSpPr>
          <p:spPr>
            <a:xfrm>
              <a:off x="707650" y="4986095"/>
              <a:ext cx="2474752" cy="691186"/>
            </a:xfrm>
            <a:prstGeom prst="roundRect">
              <a:avLst>
                <a:gd name="adj" fmla="val 2296"/>
              </a:avLst>
            </a:prstGeom>
            <a:solidFill>
              <a:srgbClr val="5B9BD5">
                <a:lumMod val="40000"/>
                <a:lumOff val="60000"/>
              </a:srgbClr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闭源模型</a:t>
              </a:r>
            </a:p>
          </p:txBody>
        </p:sp>
        <p:sp>
          <p:nvSpPr>
            <p:cNvPr id="131" name="圆角矩形 15"/>
            <p:cNvSpPr/>
            <p:nvPr>
              <p:custDataLst>
                <p:tags r:id="rId38"/>
              </p:custDataLst>
            </p:nvPr>
          </p:nvSpPr>
          <p:spPr>
            <a:xfrm>
              <a:off x="733296" y="5210633"/>
              <a:ext cx="799872" cy="180871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NLP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大模型</a:t>
              </a:r>
            </a:p>
          </p:txBody>
        </p:sp>
        <p:sp>
          <p:nvSpPr>
            <p:cNvPr id="132" name="圆角矩形 16"/>
            <p:cNvSpPr/>
            <p:nvPr>
              <p:custDataLst>
                <p:tags r:id="rId39"/>
              </p:custDataLst>
            </p:nvPr>
          </p:nvSpPr>
          <p:spPr>
            <a:xfrm>
              <a:off x="1562556" y="5210632"/>
              <a:ext cx="767692" cy="181986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行业大模型</a:t>
              </a:r>
            </a:p>
          </p:txBody>
        </p:sp>
        <p:sp>
          <p:nvSpPr>
            <p:cNvPr id="133" name="圆角矩形 17"/>
            <p:cNvSpPr/>
            <p:nvPr>
              <p:custDataLst>
                <p:tags r:id="rId40"/>
              </p:custDataLst>
            </p:nvPr>
          </p:nvSpPr>
          <p:spPr>
            <a:xfrm>
              <a:off x="2375888" y="5210934"/>
              <a:ext cx="767692" cy="181986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预测大模型</a:t>
              </a:r>
            </a:p>
          </p:txBody>
        </p:sp>
        <p:sp>
          <p:nvSpPr>
            <p:cNvPr id="134" name="圆角矩形 18"/>
            <p:cNvSpPr/>
            <p:nvPr>
              <p:custDataLst>
                <p:tags r:id="rId41"/>
              </p:custDataLst>
            </p:nvPr>
          </p:nvSpPr>
          <p:spPr>
            <a:xfrm>
              <a:off x="749728" y="5449415"/>
              <a:ext cx="767692" cy="181986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数据工程</a:t>
              </a:r>
            </a:p>
          </p:txBody>
        </p:sp>
        <p:sp>
          <p:nvSpPr>
            <p:cNvPr id="135" name="圆角矩形 19"/>
            <p:cNvSpPr/>
            <p:nvPr>
              <p:custDataLst>
                <p:tags r:id="rId42"/>
              </p:custDataLst>
            </p:nvPr>
          </p:nvSpPr>
          <p:spPr>
            <a:xfrm>
              <a:off x="1562556" y="5449414"/>
              <a:ext cx="767692" cy="181986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模型开发</a:t>
              </a:r>
            </a:p>
          </p:txBody>
        </p:sp>
        <p:sp>
          <p:nvSpPr>
            <p:cNvPr id="136" name="圆角矩形 20"/>
            <p:cNvSpPr/>
            <p:nvPr>
              <p:custDataLst>
                <p:tags r:id="rId43"/>
              </p:custDataLst>
            </p:nvPr>
          </p:nvSpPr>
          <p:spPr>
            <a:xfrm>
              <a:off x="2375888" y="5449716"/>
              <a:ext cx="767692" cy="181986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模型微调</a:t>
              </a: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2976623" y="5876032"/>
            <a:ext cx="1261116" cy="877628"/>
            <a:chOff x="5049152" y="4983029"/>
            <a:chExt cx="974981" cy="694251"/>
          </a:xfrm>
        </p:grpSpPr>
        <p:sp>
          <p:nvSpPr>
            <p:cNvPr id="138" name="圆角矩形 22"/>
            <p:cNvSpPr/>
            <p:nvPr>
              <p:custDataLst>
                <p:tags r:id="rId33"/>
              </p:custDataLst>
            </p:nvPr>
          </p:nvSpPr>
          <p:spPr>
            <a:xfrm>
              <a:off x="5049152" y="4983029"/>
              <a:ext cx="974981" cy="694251"/>
            </a:xfrm>
            <a:prstGeom prst="roundRect">
              <a:avLst>
                <a:gd name="adj" fmla="val 2296"/>
              </a:avLst>
            </a:prstGeom>
            <a:solidFill>
              <a:srgbClr val="5B9BD5">
                <a:lumMod val="40000"/>
                <a:lumOff val="60000"/>
              </a:srgbClr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开源模型</a:t>
              </a:r>
            </a:p>
          </p:txBody>
        </p:sp>
        <p:sp>
          <p:nvSpPr>
            <p:cNvPr id="139" name="圆角矩形 23"/>
            <p:cNvSpPr/>
            <p:nvPr>
              <p:custDataLst>
                <p:tags r:id="rId34"/>
              </p:custDataLst>
            </p:nvPr>
          </p:nvSpPr>
          <p:spPr>
            <a:xfrm>
              <a:off x="5604556" y="5182488"/>
              <a:ext cx="403085" cy="175653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千问</a:t>
              </a:r>
            </a:p>
          </p:txBody>
        </p:sp>
        <p:sp>
          <p:nvSpPr>
            <p:cNvPr id="140" name="圆角矩形 24"/>
            <p:cNvSpPr/>
            <p:nvPr>
              <p:custDataLst>
                <p:tags r:id="rId35"/>
              </p:custDataLst>
            </p:nvPr>
          </p:nvSpPr>
          <p:spPr>
            <a:xfrm>
              <a:off x="5085484" y="5441729"/>
              <a:ext cx="490187" cy="175348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智谱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1" name="圆角矩形 25"/>
            <p:cNvSpPr/>
            <p:nvPr>
              <p:custDataLst>
                <p:tags r:id="rId36"/>
              </p:custDataLst>
            </p:nvPr>
          </p:nvSpPr>
          <p:spPr>
            <a:xfrm>
              <a:off x="5615963" y="5447532"/>
              <a:ext cx="391678" cy="167513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百川</a:t>
              </a: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8826886" y="5861570"/>
            <a:ext cx="962947" cy="874712"/>
            <a:chOff x="9711549" y="4983028"/>
            <a:chExt cx="917440" cy="702645"/>
          </a:xfrm>
        </p:grpSpPr>
        <p:sp>
          <p:nvSpPr>
            <p:cNvPr id="143" name="圆角矩形 27"/>
            <p:cNvSpPr/>
            <p:nvPr>
              <p:custDataLst>
                <p:tags r:id="rId29"/>
              </p:custDataLst>
            </p:nvPr>
          </p:nvSpPr>
          <p:spPr>
            <a:xfrm>
              <a:off x="9711549" y="4983028"/>
              <a:ext cx="917440" cy="702645"/>
            </a:xfrm>
            <a:prstGeom prst="roundRect">
              <a:avLst>
                <a:gd name="adj" fmla="val 2296"/>
              </a:avLst>
            </a:prstGeom>
            <a:solidFill>
              <a:srgbClr val="5B9BD5">
                <a:lumMod val="40000"/>
                <a:lumOff val="60000"/>
              </a:srgbClr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内容审核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4" name="圆角矩形 28"/>
            <p:cNvSpPr/>
            <p:nvPr>
              <p:custDataLst>
                <p:tags r:id="rId30"/>
              </p:custDataLst>
            </p:nvPr>
          </p:nvSpPr>
          <p:spPr>
            <a:xfrm>
              <a:off x="9764079" y="5164551"/>
              <a:ext cx="802447" cy="150313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文本内容审核</a:t>
              </a:r>
            </a:p>
          </p:txBody>
        </p:sp>
        <p:sp>
          <p:nvSpPr>
            <p:cNvPr id="145" name="圆角矩形 29"/>
            <p:cNvSpPr/>
            <p:nvPr>
              <p:custDataLst>
                <p:tags r:id="rId31"/>
              </p:custDataLst>
            </p:nvPr>
          </p:nvSpPr>
          <p:spPr>
            <a:xfrm>
              <a:off x="9764079" y="5339150"/>
              <a:ext cx="802447" cy="149885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图像内容审核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6" name="圆角矩形 30"/>
            <p:cNvSpPr/>
            <p:nvPr>
              <p:custDataLst>
                <p:tags r:id="rId32"/>
              </p:custDataLst>
            </p:nvPr>
          </p:nvSpPr>
          <p:spPr>
            <a:xfrm>
              <a:off x="9764079" y="5515342"/>
              <a:ext cx="802447" cy="135737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47" name="圆角矩形 31"/>
          <p:cNvSpPr/>
          <p:nvPr>
            <p:custDataLst>
              <p:tags r:id="rId5"/>
            </p:custDataLst>
          </p:nvPr>
        </p:nvSpPr>
        <p:spPr>
          <a:xfrm>
            <a:off x="9813290" y="5858491"/>
            <a:ext cx="1403848" cy="876203"/>
          </a:xfrm>
          <a:prstGeom prst="roundRect">
            <a:avLst>
              <a:gd name="adj" fmla="val 2296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通用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圆角矩形 32"/>
          <p:cNvSpPr/>
          <p:nvPr>
            <p:custDataLst>
              <p:tags r:id="rId6"/>
            </p:custDataLst>
          </p:nvPr>
        </p:nvSpPr>
        <p:spPr>
          <a:xfrm>
            <a:off x="10303828" y="6080257"/>
            <a:ext cx="409083" cy="226014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OCR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9" name="圆角矩形 33"/>
          <p:cNvSpPr/>
          <p:nvPr>
            <p:custDataLst>
              <p:tags r:id="rId7"/>
            </p:custDataLst>
          </p:nvPr>
        </p:nvSpPr>
        <p:spPr>
          <a:xfrm>
            <a:off x="10511792" y="6405930"/>
            <a:ext cx="403656" cy="226014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0" name="圆角矩形 34"/>
          <p:cNvSpPr/>
          <p:nvPr>
            <p:custDataLst>
              <p:tags r:id="rId8"/>
            </p:custDataLst>
          </p:nvPr>
        </p:nvSpPr>
        <p:spPr>
          <a:xfrm>
            <a:off x="10742107" y="6081910"/>
            <a:ext cx="426813" cy="226014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CBS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4721117" y="5848624"/>
            <a:ext cx="1400810" cy="891036"/>
            <a:chOff x="6161477" y="4955057"/>
            <a:chExt cx="1560925" cy="694252"/>
          </a:xfrm>
        </p:grpSpPr>
        <p:sp>
          <p:nvSpPr>
            <p:cNvPr id="153" name="圆角矩形 37"/>
            <p:cNvSpPr/>
            <p:nvPr>
              <p:custDataLst>
                <p:tags r:id="rId24"/>
              </p:custDataLst>
            </p:nvPr>
          </p:nvSpPr>
          <p:spPr>
            <a:xfrm>
              <a:off x="6161477" y="4955057"/>
              <a:ext cx="1560925" cy="694252"/>
            </a:xfrm>
            <a:prstGeom prst="roundRect">
              <a:avLst>
                <a:gd name="adj" fmla="val 2296"/>
              </a:avLst>
            </a:prstGeom>
            <a:solidFill>
              <a:srgbClr val="5B9BD5">
                <a:lumMod val="40000"/>
                <a:lumOff val="60000"/>
              </a:srgbClr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知识检索中间件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4" name="圆角矩形 38"/>
            <p:cNvSpPr/>
            <p:nvPr>
              <p:custDataLst>
                <p:tags r:id="rId25"/>
              </p:custDataLst>
            </p:nvPr>
          </p:nvSpPr>
          <p:spPr>
            <a:xfrm>
              <a:off x="6244365" y="5162244"/>
              <a:ext cx="708080" cy="174014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文档拆分</a:t>
              </a:r>
            </a:p>
          </p:txBody>
        </p:sp>
        <p:sp>
          <p:nvSpPr>
            <p:cNvPr id="155" name="圆角矩形 39"/>
            <p:cNvSpPr/>
            <p:nvPr>
              <p:custDataLst>
                <p:tags r:id="rId26"/>
              </p:custDataLst>
            </p:nvPr>
          </p:nvSpPr>
          <p:spPr>
            <a:xfrm>
              <a:off x="6996949" y="5165500"/>
              <a:ext cx="683864" cy="174014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文档搜索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圆角矩形 40"/>
            <p:cNvSpPr/>
            <p:nvPr>
              <p:custDataLst>
                <p:tags r:id="rId27"/>
              </p:custDataLst>
            </p:nvPr>
          </p:nvSpPr>
          <p:spPr>
            <a:xfrm>
              <a:off x="6232555" y="5403155"/>
              <a:ext cx="726655" cy="174233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文档导入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圆角矩形 41"/>
            <p:cNvSpPr/>
            <p:nvPr>
              <p:custDataLst>
                <p:tags r:id="rId28"/>
              </p:custDataLst>
            </p:nvPr>
          </p:nvSpPr>
          <p:spPr>
            <a:xfrm>
              <a:off x="7003239" y="5399856"/>
              <a:ext cx="677573" cy="174233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文档问答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7849446" y="5860507"/>
            <a:ext cx="919643" cy="876710"/>
            <a:chOff x="7650222" y="4955058"/>
            <a:chExt cx="1007909" cy="683090"/>
          </a:xfrm>
        </p:grpSpPr>
        <p:sp>
          <p:nvSpPr>
            <p:cNvPr id="159" name="圆角矩形 44"/>
            <p:cNvSpPr/>
            <p:nvPr>
              <p:custDataLst>
                <p:tags r:id="rId20"/>
              </p:custDataLst>
            </p:nvPr>
          </p:nvSpPr>
          <p:spPr>
            <a:xfrm>
              <a:off x="7650222" y="4955058"/>
              <a:ext cx="1007909" cy="683090"/>
            </a:xfrm>
            <a:prstGeom prst="roundRect">
              <a:avLst>
                <a:gd name="adj" fmla="val 2296"/>
              </a:avLst>
            </a:prstGeom>
            <a:solidFill>
              <a:srgbClr val="5B9BD5">
                <a:lumMod val="40000"/>
                <a:lumOff val="60000"/>
              </a:srgbClr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知识图谱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圆角矩形 45"/>
            <p:cNvSpPr/>
            <p:nvPr>
              <p:custDataLst>
                <p:tags r:id="rId21"/>
              </p:custDataLst>
            </p:nvPr>
          </p:nvSpPr>
          <p:spPr>
            <a:xfrm>
              <a:off x="7736494" y="5141012"/>
              <a:ext cx="835665" cy="128762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实体链接</a:t>
              </a:r>
            </a:p>
          </p:txBody>
        </p:sp>
        <p:sp>
          <p:nvSpPr>
            <p:cNvPr id="161" name="圆角矩形 46"/>
            <p:cNvSpPr/>
            <p:nvPr>
              <p:custDataLst>
                <p:tags r:id="rId22"/>
              </p:custDataLst>
            </p:nvPr>
          </p:nvSpPr>
          <p:spPr>
            <a:xfrm>
              <a:off x="7736494" y="5297408"/>
              <a:ext cx="835665" cy="140395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知识搜索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2" name="圆角矩形 47"/>
            <p:cNvSpPr/>
            <p:nvPr>
              <p:custDataLst>
                <p:tags r:id="rId23"/>
              </p:custDataLst>
            </p:nvPr>
          </p:nvSpPr>
          <p:spPr>
            <a:xfrm>
              <a:off x="7736493" y="5462717"/>
              <a:ext cx="835665" cy="124430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知识推荐</a:t>
              </a:r>
            </a:p>
          </p:txBody>
        </p:sp>
      </p:grpSp>
      <p:sp>
        <p:nvSpPr>
          <p:cNvPr id="163" name="矩形: 圆角 8"/>
          <p:cNvSpPr/>
          <p:nvPr>
            <p:custDataLst>
              <p:tags r:id="rId9"/>
            </p:custDataLst>
          </p:nvPr>
        </p:nvSpPr>
        <p:spPr>
          <a:xfrm>
            <a:off x="416935" y="5734954"/>
            <a:ext cx="3946447" cy="1083877"/>
          </a:xfrm>
          <a:prstGeom prst="roundRect">
            <a:avLst>
              <a:gd name="adj" fmla="val 2428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53975" tIns="45702" rIns="91404" bIns="45702" numCol="1" spcCol="0" rtlCol="0" fromWordArt="0" anchor="b" anchorCtr="0" forceAA="0" compatLnSpc="1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模型库</a:t>
            </a:r>
          </a:p>
        </p:txBody>
      </p:sp>
      <p:sp>
        <p:nvSpPr>
          <p:cNvPr id="164" name="矩形: 圆角 8"/>
          <p:cNvSpPr/>
          <p:nvPr>
            <p:custDataLst>
              <p:tags r:id="rId10"/>
            </p:custDataLst>
          </p:nvPr>
        </p:nvSpPr>
        <p:spPr>
          <a:xfrm>
            <a:off x="7553497" y="5734298"/>
            <a:ext cx="3712791" cy="1065311"/>
          </a:xfrm>
          <a:prstGeom prst="roundRect">
            <a:avLst>
              <a:gd name="adj" fmla="val 2428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53975" tIns="45702" rIns="91404" bIns="45702" numCol="1" spcCol="0" rtlCol="0" fromWordArt="0" anchor="b" anchorCtr="0" forceAA="0" compatLnSpc="1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原子服务</a:t>
            </a:r>
          </a:p>
        </p:txBody>
      </p:sp>
      <p:sp>
        <p:nvSpPr>
          <p:cNvPr id="165" name="圆角矩形 36"/>
          <p:cNvSpPr/>
          <p:nvPr>
            <p:custDataLst>
              <p:tags r:id="rId11"/>
            </p:custDataLst>
          </p:nvPr>
        </p:nvSpPr>
        <p:spPr>
          <a:xfrm>
            <a:off x="9849428" y="6081197"/>
            <a:ext cx="408967" cy="226014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ASR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6" name="圆角矩形 37"/>
          <p:cNvSpPr/>
          <p:nvPr>
            <p:custDataLst>
              <p:tags r:id="rId12"/>
            </p:custDataLst>
          </p:nvPr>
        </p:nvSpPr>
        <p:spPr>
          <a:xfrm>
            <a:off x="10051692" y="6404608"/>
            <a:ext cx="408967" cy="226014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TTS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6151939" y="5848624"/>
            <a:ext cx="1287538" cy="891036"/>
            <a:chOff x="6197877" y="4955057"/>
            <a:chExt cx="1434706" cy="694252"/>
          </a:xfrm>
        </p:grpSpPr>
        <p:sp>
          <p:nvSpPr>
            <p:cNvPr id="168" name="圆角矩形 26"/>
            <p:cNvSpPr/>
            <p:nvPr>
              <p:custDataLst>
                <p:tags r:id="rId15"/>
              </p:custDataLst>
            </p:nvPr>
          </p:nvSpPr>
          <p:spPr>
            <a:xfrm>
              <a:off x="6197877" y="4955057"/>
              <a:ext cx="1434706" cy="694252"/>
            </a:xfrm>
            <a:prstGeom prst="roundRect">
              <a:avLst>
                <a:gd name="adj" fmla="val 2296"/>
              </a:avLst>
            </a:prstGeom>
            <a:solidFill>
              <a:srgbClr val="5B9BD5">
                <a:lumMod val="40000"/>
                <a:lumOff val="60000"/>
              </a:srgbClr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推荐中间件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9" name="圆角矩形 27"/>
            <p:cNvSpPr/>
            <p:nvPr>
              <p:custDataLst>
                <p:tags r:id="rId16"/>
              </p:custDataLst>
            </p:nvPr>
          </p:nvSpPr>
          <p:spPr>
            <a:xfrm>
              <a:off x="6221161" y="5174644"/>
              <a:ext cx="666211" cy="174014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特征工程</a:t>
              </a:r>
            </a:p>
          </p:txBody>
        </p:sp>
        <p:sp>
          <p:nvSpPr>
            <p:cNvPr id="170" name="圆角矩形 28"/>
            <p:cNvSpPr/>
            <p:nvPr>
              <p:custDataLst>
                <p:tags r:id="rId17"/>
              </p:custDataLst>
            </p:nvPr>
          </p:nvSpPr>
          <p:spPr>
            <a:xfrm>
              <a:off x="6936068" y="5165500"/>
              <a:ext cx="627025" cy="174014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召回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1" name="圆角矩形 29"/>
            <p:cNvSpPr/>
            <p:nvPr>
              <p:custDataLst>
                <p:tags r:id="rId18"/>
              </p:custDataLst>
            </p:nvPr>
          </p:nvSpPr>
          <p:spPr>
            <a:xfrm>
              <a:off x="6216445" y="5403155"/>
              <a:ext cx="680659" cy="174233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排序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2" name="圆角矩形 30"/>
            <p:cNvSpPr/>
            <p:nvPr>
              <p:custDataLst>
                <p:tags r:id="rId19"/>
              </p:custDataLst>
            </p:nvPr>
          </p:nvSpPr>
          <p:spPr>
            <a:xfrm>
              <a:off x="6945428" y="5403154"/>
              <a:ext cx="618972" cy="174233"/>
            </a:xfrm>
            <a:prstGeom prst="roundRect">
              <a:avLst>
                <a:gd name="adj" fmla="val 6463"/>
              </a:avLst>
            </a:prstGeom>
            <a:solidFill>
              <a:srgbClr val="5B9BD5"/>
            </a:solidFill>
            <a:ln w="9525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调和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3" name="文本框 172"/>
          <p:cNvSpPr txBox="1"/>
          <p:nvPr>
            <p:custDataLst>
              <p:tags r:id="rId13"/>
            </p:custDataLst>
          </p:nvPr>
        </p:nvSpPr>
        <p:spPr>
          <a:xfrm>
            <a:off x="10555520" y="6461822"/>
            <a:ext cx="34404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数字人</a:t>
            </a:r>
          </a:p>
        </p:txBody>
      </p:sp>
      <p:sp>
        <p:nvSpPr>
          <p:cNvPr id="4" name="圆角矩形 24"/>
          <p:cNvSpPr/>
          <p:nvPr>
            <p:custDataLst>
              <p:tags r:id="rId14"/>
            </p:custDataLst>
          </p:nvPr>
        </p:nvSpPr>
        <p:spPr>
          <a:xfrm>
            <a:off x="2996201" y="6122564"/>
            <a:ext cx="651933" cy="225050"/>
          </a:xfrm>
          <a:prstGeom prst="roundRect">
            <a:avLst>
              <a:gd name="adj" fmla="val 6463"/>
            </a:avLst>
          </a:prstGeom>
          <a:solidFill>
            <a:srgbClr val="5B9BD5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DeepSeek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4" name="直接箭头连接符 103"/>
          <p:cNvCxnSpPr>
            <a:stCxn id="84" idx="0"/>
          </p:cNvCxnSpPr>
          <p:nvPr/>
        </p:nvCxnSpPr>
        <p:spPr>
          <a:xfrm flipV="1">
            <a:off x="2083453" y="3713632"/>
            <a:ext cx="0" cy="361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>
          <a:xfrm flipV="1">
            <a:off x="5047414" y="3723544"/>
            <a:ext cx="0" cy="354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>
            <a:stCxn id="39" idx="0"/>
          </p:cNvCxnSpPr>
          <p:nvPr/>
        </p:nvCxnSpPr>
        <p:spPr>
          <a:xfrm flipV="1">
            <a:off x="8372409" y="3707945"/>
            <a:ext cx="19126" cy="37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8" idx="0"/>
          </p:cNvCxnSpPr>
          <p:nvPr/>
        </p:nvCxnSpPr>
        <p:spPr>
          <a:xfrm flipV="1">
            <a:off x="9679498" y="2497897"/>
            <a:ext cx="0" cy="174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 flipV="1">
            <a:off x="9686743" y="3119666"/>
            <a:ext cx="0" cy="188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83"/>
          <p:cNvSpPr/>
          <p:nvPr/>
        </p:nvSpPr>
        <p:spPr>
          <a:xfrm>
            <a:off x="2957270" y="2368499"/>
            <a:ext cx="581210" cy="174835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语音纠错</a:t>
            </a:r>
          </a:p>
        </p:txBody>
      </p:sp>
      <p:sp>
        <p:nvSpPr>
          <p:cNvPr id="35" name="圆角矩形 85"/>
          <p:cNvSpPr/>
          <p:nvPr/>
        </p:nvSpPr>
        <p:spPr>
          <a:xfrm>
            <a:off x="2123004" y="2368499"/>
            <a:ext cx="676870" cy="174835"/>
          </a:xfrm>
          <a:prstGeom prst="roundRect">
            <a:avLst>
              <a:gd name="adj" fmla="val 6463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问题推荐</a:t>
            </a:r>
          </a:p>
        </p:txBody>
      </p:sp>
      <p:sp>
        <p:nvSpPr>
          <p:cNvPr id="37" name="圆角矩形 86"/>
          <p:cNvSpPr/>
          <p:nvPr/>
        </p:nvSpPr>
        <p:spPr>
          <a:xfrm>
            <a:off x="3695876" y="2368499"/>
            <a:ext cx="635638" cy="169696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语音识别</a:t>
            </a:r>
          </a:p>
        </p:txBody>
      </p:sp>
      <p:sp>
        <p:nvSpPr>
          <p:cNvPr id="116" name="圆角矩形 169"/>
          <p:cNvSpPr/>
          <p:nvPr/>
        </p:nvSpPr>
        <p:spPr>
          <a:xfrm>
            <a:off x="5246678" y="2360482"/>
            <a:ext cx="595007" cy="18381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 w="952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视觉纠错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293373" y="1076694"/>
            <a:ext cx="6625664" cy="5680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矩形: 圆角 36"/>
          <p:cNvSpPr/>
          <p:nvPr/>
        </p:nvSpPr>
        <p:spPr>
          <a:xfrm>
            <a:off x="446144" y="3072788"/>
            <a:ext cx="3337096" cy="2162667"/>
          </a:xfrm>
          <a:prstGeom prst="roundRect">
            <a:avLst>
              <a:gd name="adj" fmla="val 2298"/>
            </a:avLst>
          </a:prstGeom>
          <a:solidFill>
            <a:srgbClr val="CDFFCD">
              <a:alpha val="49804"/>
            </a:srgbClr>
          </a:solidFill>
          <a:ln>
            <a:solidFill>
              <a:srgbClr val="0099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897348" y="1259142"/>
            <a:ext cx="2838500" cy="1250898"/>
          </a:xfrm>
          <a:prstGeom prst="roundRect">
            <a:avLst>
              <a:gd name="adj" fmla="val 2298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公网用户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405865" y="1259142"/>
            <a:ext cx="2333529" cy="1250898"/>
          </a:xfrm>
          <a:prstGeom prst="roundRect">
            <a:avLst>
              <a:gd name="adj" fmla="val 2298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互联网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3522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02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63583"/>
            <a:ext cx="5294403" cy="57778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系统部署图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7112" y="2571996"/>
            <a:ext cx="468796" cy="468796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6766" y="1599858"/>
            <a:ext cx="414738" cy="414738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8267" y="1850052"/>
            <a:ext cx="414738" cy="414738"/>
          </a:xfrm>
          <a:prstGeom prst="rect">
            <a:avLst/>
          </a:prstGeom>
        </p:spPr>
      </p:pic>
      <p:pic>
        <p:nvPicPr>
          <p:cNvPr id="26" name="图形 2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7698" y="1622544"/>
            <a:ext cx="414738" cy="41473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175908" y="2215062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+mn-ea"/>
              </a:rPr>
              <a:t>DDOS</a:t>
            </a:r>
            <a:r>
              <a:rPr lang="zh-CN" altLang="en-US" sz="1100" dirty="0">
                <a:latin typeface="+mn-ea"/>
              </a:rPr>
              <a:t>防护</a:t>
            </a:r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99452" y="1525829"/>
            <a:ext cx="530358" cy="530358"/>
          </a:xfrm>
          <a:prstGeom prst="rect">
            <a:avLst/>
          </a:prstGeom>
        </p:spPr>
      </p:pic>
      <p:cxnSp>
        <p:nvCxnSpPr>
          <p:cNvPr id="30" name="直接连接符 29"/>
          <p:cNvCxnSpPr>
            <a:stCxn id="13" idx="3"/>
          </p:cNvCxnSpPr>
          <p:nvPr/>
        </p:nvCxnSpPr>
        <p:spPr>
          <a:xfrm>
            <a:off x="3291504" y="1807227"/>
            <a:ext cx="861684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形 17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68569" y="1768901"/>
            <a:ext cx="518027" cy="343064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07729" y="1757741"/>
            <a:ext cx="428168" cy="428168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9225" y="1707447"/>
            <a:ext cx="465973" cy="465973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4582940" y="2174997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+mn-ea"/>
              </a:rPr>
              <a:t>移动</a:t>
            </a:r>
            <a:r>
              <a:rPr lang="en-US" altLang="zh-CN" sz="1100" dirty="0">
                <a:latin typeface="+mn-ea"/>
              </a:rPr>
              <a:t>iPad</a:t>
            </a:r>
            <a:endParaRPr lang="zh-CN" altLang="en-US" sz="1100" dirty="0">
              <a:latin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326149" y="2174997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latin typeface="+mn-ea"/>
              </a:rPr>
              <a:t>笔记本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997846" y="2174997"/>
            <a:ext cx="6479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PC</a:t>
            </a:r>
            <a:r>
              <a:rPr lang="zh-CN" altLang="en-US" sz="1100" dirty="0">
                <a:latin typeface="+mn-ea"/>
              </a:rPr>
              <a:t>电脑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194942" y="2675532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+mn-ea"/>
              </a:rPr>
              <a:t>负载均衡</a:t>
            </a:r>
          </a:p>
        </p:txBody>
      </p:sp>
      <p:pic>
        <p:nvPicPr>
          <p:cNvPr id="38" name="图形 37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72922" y="3184563"/>
            <a:ext cx="408340" cy="408340"/>
          </a:xfrm>
          <a:prstGeom prst="rect">
            <a:avLst/>
          </a:prstGeom>
        </p:spPr>
      </p:pic>
      <p:pic>
        <p:nvPicPr>
          <p:cNvPr id="40" name="图形 39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153662" y="3184563"/>
            <a:ext cx="408340" cy="40834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197821" y="3642431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Nginx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1</a:t>
            </a:r>
            <a:endParaRPr lang="zh-CN" altLang="en-US" sz="1100" dirty="0">
              <a:latin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12224" y="3628607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Nginx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2</a:t>
            </a:r>
            <a:endParaRPr lang="zh-CN" altLang="en-US" sz="1100" dirty="0">
              <a:latin typeface="+mn-ea"/>
            </a:endParaRPr>
          </a:p>
        </p:txBody>
      </p:sp>
      <p:pic>
        <p:nvPicPr>
          <p:cNvPr id="43" name="图形 42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73435" y="4195730"/>
            <a:ext cx="408340" cy="408340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154175" y="4195730"/>
            <a:ext cx="408340" cy="40834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2198334" y="4653598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Java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1</a:t>
            </a:r>
            <a:endParaRPr lang="zh-CN" altLang="en-US" sz="1100" dirty="0">
              <a:latin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012737" y="4639774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Java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2</a:t>
            </a:r>
            <a:endParaRPr lang="zh-CN" altLang="en-US" sz="1100" dirty="0">
              <a:latin typeface="+mn-ea"/>
            </a:endParaRPr>
          </a:p>
        </p:txBody>
      </p:sp>
      <p:pic>
        <p:nvPicPr>
          <p:cNvPr id="47" name="图形 46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0541" y="4198275"/>
            <a:ext cx="408340" cy="408340"/>
          </a:xfrm>
          <a:prstGeom prst="rect">
            <a:avLst/>
          </a:prstGeom>
        </p:spPr>
      </p:pic>
      <p:pic>
        <p:nvPicPr>
          <p:cNvPr id="48" name="图形 47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20541" y="4198275"/>
            <a:ext cx="408340" cy="40834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555440" y="4656143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Python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1</a:t>
            </a:r>
            <a:endParaRPr lang="zh-CN" altLang="en-US" sz="1100" dirty="0">
              <a:latin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279103" y="4642319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Python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2</a:t>
            </a:r>
            <a:endParaRPr lang="zh-CN" altLang="en-US" sz="1100" dirty="0">
              <a:latin typeface="+mn-ea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446144" y="5410732"/>
            <a:ext cx="6289704" cy="1181976"/>
          </a:xfrm>
          <a:prstGeom prst="roundRect">
            <a:avLst>
              <a:gd name="adj" fmla="val 2298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983" y="5532110"/>
            <a:ext cx="539456" cy="46454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508151" y="6059531"/>
            <a:ext cx="7857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latin typeface="+mn-ea"/>
              </a:rPr>
              <a:t>云</a:t>
            </a:r>
            <a:r>
              <a:rPr lang="en-US" altLang="zh-CN" sz="1100" dirty="0">
                <a:latin typeface="+mn-ea"/>
              </a:rPr>
              <a:t>PGSQL</a:t>
            </a:r>
          </a:p>
          <a:p>
            <a:pPr algn="ctr"/>
            <a:r>
              <a:rPr lang="zh-CN" altLang="en-US" sz="1100" dirty="0">
                <a:latin typeface="+mn-ea"/>
              </a:rPr>
              <a:t>主节点</a:t>
            </a:r>
          </a:p>
        </p:txBody>
      </p:sp>
      <p:pic>
        <p:nvPicPr>
          <p:cNvPr id="53" name="图形 52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08895" y="5532110"/>
            <a:ext cx="539456" cy="46454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1252063" y="6059531"/>
            <a:ext cx="7857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latin typeface="+mn-ea"/>
              </a:rPr>
              <a:t>云</a:t>
            </a:r>
            <a:r>
              <a:rPr lang="en-US" altLang="zh-CN" sz="1100" dirty="0">
                <a:latin typeface="+mn-ea"/>
              </a:rPr>
              <a:t>PGSQL</a:t>
            </a:r>
          </a:p>
          <a:p>
            <a:pPr algn="ctr"/>
            <a:r>
              <a:rPr lang="zh-CN" altLang="en-US" sz="1100" dirty="0">
                <a:latin typeface="+mn-ea"/>
              </a:rPr>
              <a:t>从节点</a:t>
            </a:r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03354" y="5532110"/>
            <a:ext cx="539456" cy="464540"/>
          </a:xfrm>
          <a:prstGeom prst="rect">
            <a:avLst/>
          </a:prstGeom>
        </p:spPr>
      </p:pic>
      <p:sp>
        <p:nvSpPr>
          <p:cNvPr id="56" name="文本框 55"/>
          <p:cNvSpPr txBox="1"/>
          <p:nvPr/>
        </p:nvSpPr>
        <p:spPr>
          <a:xfrm>
            <a:off x="4018281" y="6059531"/>
            <a:ext cx="1042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Elasticsearch</a:t>
            </a:r>
          </a:p>
          <a:p>
            <a:pPr algn="ctr"/>
            <a:r>
              <a:rPr lang="zh-CN" altLang="en-US" sz="1100" dirty="0">
                <a:latin typeface="+mn-ea"/>
              </a:rPr>
              <a:t>主节点</a:t>
            </a:r>
          </a:p>
        </p:txBody>
      </p:sp>
      <p:pic>
        <p:nvPicPr>
          <p:cNvPr id="57" name="图形 56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86866" y="5532110"/>
            <a:ext cx="539456" cy="464540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4903397" y="6059531"/>
            <a:ext cx="10390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Elasticsearch</a:t>
            </a:r>
          </a:p>
          <a:p>
            <a:pPr algn="ctr"/>
            <a:r>
              <a:rPr lang="zh-CN" altLang="en-US" sz="1100" dirty="0">
                <a:latin typeface="+mn-ea"/>
              </a:rPr>
              <a:t>从节点</a:t>
            </a:r>
          </a:p>
        </p:txBody>
      </p:sp>
      <p:pic>
        <p:nvPicPr>
          <p:cNvPr id="59" name="图形 58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413131" y="5532110"/>
            <a:ext cx="539456" cy="464540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2345266" y="6059531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Redis</a:t>
            </a:r>
          </a:p>
          <a:p>
            <a:pPr algn="ctr"/>
            <a:r>
              <a:rPr lang="zh-CN" altLang="en-US" sz="1100" dirty="0">
                <a:latin typeface="+mn-ea"/>
              </a:rPr>
              <a:t>主节点</a:t>
            </a:r>
          </a:p>
        </p:txBody>
      </p:sp>
      <p:pic>
        <p:nvPicPr>
          <p:cNvPr id="61" name="图形 60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36103" y="5532110"/>
            <a:ext cx="539456" cy="464540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3105897" y="6054349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Redis</a:t>
            </a:r>
          </a:p>
          <a:p>
            <a:pPr algn="ctr"/>
            <a:r>
              <a:rPr lang="zh-CN" altLang="en-US" sz="1100" dirty="0">
                <a:latin typeface="+mn-ea"/>
              </a:rPr>
              <a:t>从节点</a:t>
            </a:r>
          </a:p>
        </p:txBody>
      </p:sp>
      <p:pic>
        <p:nvPicPr>
          <p:cNvPr id="63" name="图形 62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56418" y="5532110"/>
            <a:ext cx="539456" cy="464540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5772949" y="6059531"/>
            <a:ext cx="10390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Elasticsearch</a:t>
            </a:r>
          </a:p>
          <a:p>
            <a:pPr algn="ctr"/>
            <a:r>
              <a:rPr lang="zh-CN" altLang="en-US" sz="1100" dirty="0">
                <a:latin typeface="+mn-ea"/>
              </a:rPr>
              <a:t>从节点</a:t>
            </a:r>
          </a:p>
        </p:txBody>
      </p:sp>
      <p:sp>
        <p:nvSpPr>
          <p:cNvPr id="65" name="矩形 64"/>
          <p:cNvSpPr/>
          <p:nvPr/>
        </p:nvSpPr>
        <p:spPr>
          <a:xfrm>
            <a:off x="7387404" y="1390800"/>
            <a:ext cx="4448889" cy="5051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66" name="图形 6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6679" y="1649445"/>
            <a:ext cx="468796" cy="468796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9564509" y="1752981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+mn-ea"/>
              </a:rPr>
              <a:t>负载均衡</a:t>
            </a:r>
          </a:p>
        </p:txBody>
      </p:sp>
      <p:sp>
        <p:nvSpPr>
          <p:cNvPr id="68" name="矩形: 圆角 67"/>
          <p:cNvSpPr/>
          <p:nvPr/>
        </p:nvSpPr>
        <p:spPr>
          <a:xfrm>
            <a:off x="7934808" y="2287632"/>
            <a:ext cx="3337096" cy="2367218"/>
          </a:xfrm>
          <a:prstGeom prst="roundRect">
            <a:avLst>
              <a:gd name="adj" fmla="val 2298"/>
            </a:avLst>
          </a:prstGeom>
          <a:solidFill>
            <a:srgbClr val="CDFFCD">
              <a:alpha val="49804"/>
            </a:srgbClr>
          </a:solidFill>
          <a:ln>
            <a:solidFill>
              <a:srgbClr val="0099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9" name="图形 68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30809" y="2529797"/>
            <a:ext cx="408340" cy="408340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11839" y="2529797"/>
            <a:ext cx="408340" cy="408340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8555708" y="2987665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Nginx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1</a:t>
            </a:r>
            <a:endParaRPr lang="zh-CN" altLang="en-US" sz="1100" dirty="0">
              <a:latin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970401" y="2973841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Nginx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2</a:t>
            </a:r>
            <a:endParaRPr lang="zh-CN" altLang="en-US" sz="1100" dirty="0">
              <a:latin typeface="+mn-ea"/>
            </a:endParaRPr>
          </a:p>
        </p:txBody>
      </p:sp>
      <p:pic>
        <p:nvPicPr>
          <p:cNvPr id="73" name="图形 72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31322" y="3540964"/>
            <a:ext cx="408340" cy="408340"/>
          </a:xfrm>
          <a:prstGeom prst="rect">
            <a:avLst/>
          </a:prstGeom>
        </p:spPr>
      </p:pic>
      <p:pic>
        <p:nvPicPr>
          <p:cNvPr id="74" name="图形 73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12352" y="3540964"/>
            <a:ext cx="408340" cy="408340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8556221" y="3998832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Python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1</a:t>
            </a:r>
            <a:endParaRPr lang="zh-CN" altLang="en-US" sz="1100" dirty="0">
              <a:latin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970914" y="3985008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Java</a:t>
            </a:r>
          </a:p>
          <a:p>
            <a:pPr algn="ctr"/>
            <a:r>
              <a:rPr lang="zh-CN" altLang="en-US" sz="1100" dirty="0">
                <a:latin typeface="+mn-ea"/>
              </a:rPr>
              <a:t>服务器</a:t>
            </a:r>
            <a:r>
              <a:rPr lang="en-US" altLang="zh-CN" sz="1100" dirty="0">
                <a:latin typeface="+mn-ea"/>
              </a:rPr>
              <a:t>1</a:t>
            </a:r>
            <a:endParaRPr lang="zh-CN" altLang="en-US" sz="1100" dirty="0">
              <a:latin typeface="+mn-ea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7582689" y="4970074"/>
            <a:ext cx="4097003" cy="1181976"/>
          </a:xfrm>
          <a:prstGeom prst="roundRect">
            <a:avLst>
              <a:gd name="adj" fmla="val 2298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78" name="图形 77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39354" y="5099917"/>
            <a:ext cx="539456" cy="464540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7982522" y="5627338"/>
            <a:ext cx="7857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latin typeface="+mn-ea"/>
              </a:rPr>
              <a:t>云</a:t>
            </a:r>
            <a:r>
              <a:rPr lang="en-US" altLang="zh-CN" sz="1100" dirty="0">
                <a:latin typeface="+mn-ea"/>
              </a:rPr>
              <a:t>PGSQL</a:t>
            </a:r>
          </a:p>
          <a:p>
            <a:pPr algn="ctr"/>
            <a:r>
              <a:rPr lang="zh-CN" altLang="en-US" sz="1100" dirty="0">
                <a:latin typeface="+mn-ea"/>
              </a:rPr>
              <a:t>主节点</a:t>
            </a:r>
          </a:p>
        </p:txBody>
      </p:sp>
      <p:pic>
        <p:nvPicPr>
          <p:cNvPr id="80" name="图形 79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58125" y="5091452"/>
            <a:ext cx="539456" cy="464540"/>
          </a:xfrm>
          <a:prstGeom prst="rect">
            <a:avLst/>
          </a:prstGeom>
        </p:spPr>
      </p:pic>
      <p:sp>
        <p:nvSpPr>
          <p:cNvPr id="81" name="文本框 80"/>
          <p:cNvSpPr txBox="1"/>
          <p:nvPr/>
        </p:nvSpPr>
        <p:spPr>
          <a:xfrm>
            <a:off x="10373052" y="5618873"/>
            <a:ext cx="1042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Elasticsearch</a:t>
            </a:r>
          </a:p>
          <a:p>
            <a:pPr algn="ctr"/>
            <a:r>
              <a:rPr lang="zh-CN" altLang="en-US" sz="1100" dirty="0">
                <a:latin typeface="+mn-ea"/>
              </a:rPr>
              <a:t>主节点</a:t>
            </a:r>
          </a:p>
        </p:txBody>
      </p:sp>
      <p:pic>
        <p:nvPicPr>
          <p:cNvPr id="82" name="图形 81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65357" y="5122263"/>
            <a:ext cx="539456" cy="464540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9397492" y="5649684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latin typeface="+mn-ea"/>
              </a:rPr>
              <a:t>Redis</a:t>
            </a:r>
          </a:p>
          <a:p>
            <a:pPr algn="ctr"/>
            <a:r>
              <a:rPr lang="zh-CN" altLang="en-US" sz="1100" dirty="0">
                <a:latin typeface="+mn-ea"/>
              </a:rPr>
              <a:t>主节点</a:t>
            </a:r>
          </a:p>
        </p:txBody>
      </p:sp>
      <p:cxnSp>
        <p:nvCxnSpPr>
          <p:cNvPr id="85" name="连接符: 肘形 84"/>
          <p:cNvCxnSpPr>
            <a:stCxn id="14" idx="3"/>
            <a:endCxn id="65" idx="1"/>
          </p:cNvCxnSpPr>
          <p:nvPr/>
        </p:nvCxnSpPr>
        <p:spPr>
          <a:xfrm flipV="1">
            <a:off x="6919037" y="3916608"/>
            <a:ext cx="468367" cy="133"/>
          </a:xfrm>
          <a:prstGeom prst="bentConnector3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椭圆 993"/>
          <p:cNvSpPr/>
          <p:nvPr/>
        </p:nvSpPr>
        <p:spPr>
          <a:xfrm>
            <a:off x="-1246356" y="2020719"/>
            <a:ext cx="2728686" cy="27286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42900" dist="38100" dir="2700000" sx="101000" sy="101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5" name="椭圆 994"/>
          <p:cNvSpPr/>
          <p:nvPr/>
        </p:nvSpPr>
        <p:spPr>
          <a:xfrm>
            <a:off x="-2207273" y="1059802"/>
            <a:ext cx="4650522" cy="465052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6" name="椭圆 995"/>
          <p:cNvSpPr/>
          <p:nvPr/>
        </p:nvSpPr>
        <p:spPr>
          <a:xfrm>
            <a:off x="-2938180" y="321643"/>
            <a:ext cx="6199418" cy="61994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7" name="椭圆 996"/>
          <p:cNvSpPr/>
          <p:nvPr/>
        </p:nvSpPr>
        <p:spPr>
          <a:xfrm>
            <a:off x="-3719230" y="-459407"/>
            <a:ext cx="7761518" cy="77615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0" name="椭圆 999"/>
          <p:cNvSpPr/>
          <p:nvPr/>
        </p:nvSpPr>
        <p:spPr>
          <a:xfrm>
            <a:off x="2241333" y="161986"/>
            <a:ext cx="319314" cy="319314"/>
          </a:xfrm>
          <a:prstGeom prst="ellipse">
            <a:avLst/>
          </a:prstGeom>
          <a:gradFill flip="none" rotWithShape="1">
            <a:gsLst>
              <a:gs pos="3000">
                <a:schemeClr val="accent1">
                  <a:lumMod val="75000"/>
                </a:schemeClr>
              </a:gs>
              <a:gs pos="93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1" name="椭圆 1000"/>
          <p:cNvSpPr/>
          <p:nvPr/>
        </p:nvSpPr>
        <p:spPr>
          <a:xfrm>
            <a:off x="3510575" y="4925918"/>
            <a:ext cx="319314" cy="319314"/>
          </a:xfrm>
          <a:prstGeom prst="ellipse">
            <a:avLst/>
          </a:prstGeom>
          <a:gradFill>
            <a:gsLst>
              <a:gs pos="3000">
                <a:schemeClr val="accent3">
                  <a:lumMod val="75000"/>
                </a:schemeClr>
              </a:gs>
              <a:gs pos="93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Freeform: Shape 685"/>
          <p:cNvSpPr/>
          <p:nvPr/>
        </p:nvSpPr>
        <p:spPr>
          <a:xfrm>
            <a:off x="-606218" y="2640115"/>
            <a:ext cx="1448412" cy="1448412"/>
          </a:xfrm>
          <a:custGeom>
            <a:avLst/>
            <a:gdLst>
              <a:gd name="connsiteX0" fmla="*/ 1328357 w 1328356"/>
              <a:gd name="connsiteY0" fmla="*/ 664178 h 1328356"/>
              <a:gd name="connsiteX1" fmla="*/ 664178 w 1328356"/>
              <a:gd name="connsiteY1" fmla="*/ 1328357 h 1328356"/>
              <a:gd name="connsiteX2" fmla="*/ 0 w 1328356"/>
              <a:gd name="connsiteY2" fmla="*/ 664178 h 1328356"/>
              <a:gd name="connsiteX3" fmla="*/ 664178 w 1328356"/>
              <a:gd name="connsiteY3" fmla="*/ 0 h 1328356"/>
              <a:gd name="connsiteX4" fmla="*/ 1328357 w 1328356"/>
              <a:gd name="connsiteY4" fmla="*/ 664178 h 13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356" h="1328356">
                <a:moveTo>
                  <a:pt x="1328357" y="664178"/>
                </a:moveTo>
                <a:cubicBezTo>
                  <a:pt x="1328357" y="1030994"/>
                  <a:pt x="1030994" y="1328357"/>
                  <a:pt x="664178" y="1328357"/>
                </a:cubicBezTo>
                <a:cubicBezTo>
                  <a:pt x="297363" y="1328357"/>
                  <a:pt x="0" y="1030994"/>
                  <a:pt x="0" y="664178"/>
                </a:cubicBezTo>
                <a:cubicBezTo>
                  <a:pt x="0" y="297363"/>
                  <a:pt x="297363" y="0"/>
                  <a:pt x="664178" y="0"/>
                </a:cubicBezTo>
                <a:cubicBezTo>
                  <a:pt x="1030994" y="0"/>
                  <a:pt x="1328357" y="297363"/>
                  <a:pt x="1328357" y="664178"/>
                </a:cubicBez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0"/>
                </a:schemeClr>
              </a:gs>
              <a:gs pos="74000">
                <a:schemeClr val="accent1"/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0" dist="444500" dir="8100000" sx="90000" sy="90000" algn="tr" rotWithShape="0">
              <a:prstClr val="black">
                <a:alpha val="8000"/>
              </a:prstClr>
            </a:outerShdw>
            <a:softEdge rad="0"/>
          </a:effectLst>
        </p:spPr>
        <p:txBody>
          <a:bodyPr rtlCol="0" anchor="ctr"/>
          <a:lstStyle/>
          <a:p>
            <a:pPr algn="ctr">
              <a:defRPr/>
            </a:pPr>
            <a:endParaRPr lang="en-ID" sz="4400" b="1" kern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40" name="标题 1"/>
          <p:cNvSpPr txBox="1"/>
          <p:nvPr/>
        </p:nvSpPr>
        <p:spPr>
          <a:xfrm>
            <a:off x="5824486" y="3046664"/>
            <a:ext cx="5645081" cy="98911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功能介绍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881649" y="4189076"/>
            <a:ext cx="2579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  <a:alpha val="52000"/>
                  </a:schemeClr>
                </a:solidFill>
                <a:latin typeface="+mn-ea"/>
              </a:rPr>
              <a:t>Function Introduction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923016" y="4650148"/>
            <a:ext cx="5012594" cy="76182"/>
            <a:chOff x="867506" y="2506993"/>
            <a:chExt cx="5012594" cy="76182"/>
          </a:xfrm>
        </p:grpSpPr>
        <p:cxnSp>
          <p:nvCxnSpPr>
            <p:cNvPr id="3" name="直接连接符"/>
            <p:cNvCxnSpPr/>
            <p:nvPr/>
          </p:nvCxnSpPr>
          <p:spPr>
            <a:xfrm>
              <a:off x="867506" y="2550808"/>
              <a:ext cx="50125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"/>
            <p:cNvSpPr/>
            <p:nvPr/>
          </p:nvSpPr>
          <p:spPr>
            <a:xfrm>
              <a:off x="872586" y="2506993"/>
              <a:ext cx="2251614" cy="7618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accent2"/>
                </a:solidFill>
                <a:latin typeface="+mj-ea"/>
                <a:ea typeface="+mj-ea"/>
                <a:cs typeface="OPPOSans B" panose="00020600040101010101" pitchFamily="18" charset="-122"/>
              </a:endParaRPr>
            </a:p>
          </p:txBody>
        </p:sp>
      </p:grpSp>
      <p:sp>
        <p:nvSpPr>
          <p:cNvPr id="5" name="圆角矩形"/>
          <p:cNvSpPr/>
          <p:nvPr/>
        </p:nvSpPr>
        <p:spPr>
          <a:xfrm>
            <a:off x="5824487" y="2232228"/>
            <a:ext cx="2253732" cy="528081"/>
          </a:xfrm>
          <a:prstGeom prst="roundRect">
            <a:avLst>
              <a:gd name="adj" fmla="val 50000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OPPOSans B" panose="00020600040101010101" pitchFamily="18" charset="-122"/>
              </a:rPr>
              <a:t>第三部分</a:t>
            </a:r>
          </a:p>
        </p:txBody>
      </p:sp>
      <p:sp>
        <p:nvSpPr>
          <p:cNvPr id="23" name="觅知网-不倒翁ID:189359941"/>
          <p:cNvSpPr/>
          <p:nvPr/>
        </p:nvSpPr>
        <p:spPr>
          <a:xfrm>
            <a:off x="10828423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4" name="觅知网-不倒翁ID:189359941"/>
          <p:cNvSpPr/>
          <p:nvPr/>
        </p:nvSpPr>
        <p:spPr>
          <a:xfrm>
            <a:off x="1108991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5" name="觅知网-不倒翁ID:189359941"/>
          <p:cNvSpPr/>
          <p:nvPr/>
        </p:nvSpPr>
        <p:spPr>
          <a:xfrm>
            <a:off x="1135140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6" name="8"/>
          <p:cNvSpPr/>
          <p:nvPr/>
        </p:nvSpPr>
        <p:spPr>
          <a:xfrm>
            <a:off x="295228" y="-142653"/>
            <a:ext cx="928928" cy="928592"/>
          </a:xfrm>
          <a:prstGeom prst="ellipse">
            <a:avLst/>
          </a:prstGeom>
          <a:gradFill flip="none" rotWithShape="1">
            <a:gsLst>
              <a:gs pos="1000">
                <a:schemeClr val="accent1">
                  <a:lumMod val="10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7" name="8"/>
          <p:cNvSpPr/>
          <p:nvPr/>
        </p:nvSpPr>
        <p:spPr>
          <a:xfrm>
            <a:off x="2122468" y="3287559"/>
            <a:ext cx="526678" cy="526488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8" name="8"/>
          <p:cNvSpPr/>
          <p:nvPr/>
        </p:nvSpPr>
        <p:spPr>
          <a:xfrm>
            <a:off x="2500149" y="1494231"/>
            <a:ext cx="335200" cy="33507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9" name="8"/>
          <p:cNvSpPr/>
          <p:nvPr/>
        </p:nvSpPr>
        <p:spPr>
          <a:xfrm>
            <a:off x="1109519" y="6005663"/>
            <a:ext cx="442980" cy="44282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81" y="218315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521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55600"/>
            <a:ext cx="5294403" cy="593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项目创新性</a:t>
            </a:r>
            <a:endParaRPr kumimoji="1" lang="zh-CN" altLang="en-US" sz="11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932861" y="4215987"/>
            <a:ext cx="591429" cy="591429"/>
          </a:xfrm>
          <a:prstGeom prst="ellipse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kern="0">
              <a:solidFill>
                <a:prstClr val="white"/>
              </a:solidFill>
              <a:ea typeface="微软雅黑 Light" panose="020B0502040204020203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905720" y="1686887"/>
            <a:ext cx="591429" cy="591429"/>
          </a:xfrm>
          <a:prstGeom prst="ellipse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kern="0">
              <a:solidFill>
                <a:prstClr val="white"/>
              </a:solidFill>
              <a:ea typeface="微软雅黑 Light" panose="020B0502040204020203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351979" y="4158411"/>
            <a:ext cx="591429" cy="591429"/>
          </a:xfrm>
          <a:prstGeom prst="ellipse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kern="0">
              <a:solidFill>
                <a:prstClr val="white"/>
              </a:solidFill>
              <a:ea typeface="微软雅黑 Light" panose="020B0502040204020203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555625" y="1622567"/>
            <a:ext cx="591429" cy="591429"/>
          </a:xfrm>
          <a:prstGeom prst="ellipse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kern="0">
              <a:solidFill>
                <a:prstClr val="white"/>
              </a:solidFill>
              <a:ea typeface="微软雅黑 Light" panose="020B0502040204020203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671039" y="648658"/>
            <a:ext cx="1037585" cy="1037585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9000"/>
                </a:schemeClr>
              </a:gs>
              <a:gs pos="49000">
                <a:schemeClr val="accent1">
                  <a:alpha val="16000"/>
                </a:schemeClr>
              </a:gs>
              <a:gs pos="9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15"/>
          </a:p>
        </p:txBody>
      </p:sp>
      <p:sp>
        <p:nvSpPr>
          <p:cNvPr id="25" name="椭圆 24"/>
          <p:cNvSpPr/>
          <p:nvPr/>
        </p:nvSpPr>
        <p:spPr>
          <a:xfrm>
            <a:off x="3859439" y="2085769"/>
            <a:ext cx="478519" cy="478519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</a:gradFill>
          <a:ln>
            <a:noFill/>
          </a:ln>
          <a:effectLst>
            <a:softEdge rad="88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15"/>
          </a:p>
        </p:txBody>
      </p:sp>
      <p:grpSp>
        <p:nvGrpSpPr>
          <p:cNvPr id="27" name="组合 26"/>
          <p:cNvGrpSpPr/>
          <p:nvPr/>
        </p:nvGrpSpPr>
        <p:grpSpPr>
          <a:xfrm>
            <a:off x="5690947" y="1843451"/>
            <a:ext cx="822711" cy="796567"/>
            <a:chOff x="12609513" y="2560638"/>
            <a:chExt cx="3197225" cy="3095625"/>
          </a:xfrm>
          <a:gradFill flip="none" rotWithShape="1">
            <a:gsLst>
              <a:gs pos="13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</p:grpSpPr>
        <p:sp>
          <p:nvSpPr>
            <p:cNvPr id="62" name="Freeform 65"/>
            <p:cNvSpPr>
              <a:spLocks noEditPoints="1"/>
            </p:cNvSpPr>
            <p:nvPr/>
          </p:nvSpPr>
          <p:spPr bwMode="auto">
            <a:xfrm>
              <a:off x="12609513" y="2763838"/>
              <a:ext cx="2643188" cy="2892425"/>
            </a:xfrm>
            <a:custGeom>
              <a:avLst/>
              <a:gdLst>
                <a:gd name="T0" fmla="*/ 615 w 700"/>
                <a:gd name="T1" fmla="*/ 579 h 766"/>
                <a:gd name="T2" fmla="*/ 615 w 700"/>
                <a:gd name="T3" fmla="*/ 602 h 766"/>
                <a:gd name="T4" fmla="*/ 582 w 700"/>
                <a:gd name="T5" fmla="*/ 634 h 766"/>
                <a:gd name="T6" fmla="*/ 474 w 700"/>
                <a:gd name="T7" fmla="*/ 634 h 766"/>
                <a:gd name="T8" fmla="*/ 463 w 700"/>
                <a:gd name="T9" fmla="*/ 634 h 766"/>
                <a:gd name="T10" fmla="*/ 476 w 700"/>
                <a:gd name="T11" fmla="*/ 660 h 766"/>
                <a:gd name="T12" fmla="*/ 520 w 700"/>
                <a:gd name="T13" fmla="*/ 745 h 766"/>
                <a:gd name="T14" fmla="*/ 509 w 700"/>
                <a:gd name="T15" fmla="*/ 764 h 766"/>
                <a:gd name="T16" fmla="*/ 497 w 700"/>
                <a:gd name="T17" fmla="*/ 754 h 766"/>
                <a:gd name="T18" fmla="*/ 440 w 700"/>
                <a:gd name="T19" fmla="*/ 642 h 766"/>
                <a:gd name="T20" fmla="*/ 426 w 700"/>
                <a:gd name="T21" fmla="*/ 634 h 766"/>
                <a:gd name="T22" fmla="*/ 308 w 700"/>
                <a:gd name="T23" fmla="*/ 634 h 766"/>
                <a:gd name="T24" fmla="*/ 295 w 700"/>
                <a:gd name="T25" fmla="*/ 641 h 766"/>
                <a:gd name="T26" fmla="*/ 237 w 700"/>
                <a:gd name="T27" fmla="*/ 754 h 766"/>
                <a:gd name="T28" fmla="*/ 227 w 700"/>
                <a:gd name="T29" fmla="*/ 764 h 766"/>
                <a:gd name="T30" fmla="*/ 216 w 700"/>
                <a:gd name="T31" fmla="*/ 760 h 766"/>
                <a:gd name="T32" fmla="*/ 215 w 700"/>
                <a:gd name="T33" fmla="*/ 746 h 766"/>
                <a:gd name="T34" fmla="*/ 248 w 700"/>
                <a:gd name="T35" fmla="*/ 681 h 766"/>
                <a:gd name="T36" fmla="*/ 272 w 700"/>
                <a:gd name="T37" fmla="*/ 634 h 766"/>
                <a:gd name="T38" fmla="*/ 260 w 700"/>
                <a:gd name="T39" fmla="*/ 634 h 766"/>
                <a:gd name="T40" fmla="*/ 152 w 700"/>
                <a:gd name="T41" fmla="*/ 634 h 766"/>
                <a:gd name="T42" fmla="*/ 121 w 700"/>
                <a:gd name="T43" fmla="*/ 603 h 766"/>
                <a:gd name="T44" fmla="*/ 121 w 700"/>
                <a:gd name="T45" fmla="*/ 579 h 766"/>
                <a:gd name="T46" fmla="*/ 53 w 700"/>
                <a:gd name="T47" fmla="*/ 579 h 766"/>
                <a:gd name="T48" fmla="*/ 1 w 700"/>
                <a:gd name="T49" fmla="*/ 528 h 766"/>
                <a:gd name="T50" fmla="*/ 1 w 700"/>
                <a:gd name="T51" fmla="*/ 44 h 766"/>
                <a:gd name="T52" fmla="*/ 43 w 700"/>
                <a:gd name="T53" fmla="*/ 2 h 766"/>
                <a:gd name="T54" fmla="*/ 88 w 700"/>
                <a:gd name="T55" fmla="*/ 2 h 766"/>
                <a:gd name="T56" fmla="*/ 106 w 700"/>
                <a:gd name="T57" fmla="*/ 14 h 766"/>
                <a:gd name="T58" fmla="*/ 88 w 700"/>
                <a:gd name="T59" fmla="*/ 26 h 766"/>
                <a:gd name="T60" fmla="*/ 39 w 700"/>
                <a:gd name="T61" fmla="*/ 26 h 766"/>
                <a:gd name="T62" fmla="*/ 25 w 700"/>
                <a:gd name="T63" fmla="*/ 40 h 766"/>
                <a:gd name="T64" fmla="*/ 25 w 700"/>
                <a:gd name="T65" fmla="*/ 47 h 766"/>
                <a:gd name="T66" fmla="*/ 25 w 700"/>
                <a:gd name="T67" fmla="*/ 534 h 766"/>
                <a:gd name="T68" fmla="*/ 45 w 700"/>
                <a:gd name="T69" fmla="*/ 554 h 766"/>
                <a:gd name="T70" fmla="*/ 678 w 700"/>
                <a:gd name="T71" fmla="*/ 554 h 766"/>
                <a:gd name="T72" fmla="*/ 691 w 700"/>
                <a:gd name="T73" fmla="*/ 555 h 766"/>
                <a:gd name="T74" fmla="*/ 700 w 700"/>
                <a:gd name="T75" fmla="*/ 567 h 766"/>
                <a:gd name="T76" fmla="*/ 690 w 700"/>
                <a:gd name="T77" fmla="*/ 578 h 766"/>
                <a:gd name="T78" fmla="*/ 674 w 700"/>
                <a:gd name="T79" fmla="*/ 579 h 766"/>
                <a:gd name="T80" fmla="*/ 615 w 700"/>
                <a:gd name="T81" fmla="*/ 579 h 766"/>
                <a:gd name="T82" fmla="*/ 145 w 700"/>
                <a:gd name="T83" fmla="*/ 579 h 766"/>
                <a:gd name="T84" fmla="*/ 145 w 700"/>
                <a:gd name="T85" fmla="*/ 596 h 766"/>
                <a:gd name="T86" fmla="*/ 159 w 700"/>
                <a:gd name="T87" fmla="*/ 609 h 766"/>
                <a:gd name="T88" fmla="*/ 576 w 700"/>
                <a:gd name="T89" fmla="*/ 609 h 766"/>
                <a:gd name="T90" fmla="*/ 584 w 700"/>
                <a:gd name="T91" fmla="*/ 609 h 766"/>
                <a:gd name="T92" fmla="*/ 589 w 700"/>
                <a:gd name="T93" fmla="*/ 604 h 766"/>
                <a:gd name="T94" fmla="*/ 589 w 700"/>
                <a:gd name="T95" fmla="*/ 579 h 766"/>
                <a:gd name="T96" fmla="*/ 145 w 700"/>
                <a:gd name="T97" fmla="*/ 579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00" h="766">
                  <a:moveTo>
                    <a:pt x="615" y="579"/>
                  </a:moveTo>
                  <a:cubicBezTo>
                    <a:pt x="615" y="587"/>
                    <a:pt x="615" y="595"/>
                    <a:pt x="615" y="602"/>
                  </a:cubicBezTo>
                  <a:cubicBezTo>
                    <a:pt x="614" y="623"/>
                    <a:pt x="603" y="634"/>
                    <a:pt x="582" y="634"/>
                  </a:cubicBezTo>
                  <a:cubicBezTo>
                    <a:pt x="546" y="634"/>
                    <a:pt x="510" y="634"/>
                    <a:pt x="474" y="634"/>
                  </a:cubicBezTo>
                  <a:cubicBezTo>
                    <a:pt x="471" y="634"/>
                    <a:pt x="468" y="634"/>
                    <a:pt x="463" y="634"/>
                  </a:cubicBezTo>
                  <a:cubicBezTo>
                    <a:pt x="468" y="643"/>
                    <a:pt x="472" y="652"/>
                    <a:pt x="476" y="660"/>
                  </a:cubicBezTo>
                  <a:cubicBezTo>
                    <a:pt x="491" y="688"/>
                    <a:pt x="506" y="717"/>
                    <a:pt x="520" y="745"/>
                  </a:cubicBezTo>
                  <a:cubicBezTo>
                    <a:pt x="525" y="756"/>
                    <a:pt x="520" y="766"/>
                    <a:pt x="509" y="764"/>
                  </a:cubicBezTo>
                  <a:cubicBezTo>
                    <a:pt x="505" y="763"/>
                    <a:pt x="500" y="759"/>
                    <a:pt x="497" y="754"/>
                  </a:cubicBezTo>
                  <a:cubicBezTo>
                    <a:pt x="478" y="717"/>
                    <a:pt x="459" y="680"/>
                    <a:pt x="440" y="642"/>
                  </a:cubicBezTo>
                  <a:cubicBezTo>
                    <a:pt x="437" y="636"/>
                    <a:pt x="433" y="634"/>
                    <a:pt x="426" y="634"/>
                  </a:cubicBezTo>
                  <a:cubicBezTo>
                    <a:pt x="387" y="634"/>
                    <a:pt x="348" y="634"/>
                    <a:pt x="308" y="634"/>
                  </a:cubicBezTo>
                  <a:cubicBezTo>
                    <a:pt x="302" y="634"/>
                    <a:pt x="298" y="635"/>
                    <a:pt x="295" y="641"/>
                  </a:cubicBezTo>
                  <a:cubicBezTo>
                    <a:pt x="276" y="679"/>
                    <a:pt x="257" y="717"/>
                    <a:pt x="237" y="754"/>
                  </a:cubicBezTo>
                  <a:cubicBezTo>
                    <a:pt x="235" y="758"/>
                    <a:pt x="231" y="763"/>
                    <a:pt x="227" y="764"/>
                  </a:cubicBezTo>
                  <a:cubicBezTo>
                    <a:pt x="224" y="765"/>
                    <a:pt x="218" y="763"/>
                    <a:pt x="216" y="760"/>
                  </a:cubicBezTo>
                  <a:cubicBezTo>
                    <a:pt x="214" y="756"/>
                    <a:pt x="213" y="750"/>
                    <a:pt x="215" y="746"/>
                  </a:cubicBezTo>
                  <a:cubicBezTo>
                    <a:pt x="226" y="724"/>
                    <a:pt x="237" y="702"/>
                    <a:pt x="248" y="681"/>
                  </a:cubicBezTo>
                  <a:cubicBezTo>
                    <a:pt x="256" y="666"/>
                    <a:pt x="263" y="651"/>
                    <a:pt x="272" y="634"/>
                  </a:cubicBezTo>
                  <a:cubicBezTo>
                    <a:pt x="267" y="634"/>
                    <a:pt x="264" y="634"/>
                    <a:pt x="260" y="634"/>
                  </a:cubicBezTo>
                  <a:cubicBezTo>
                    <a:pt x="224" y="634"/>
                    <a:pt x="188" y="634"/>
                    <a:pt x="152" y="634"/>
                  </a:cubicBezTo>
                  <a:cubicBezTo>
                    <a:pt x="132" y="634"/>
                    <a:pt x="121" y="623"/>
                    <a:pt x="121" y="603"/>
                  </a:cubicBezTo>
                  <a:cubicBezTo>
                    <a:pt x="121" y="595"/>
                    <a:pt x="121" y="587"/>
                    <a:pt x="121" y="579"/>
                  </a:cubicBezTo>
                  <a:cubicBezTo>
                    <a:pt x="97" y="579"/>
                    <a:pt x="75" y="578"/>
                    <a:pt x="53" y="579"/>
                  </a:cubicBezTo>
                  <a:cubicBezTo>
                    <a:pt x="15" y="581"/>
                    <a:pt x="0" y="568"/>
                    <a:pt x="1" y="528"/>
                  </a:cubicBezTo>
                  <a:cubicBezTo>
                    <a:pt x="2" y="366"/>
                    <a:pt x="1" y="205"/>
                    <a:pt x="1" y="44"/>
                  </a:cubicBezTo>
                  <a:cubicBezTo>
                    <a:pt x="0" y="15"/>
                    <a:pt x="20" y="0"/>
                    <a:pt x="43" y="2"/>
                  </a:cubicBezTo>
                  <a:cubicBezTo>
                    <a:pt x="58" y="3"/>
                    <a:pt x="73" y="2"/>
                    <a:pt x="88" y="2"/>
                  </a:cubicBezTo>
                  <a:cubicBezTo>
                    <a:pt x="100" y="2"/>
                    <a:pt x="106" y="6"/>
                    <a:pt x="106" y="14"/>
                  </a:cubicBezTo>
                  <a:cubicBezTo>
                    <a:pt x="106" y="23"/>
                    <a:pt x="101" y="26"/>
                    <a:pt x="88" y="26"/>
                  </a:cubicBezTo>
                  <a:cubicBezTo>
                    <a:pt x="72" y="26"/>
                    <a:pt x="56" y="26"/>
                    <a:pt x="39" y="26"/>
                  </a:cubicBezTo>
                  <a:cubicBezTo>
                    <a:pt x="29" y="26"/>
                    <a:pt x="26" y="30"/>
                    <a:pt x="25" y="40"/>
                  </a:cubicBezTo>
                  <a:cubicBezTo>
                    <a:pt x="25" y="42"/>
                    <a:pt x="25" y="45"/>
                    <a:pt x="25" y="47"/>
                  </a:cubicBezTo>
                  <a:cubicBezTo>
                    <a:pt x="25" y="209"/>
                    <a:pt x="25" y="372"/>
                    <a:pt x="25" y="534"/>
                  </a:cubicBezTo>
                  <a:cubicBezTo>
                    <a:pt x="25" y="552"/>
                    <a:pt x="27" y="554"/>
                    <a:pt x="45" y="554"/>
                  </a:cubicBezTo>
                  <a:cubicBezTo>
                    <a:pt x="256" y="554"/>
                    <a:pt x="467" y="554"/>
                    <a:pt x="678" y="554"/>
                  </a:cubicBezTo>
                  <a:cubicBezTo>
                    <a:pt x="682" y="554"/>
                    <a:pt x="688" y="553"/>
                    <a:pt x="691" y="555"/>
                  </a:cubicBezTo>
                  <a:cubicBezTo>
                    <a:pt x="695" y="558"/>
                    <a:pt x="700" y="563"/>
                    <a:pt x="700" y="567"/>
                  </a:cubicBezTo>
                  <a:cubicBezTo>
                    <a:pt x="700" y="571"/>
                    <a:pt x="694" y="576"/>
                    <a:pt x="690" y="578"/>
                  </a:cubicBezTo>
                  <a:cubicBezTo>
                    <a:pt x="686" y="580"/>
                    <a:pt x="680" y="579"/>
                    <a:pt x="674" y="579"/>
                  </a:cubicBezTo>
                  <a:cubicBezTo>
                    <a:pt x="655" y="579"/>
                    <a:pt x="635" y="579"/>
                    <a:pt x="615" y="579"/>
                  </a:cubicBezTo>
                  <a:close/>
                  <a:moveTo>
                    <a:pt x="145" y="579"/>
                  </a:moveTo>
                  <a:cubicBezTo>
                    <a:pt x="145" y="585"/>
                    <a:pt x="145" y="591"/>
                    <a:pt x="145" y="596"/>
                  </a:cubicBezTo>
                  <a:cubicBezTo>
                    <a:pt x="145" y="609"/>
                    <a:pt x="145" y="609"/>
                    <a:pt x="159" y="609"/>
                  </a:cubicBezTo>
                  <a:cubicBezTo>
                    <a:pt x="298" y="609"/>
                    <a:pt x="437" y="609"/>
                    <a:pt x="576" y="609"/>
                  </a:cubicBezTo>
                  <a:cubicBezTo>
                    <a:pt x="579" y="609"/>
                    <a:pt x="581" y="610"/>
                    <a:pt x="584" y="609"/>
                  </a:cubicBezTo>
                  <a:cubicBezTo>
                    <a:pt x="586" y="608"/>
                    <a:pt x="589" y="606"/>
                    <a:pt x="589" y="604"/>
                  </a:cubicBezTo>
                  <a:cubicBezTo>
                    <a:pt x="590" y="596"/>
                    <a:pt x="589" y="588"/>
                    <a:pt x="589" y="579"/>
                  </a:cubicBezTo>
                  <a:cubicBezTo>
                    <a:pt x="441" y="579"/>
                    <a:pt x="294" y="579"/>
                    <a:pt x="145" y="5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3" name="Freeform 66"/>
            <p:cNvSpPr>
              <a:spLocks noEditPoints="1"/>
            </p:cNvSpPr>
            <p:nvPr/>
          </p:nvSpPr>
          <p:spPr bwMode="auto">
            <a:xfrm>
              <a:off x="14444663" y="3333751"/>
              <a:ext cx="1362075" cy="1858963"/>
            </a:xfrm>
            <a:custGeom>
              <a:avLst/>
              <a:gdLst>
                <a:gd name="T0" fmla="*/ 0 w 361"/>
                <a:gd name="T1" fmla="*/ 183 h 492"/>
                <a:gd name="T2" fmla="*/ 103 w 361"/>
                <a:gd name="T3" fmla="*/ 33 h 492"/>
                <a:gd name="T4" fmla="*/ 309 w 361"/>
                <a:gd name="T5" fmla="*/ 121 h 492"/>
                <a:gd name="T6" fmla="*/ 286 w 361"/>
                <a:gd name="T7" fmla="*/ 282 h 492"/>
                <a:gd name="T8" fmla="*/ 285 w 361"/>
                <a:gd name="T9" fmla="*/ 305 h 492"/>
                <a:gd name="T10" fmla="*/ 347 w 361"/>
                <a:gd name="T11" fmla="*/ 412 h 492"/>
                <a:gd name="T12" fmla="*/ 333 w 361"/>
                <a:gd name="T13" fmla="*/ 478 h 492"/>
                <a:gd name="T14" fmla="*/ 267 w 361"/>
                <a:gd name="T15" fmla="*/ 460 h 492"/>
                <a:gd name="T16" fmla="*/ 203 w 361"/>
                <a:gd name="T17" fmla="*/ 350 h 492"/>
                <a:gd name="T18" fmla="*/ 185 w 361"/>
                <a:gd name="T19" fmla="*/ 341 h 492"/>
                <a:gd name="T20" fmla="*/ 3 w 361"/>
                <a:gd name="T21" fmla="*/ 213 h 492"/>
                <a:gd name="T22" fmla="*/ 0 w 361"/>
                <a:gd name="T23" fmla="*/ 183 h 492"/>
                <a:gd name="T24" fmla="*/ 159 w 361"/>
                <a:gd name="T25" fmla="*/ 47 h 492"/>
                <a:gd name="T26" fmla="*/ 25 w 361"/>
                <a:gd name="T27" fmla="*/ 186 h 492"/>
                <a:gd name="T28" fmla="*/ 162 w 361"/>
                <a:gd name="T29" fmla="*/ 319 h 492"/>
                <a:gd name="T30" fmla="*/ 297 w 361"/>
                <a:gd name="T31" fmla="*/ 179 h 492"/>
                <a:gd name="T32" fmla="*/ 159 w 361"/>
                <a:gd name="T33" fmla="*/ 47 h 492"/>
                <a:gd name="T34" fmla="*/ 260 w 361"/>
                <a:gd name="T35" fmla="*/ 310 h 492"/>
                <a:gd name="T36" fmla="*/ 222 w 361"/>
                <a:gd name="T37" fmla="*/ 333 h 492"/>
                <a:gd name="T38" fmla="*/ 290 w 361"/>
                <a:gd name="T39" fmla="*/ 450 h 492"/>
                <a:gd name="T40" fmla="*/ 320 w 361"/>
                <a:gd name="T41" fmla="*/ 457 h 492"/>
                <a:gd name="T42" fmla="*/ 327 w 361"/>
                <a:gd name="T43" fmla="*/ 428 h 492"/>
                <a:gd name="T44" fmla="*/ 260 w 361"/>
                <a:gd name="T45" fmla="*/ 31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61" h="492">
                  <a:moveTo>
                    <a:pt x="0" y="183"/>
                  </a:moveTo>
                  <a:cubicBezTo>
                    <a:pt x="4" y="111"/>
                    <a:pt x="37" y="60"/>
                    <a:pt x="103" y="33"/>
                  </a:cubicBezTo>
                  <a:cubicBezTo>
                    <a:pt x="182" y="0"/>
                    <a:pt x="277" y="41"/>
                    <a:pt x="309" y="121"/>
                  </a:cubicBezTo>
                  <a:cubicBezTo>
                    <a:pt x="332" y="179"/>
                    <a:pt x="324" y="233"/>
                    <a:pt x="286" y="282"/>
                  </a:cubicBezTo>
                  <a:cubicBezTo>
                    <a:pt x="280" y="291"/>
                    <a:pt x="279" y="296"/>
                    <a:pt x="285" y="305"/>
                  </a:cubicBezTo>
                  <a:cubicBezTo>
                    <a:pt x="306" y="341"/>
                    <a:pt x="327" y="377"/>
                    <a:pt x="347" y="412"/>
                  </a:cubicBezTo>
                  <a:cubicBezTo>
                    <a:pt x="361" y="437"/>
                    <a:pt x="355" y="465"/>
                    <a:pt x="333" y="478"/>
                  </a:cubicBezTo>
                  <a:cubicBezTo>
                    <a:pt x="309" y="492"/>
                    <a:pt x="281" y="485"/>
                    <a:pt x="267" y="460"/>
                  </a:cubicBezTo>
                  <a:cubicBezTo>
                    <a:pt x="245" y="423"/>
                    <a:pt x="224" y="387"/>
                    <a:pt x="203" y="350"/>
                  </a:cubicBezTo>
                  <a:cubicBezTo>
                    <a:pt x="199" y="341"/>
                    <a:pt x="194" y="340"/>
                    <a:pt x="185" y="341"/>
                  </a:cubicBezTo>
                  <a:cubicBezTo>
                    <a:pt x="100" y="355"/>
                    <a:pt x="19" y="298"/>
                    <a:pt x="3" y="213"/>
                  </a:cubicBezTo>
                  <a:cubicBezTo>
                    <a:pt x="1" y="203"/>
                    <a:pt x="1" y="192"/>
                    <a:pt x="0" y="183"/>
                  </a:cubicBezTo>
                  <a:close/>
                  <a:moveTo>
                    <a:pt x="159" y="47"/>
                  </a:moveTo>
                  <a:cubicBezTo>
                    <a:pt x="83" y="47"/>
                    <a:pt x="24" y="109"/>
                    <a:pt x="25" y="186"/>
                  </a:cubicBezTo>
                  <a:cubicBezTo>
                    <a:pt x="25" y="259"/>
                    <a:pt x="87" y="319"/>
                    <a:pt x="162" y="319"/>
                  </a:cubicBezTo>
                  <a:cubicBezTo>
                    <a:pt x="238" y="318"/>
                    <a:pt x="298" y="257"/>
                    <a:pt x="297" y="179"/>
                  </a:cubicBezTo>
                  <a:cubicBezTo>
                    <a:pt x="296" y="108"/>
                    <a:pt x="237" y="46"/>
                    <a:pt x="159" y="47"/>
                  </a:cubicBezTo>
                  <a:close/>
                  <a:moveTo>
                    <a:pt x="260" y="310"/>
                  </a:moveTo>
                  <a:cubicBezTo>
                    <a:pt x="247" y="318"/>
                    <a:pt x="234" y="325"/>
                    <a:pt x="222" y="333"/>
                  </a:cubicBezTo>
                  <a:cubicBezTo>
                    <a:pt x="244" y="372"/>
                    <a:pt x="267" y="411"/>
                    <a:pt x="290" y="450"/>
                  </a:cubicBezTo>
                  <a:cubicBezTo>
                    <a:pt x="297" y="461"/>
                    <a:pt x="309" y="463"/>
                    <a:pt x="320" y="457"/>
                  </a:cubicBezTo>
                  <a:cubicBezTo>
                    <a:pt x="330" y="451"/>
                    <a:pt x="334" y="439"/>
                    <a:pt x="327" y="428"/>
                  </a:cubicBezTo>
                  <a:cubicBezTo>
                    <a:pt x="305" y="388"/>
                    <a:pt x="283" y="350"/>
                    <a:pt x="260" y="3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4" name="Freeform 67"/>
            <p:cNvSpPr>
              <a:spLocks noEditPoints="1"/>
            </p:cNvSpPr>
            <p:nvPr/>
          </p:nvSpPr>
          <p:spPr bwMode="auto">
            <a:xfrm>
              <a:off x="13190538" y="3024188"/>
              <a:ext cx="1608138" cy="928688"/>
            </a:xfrm>
            <a:custGeom>
              <a:avLst/>
              <a:gdLst>
                <a:gd name="T0" fmla="*/ 283 w 426"/>
                <a:gd name="T1" fmla="*/ 163 h 246"/>
                <a:gd name="T2" fmla="*/ 346 w 426"/>
                <a:gd name="T3" fmla="*/ 74 h 246"/>
                <a:gd name="T4" fmla="*/ 346 w 426"/>
                <a:gd name="T5" fmla="*/ 61 h 246"/>
                <a:gd name="T6" fmla="*/ 355 w 426"/>
                <a:gd name="T7" fmla="*/ 14 h 246"/>
                <a:gd name="T8" fmla="*/ 402 w 426"/>
                <a:gd name="T9" fmla="*/ 8 h 246"/>
                <a:gd name="T10" fmla="*/ 423 w 426"/>
                <a:gd name="T11" fmla="*/ 51 h 246"/>
                <a:gd name="T12" fmla="*/ 377 w 426"/>
                <a:gd name="T13" fmla="*/ 85 h 246"/>
                <a:gd name="T14" fmla="*/ 365 w 426"/>
                <a:gd name="T15" fmla="*/ 90 h 246"/>
                <a:gd name="T16" fmla="*/ 307 w 426"/>
                <a:gd name="T17" fmla="*/ 171 h 246"/>
                <a:gd name="T18" fmla="*/ 306 w 426"/>
                <a:gd name="T19" fmla="*/ 182 h 246"/>
                <a:gd name="T20" fmla="*/ 301 w 426"/>
                <a:gd name="T21" fmla="*/ 229 h 246"/>
                <a:gd name="T22" fmla="*/ 257 w 426"/>
                <a:gd name="T23" fmla="*/ 241 h 246"/>
                <a:gd name="T24" fmla="*/ 229 w 426"/>
                <a:gd name="T25" fmla="*/ 202 h 246"/>
                <a:gd name="T26" fmla="*/ 221 w 426"/>
                <a:gd name="T27" fmla="*/ 188 h 246"/>
                <a:gd name="T28" fmla="*/ 191 w 426"/>
                <a:gd name="T29" fmla="*/ 171 h 246"/>
                <a:gd name="T30" fmla="*/ 180 w 426"/>
                <a:gd name="T31" fmla="*/ 172 h 246"/>
                <a:gd name="T32" fmla="*/ 134 w 426"/>
                <a:gd name="T33" fmla="*/ 172 h 246"/>
                <a:gd name="T34" fmla="*/ 123 w 426"/>
                <a:gd name="T35" fmla="*/ 172 h 246"/>
                <a:gd name="T36" fmla="*/ 106 w 426"/>
                <a:gd name="T37" fmla="*/ 181 h 246"/>
                <a:gd name="T38" fmla="*/ 83 w 426"/>
                <a:gd name="T39" fmla="*/ 211 h 246"/>
                <a:gd name="T40" fmla="*/ 50 w 426"/>
                <a:gd name="T41" fmla="*/ 243 h 246"/>
                <a:gd name="T42" fmla="*/ 7 w 426"/>
                <a:gd name="T43" fmla="*/ 219 h 246"/>
                <a:gd name="T44" fmla="*/ 16 w 426"/>
                <a:gd name="T45" fmla="*/ 172 h 246"/>
                <a:gd name="T46" fmla="*/ 64 w 426"/>
                <a:gd name="T47" fmla="*/ 166 h 246"/>
                <a:gd name="T48" fmla="*/ 82 w 426"/>
                <a:gd name="T49" fmla="*/ 166 h 246"/>
                <a:gd name="T50" fmla="*/ 96 w 426"/>
                <a:gd name="T51" fmla="*/ 158 h 246"/>
                <a:gd name="T52" fmla="*/ 118 w 426"/>
                <a:gd name="T53" fmla="*/ 129 h 246"/>
                <a:gd name="T54" fmla="*/ 161 w 426"/>
                <a:gd name="T55" fmla="*/ 97 h 246"/>
                <a:gd name="T56" fmla="*/ 198 w 426"/>
                <a:gd name="T57" fmla="*/ 139 h 246"/>
                <a:gd name="T58" fmla="*/ 204 w 426"/>
                <a:gd name="T59" fmla="*/ 150 h 246"/>
                <a:gd name="T60" fmla="*/ 235 w 426"/>
                <a:gd name="T61" fmla="*/ 168 h 246"/>
                <a:gd name="T62" fmla="*/ 248 w 426"/>
                <a:gd name="T63" fmla="*/ 168 h 246"/>
                <a:gd name="T64" fmla="*/ 283 w 426"/>
                <a:gd name="T65" fmla="*/ 163 h 246"/>
                <a:gd name="T66" fmla="*/ 45 w 426"/>
                <a:gd name="T67" fmla="*/ 185 h 246"/>
                <a:gd name="T68" fmla="*/ 28 w 426"/>
                <a:gd name="T69" fmla="*/ 202 h 246"/>
                <a:gd name="T70" fmla="*/ 44 w 426"/>
                <a:gd name="T71" fmla="*/ 218 h 246"/>
                <a:gd name="T72" fmla="*/ 60 w 426"/>
                <a:gd name="T73" fmla="*/ 202 h 246"/>
                <a:gd name="T74" fmla="*/ 45 w 426"/>
                <a:gd name="T75" fmla="*/ 185 h 246"/>
                <a:gd name="T76" fmla="*/ 287 w 426"/>
                <a:gd name="T77" fmla="*/ 202 h 246"/>
                <a:gd name="T78" fmla="*/ 271 w 426"/>
                <a:gd name="T79" fmla="*/ 185 h 246"/>
                <a:gd name="T80" fmla="*/ 254 w 426"/>
                <a:gd name="T81" fmla="*/ 202 h 246"/>
                <a:gd name="T82" fmla="*/ 271 w 426"/>
                <a:gd name="T83" fmla="*/ 218 h 246"/>
                <a:gd name="T84" fmla="*/ 287 w 426"/>
                <a:gd name="T85" fmla="*/ 202 h 246"/>
                <a:gd name="T86" fmla="*/ 173 w 426"/>
                <a:gd name="T87" fmla="*/ 139 h 246"/>
                <a:gd name="T88" fmla="*/ 158 w 426"/>
                <a:gd name="T89" fmla="*/ 122 h 246"/>
                <a:gd name="T90" fmla="*/ 141 w 426"/>
                <a:gd name="T91" fmla="*/ 136 h 246"/>
                <a:gd name="T92" fmla="*/ 156 w 426"/>
                <a:gd name="T93" fmla="*/ 154 h 246"/>
                <a:gd name="T94" fmla="*/ 173 w 426"/>
                <a:gd name="T95" fmla="*/ 139 h 246"/>
                <a:gd name="T96" fmla="*/ 383 w 426"/>
                <a:gd name="T97" fmla="*/ 28 h 246"/>
                <a:gd name="T98" fmla="*/ 367 w 426"/>
                <a:gd name="T99" fmla="*/ 44 h 246"/>
                <a:gd name="T100" fmla="*/ 383 w 426"/>
                <a:gd name="T101" fmla="*/ 60 h 246"/>
                <a:gd name="T102" fmla="*/ 399 w 426"/>
                <a:gd name="T103" fmla="*/ 44 h 246"/>
                <a:gd name="T104" fmla="*/ 383 w 426"/>
                <a:gd name="T105" fmla="*/ 28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26" h="246">
                  <a:moveTo>
                    <a:pt x="283" y="163"/>
                  </a:moveTo>
                  <a:cubicBezTo>
                    <a:pt x="304" y="133"/>
                    <a:pt x="325" y="103"/>
                    <a:pt x="346" y="74"/>
                  </a:cubicBezTo>
                  <a:cubicBezTo>
                    <a:pt x="350" y="69"/>
                    <a:pt x="348" y="65"/>
                    <a:pt x="346" y="61"/>
                  </a:cubicBezTo>
                  <a:cubicBezTo>
                    <a:pt x="338" y="44"/>
                    <a:pt x="342" y="26"/>
                    <a:pt x="355" y="14"/>
                  </a:cubicBezTo>
                  <a:cubicBezTo>
                    <a:pt x="369" y="2"/>
                    <a:pt x="387" y="0"/>
                    <a:pt x="402" y="8"/>
                  </a:cubicBezTo>
                  <a:cubicBezTo>
                    <a:pt x="418" y="17"/>
                    <a:pt x="426" y="34"/>
                    <a:pt x="423" y="51"/>
                  </a:cubicBezTo>
                  <a:cubicBezTo>
                    <a:pt x="419" y="73"/>
                    <a:pt x="401" y="87"/>
                    <a:pt x="377" y="85"/>
                  </a:cubicBezTo>
                  <a:cubicBezTo>
                    <a:pt x="371" y="84"/>
                    <a:pt x="368" y="85"/>
                    <a:pt x="365" y="90"/>
                  </a:cubicBezTo>
                  <a:cubicBezTo>
                    <a:pt x="346" y="117"/>
                    <a:pt x="326" y="144"/>
                    <a:pt x="307" y="171"/>
                  </a:cubicBezTo>
                  <a:cubicBezTo>
                    <a:pt x="305" y="174"/>
                    <a:pt x="305" y="179"/>
                    <a:pt x="306" y="182"/>
                  </a:cubicBezTo>
                  <a:cubicBezTo>
                    <a:pt x="314" y="198"/>
                    <a:pt x="312" y="216"/>
                    <a:pt x="301" y="229"/>
                  </a:cubicBezTo>
                  <a:cubicBezTo>
                    <a:pt x="290" y="241"/>
                    <a:pt x="272" y="246"/>
                    <a:pt x="257" y="241"/>
                  </a:cubicBezTo>
                  <a:cubicBezTo>
                    <a:pt x="240" y="235"/>
                    <a:pt x="229" y="220"/>
                    <a:pt x="229" y="202"/>
                  </a:cubicBezTo>
                  <a:cubicBezTo>
                    <a:pt x="230" y="195"/>
                    <a:pt x="227" y="191"/>
                    <a:pt x="221" y="188"/>
                  </a:cubicBezTo>
                  <a:cubicBezTo>
                    <a:pt x="211" y="183"/>
                    <a:pt x="201" y="176"/>
                    <a:pt x="191" y="171"/>
                  </a:cubicBezTo>
                  <a:cubicBezTo>
                    <a:pt x="188" y="170"/>
                    <a:pt x="183" y="170"/>
                    <a:pt x="180" y="172"/>
                  </a:cubicBezTo>
                  <a:cubicBezTo>
                    <a:pt x="165" y="181"/>
                    <a:pt x="150" y="181"/>
                    <a:pt x="134" y="172"/>
                  </a:cubicBezTo>
                  <a:cubicBezTo>
                    <a:pt x="131" y="170"/>
                    <a:pt x="126" y="170"/>
                    <a:pt x="123" y="172"/>
                  </a:cubicBezTo>
                  <a:cubicBezTo>
                    <a:pt x="117" y="174"/>
                    <a:pt x="112" y="178"/>
                    <a:pt x="106" y="181"/>
                  </a:cubicBezTo>
                  <a:cubicBezTo>
                    <a:pt x="94" y="187"/>
                    <a:pt x="83" y="193"/>
                    <a:pt x="83" y="211"/>
                  </a:cubicBezTo>
                  <a:cubicBezTo>
                    <a:pt x="83" y="227"/>
                    <a:pt x="66" y="241"/>
                    <a:pt x="50" y="243"/>
                  </a:cubicBezTo>
                  <a:cubicBezTo>
                    <a:pt x="31" y="245"/>
                    <a:pt x="14" y="235"/>
                    <a:pt x="7" y="219"/>
                  </a:cubicBezTo>
                  <a:cubicBezTo>
                    <a:pt x="0" y="203"/>
                    <a:pt x="3" y="184"/>
                    <a:pt x="16" y="172"/>
                  </a:cubicBezTo>
                  <a:cubicBezTo>
                    <a:pt x="29" y="160"/>
                    <a:pt x="49" y="157"/>
                    <a:pt x="64" y="166"/>
                  </a:cubicBezTo>
                  <a:cubicBezTo>
                    <a:pt x="71" y="171"/>
                    <a:pt x="76" y="170"/>
                    <a:pt x="82" y="166"/>
                  </a:cubicBezTo>
                  <a:cubicBezTo>
                    <a:pt x="87" y="163"/>
                    <a:pt x="91" y="161"/>
                    <a:pt x="96" y="158"/>
                  </a:cubicBezTo>
                  <a:cubicBezTo>
                    <a:pt x="108" y="152"/>
                    <a:pt x="118" y="147"/>
                    <a:pt x="118" y="129"/>
                  </a:cubicBezTo>
                  <a:cubicBezTo>
                    <a:pt x="118" y="110"/>
                    <a:pt x="141" y="95"/>
                    <a:pt x="161" y="97"/>
                  </a:cubicBezTo>
                  <a:cubicBezTo>
                    <a:pt x="183" y="99"/>
                    <a:pt x="199" y="117"/>
                    <a:pt x="198" y="139"/>
                  </a:cubicBezTo>
                  <a:cubicBezTo>
                    <a:pt x="197" y="145"/>
                    <a:pt x="199" y="148"/>
                    <a:pt x="204" y="150"/>
                  </a:cubicBezTo>
                  <a:cubicBezTo>
                    <a:pt x="215" y="156"/>
                    <a:pt x="225" y="162"/>
                    <a:pt x="235" y="168"/>
                  </a:cubicBezTo>
                  <a:cubicBezTo>
                    <a:pt x="240" y="171"/>
                    <a:pt x="243" y="171"/>
                    <a:pt x="248" y="168"/>
                  </a:cubicBezTo>
                  <a:cubicBezTo>
                    <a:pt x="258" y="160"/>
                    <a:pt x="270" y="159"/>
                    <a:pt x="283" y="163"/>
                  </a:cubicBezTo>
                  <a:close/>
                  <a:moveTo>
                    <a:pt x="45" y="185"/>
                  </a:moveTo>
                  <a:cubicBezTo>
                    <a:pt x="36" y="185"/>
                    <a:pt x="28" y="194"/>
                    <a:pt x="28" y="202"/>
                  </a:cubicBezTo>
                  <a:cubicBezTo>
                    <a:pt x="28" y="210"/>
                    <a:pt x="36" y="218"/>
                    <a:pt x="44" y="218"/>
                  </a:cubicBezTo>
                  <a:cubicBezTo>
                    <a:pt x="52" y="218"/>
                    <a:pt x="61" y="210"/>
                    <a:pt x="60" y="202"/>
                  </a:cubicBezTo>
                  <a:cubicBezTo>
                    <a:pt x="60" y="194"/>
                    <a:pt x="52" y="186"/>
                    <a:pt x="45" y="185"/>
                  </a:cubicBezTo>
                  <a:close/>
                  <a:moveTo>
                    <a:pt x="287" y="202"/>
                  </a:moveTo>
                  <a:cubicBezTo>
                    <a:pt x="286" y="194"/>
                    <a:pt x="279" y="186"/>
                    <a:pt x="271" y="185"/>
                  </a:cubicBezTo>
                  <a:cubicBezTo>
                    <a:pt x="262" y="185"/>
                    <a:pt x="254" y="194"/>
                    <a:pt x="254" y="202"/>
                  </a:cubicBezTo>
                  <a:cubicBezTo>
                    <a:pt x="254" y="210"/>
                    <a:pt x="262" y="218"/>
                    <a:pt x="271" y="218"/>
                  </a:cubicBezTo>
                  <a:cubicBezTo>
                    <a:pt x="279" y="218"/>
                    <a:pt x="287" y="210"/>
                    <a:pt x="287" y="202"/>
                  </a:cubicBezTo>
                  <a:close/>
                  <a:moveTo>
                    <a:pt x="173" y="139"/>
                  </a:moveTo>
                  <a:cubicBezTo>
                    <a:pt x="174" y="130"/>
                    <a:pt x="167" y="122"/>
                    <a:pt x="158" y="122"/>
                  </a:cubicBezTo>
                  <a:cubicBezTo>
                    <a:pt x="150" y="121"/>
                    <a:pt x="142" y="128"/>
                    <a:pt x="141" y="136"/>
                  </a:cubicBezTo>
                  <a:cubicBezTo>
                    <a:pt x="140" y="145"/>
                    <a:pt x="147" y="153"/>
                    <a:pt x="156" y="154"/>
                  </a:cubicBezTo>
                  <a:cubicBezTo>
                    <a:pt x="164" y="155"/>
                    <a:pt x="173" y="147"/>
                    <a:pt x="173" y="139"/>
                  </a:cubicBezTo>
                  <a:close/>
                  <a:moveTo>
                    <a:pt x="383" y="28"/>
                  </a:moveTo>
                  <a:cubicBezTo>
                    <a:pt x="374" y="28"/>
                    <a:pt x="367" y="35"/>
                    <a:pt x="367" y="44"/>
                  </a:cubicBezTo>
                  <a:cubicBezTo>
                    <a:pt x="367" y="52"/>
                    <a:pt x="374" y="60"/>
                    <a:pt x="383" y="60"/>
                  </a:cubicBezTo>
                  <a:cubicBezTo>
                    <a:pt x="392" y="60"/>
                    <a:pt x="399" y="53"/>
                    <a:pt x="399" y="44"/>
                  </a:cubicBezTo>
                  <a:cubicBezTo>
                    <a:pt x="399" y="35"/>
                    <a:pt x="392" y="28"/>
                    <a:pt x="38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5" name="Freeform 68"/>
            <p:cNvSpPr>
              <a:spLocks noEditPoints="1"/>
            </p:cNvSpPr>
            <p:nvPr/>
          </p:nvSpPr>
          <p:spPr bwMode="auto">
            <a:xfrm>
              <a:off x="13103226" y="2560638"/>
              <a:ext cx="2278063" cy="827088"/>
            </a:xfrm>
            <a:custGeom>
              <a:avLst/>
              <a:gdLst>
                <a:gd name="T0" fmla="*/ 168 w 603"/>
                <a:gd name="T1" fmla="*/ 56 h 219"/>
                <a:gd name="T2" fmla="*/ 168 w 603"/>
                <a:gd name="T3" fmla="*/ 33 h 219"/>
                <a:gd name="T4" fmla="*/ 199 w 603"/>
                <a:gd name="T5" fmla="*/ 1 h 219"/>
                <a:gd name="T6" fmla="*/ 273 w 603"/>
                <a:gd name="T7" fmla="*/ 1 h 219"/>
                <a:gd name="T8" fmla="*/ 305 w 603"/>
                <a:gd name="T9" fmla="*/ 32 h 219"/>
                <a:gd name="T10" fmla="*/ 305 w 603"/>
                <a:gd name="T11" fmla="*/ 56 h 219"/>
                <a:gd name="T12" fmla="*/ 317 w 603"/>
                <a:gd name="T13" fmla="*/ 56 h 219"/>
                <a:gd name="T14" fmla="*/ 562 w 603"/>
                <a:gd name="T15" fmla="*/ 56 h 219"/>
                <a:gd name="T16" fmla="*/ 603 w 603"/>
                <a:gd name="T17" fmla="*/ 96 h 219"/>
                <a:gd name="T18" fmla="*/ 603 w 603"/>
                <a:gd name="T19" fmla="*/ 201 h 219"/>
                <a:gd name="T20" fmla="*/ 602 w 603"/>
                <a:gd name="T21" fmla="*/ 212 h 219"/>
                <a:gd name="T22" fmla="*/ 591 w 603"/>
                <a:gd name="T23" fmla="*/ 219 h 219"/>
                <a:gd name="T24" fmla="*/ 580 w 603"/>
                <a:gd name="T25" fmla="*/ 211 h 219"/>
                <a:gd name="T26" fmla="*/ 578 w 603"/>
                <a:gd name="T27" fmla="*/ 200 h 219"/>
                <a:gd name="T28" fmla="*/ 578 w 603"/>
                <a:gd name="T29" fmla="*/ 97 h 219"/>
                <a:gd name="T30" fmla="*/ 561 w 603"/>
                <a:gd name="T31" fmla="*/ 80 h 219"/>
                <a:gd name="T32" fmla="*/ 23 w 603"/>
                <a:gd name="T33" fmla="*/ 80 h 219"/>
                <a:gd name="T34" fmla="*/ 12 w 603"/>
                <a:gd name="T35" fmla="*/ 80 h 219"/>
                <a:gd name="T36" fmla="*/ 0 w 603"/>
                <a:gd name="T37" fmla="*/ 68 h 219"/>
                <a:gd name="T38" fmla="*/ 13 w 603"/>
                <a:gd name="T39" fmla="*/ 56 h 219"/>
                <a:gd name="T40" fmla="*/ 23 w 603"/>
                <a:gd name="T41" fmla="*/ 56 h 219"/>
                <a:gd name="T42" fmla="*/ 168 w 603"/>
                <a:gd name="T43" fmla="*/ 56 h 219"/>
                <a:gd name="T44" fmla="*/ 280 w 603"/>
                <a:gd name="T45" fmla="*/ 55 h 219"/>
                <a:gd name="T46" fmla="*/ 280 w 603"/>
                <a:gd name="T47" fmla="*/ 35 h 219"/>
                <a:gd name="T48" fmla="*/ 270 w 603"/>
                <a:gd name="T49" fmla="*/ 25 h 219"/>
                <a:gd name="T50" fmla="*/ 219 w 603"/>
                <a:gd name="T51" fmla="*/ 25 h 219"/>
                <a:gd name="T52" fmla="*/ 194 w 603"/>
                <a:gd name="T53" fmla="*/ 53 h 219"/>
                <a:gd name="T54" fmla="*/ 195 w 603"/>
                <a:gd name="T55" fmla="*/ 55 h 219"/>
                <a:gd name="T56" fmla="*/ 280 w 603"/>
                <a:gd name="T57" fmla="*/ 5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03" h="219">
                  <a:moveTo>
                    <a:pt x="168" y="56"/>
                  </a:moveTo>
                  <a:cubicBezTo>
                    <a:pt x="168" y="47"/>
                    <a:pt x="168" y="40"/>
                    <a:pt x="168" y="33"/>
                  </a:cubicBezTo>
                  <a:cubicBezTo>
                    <a:pt x="169" y="14"/>
                    <a:pt x="180" y="1"/>
                    <a:pt x="199" y="1"/>
                  </a:cubicBezTo>
                  <a:cubicBezTo>
                    <a:pt x="224" y="0"/>
                    <a:pt x="249" y="0"/>
                    <a:pt x="273" y="1"/>
                  </a:cubicBezTo>
                  <a:cubicBezTo>
                    <a:pt x="292" y="1"/>
                    <a:pt x="303" y="12"/>
                    <a:pt x="305" y="32"/>
                  </a:cubicBezTo>
                  <a:cubicBezTo>
                    <a:pt x="305" y="39"/>
                    <a:pt x="305" y="47"/>
                    <a:pt x="305" y="56"/>
                  </a:cubicBezTo>
                  <a:cubicBezTo>
                    <a:pt x="310" y="56"/>
                    <a:pt x="314" y="56"/>
                    <a:pt x="317" y="56"/>
                  </a:cubicBezTo>
                  <a:cubicBezTo>
                    <a:pt x="399" y="56"/>
                    <a:pt x="481" y="56"/>
                    <a:pt x="562" y="56"/>
                  </a:cubicBezTo>
                  <a:cubicBezTo>
                    <a:pt x="590" y="56"/>
                    <a:pt x="603" y="69"/>
                    <a:pt x="603" y="96"/>
                  </a:cubicBezTo>
                  <a:cubicBezTo>
                    <a:pt x="603" y="131"/>
                    <a:pt x="603" y="166"/>
                    <a:pt x="603" y="201"/>
                  </a:cubicBezTo>
                  <a:cubicBezTo>
                    <a:pt x="603" y="205"/>
                    <a:pt x="603" y="209"/>
                    <a:pt x="602" y="212"/>
                  </a:cubicBezTo>
                  <a:cubicBezTo>
                    <a:pt x="599" y="215"/>
                    <a:pt x="595" y="219"/>
                    <a:pt x="591" y="219"/>
                  </a:cubicBezTo>
                  <a:cubicBezTo>
                    <a:pt x="587" y="219"/>
                    <a:pt x="582" y="215"/>
                    <a:pt x="580" y="211"/>
                  </a:cubicBezTo>
                  <a:cubicBezTo>
                    <a:pt x="578" y="209"/>
                    <a:pt x="578" y="204"/>
                    <a:pt x="578" y="200"/>
                  </a:cubicBezTo>
                  <a:cubicBezTo>
                    <a:pt x="578" y="165"/>
                    <a:pt x="578" y="131"/>
                    <a:pt x="578" y="97"/>
                  </a:cubicBezTo>
                  <a:cubicBezTo>
                    <a:pt x="578" y="82"/>
                    <a:pt x="576" y="80"/>
                    <a:pt x="561" y="80"/>
                  </a:cubicBezTo>
                  <a:cubicBezTo>
                    <a:pt x="382" y="80"/>
                    <a:pt x="203" y="80"/>
                    <a:pt x="23" y="80"/>
                  </a:cubicBezTo>
                  <a:cubicBezTo>
                    <a:pt x="20" y="80"/>
                    <a:pt x="16" y="80"/>
                    <a:pt x="12" y="80"/>
                  </a:cubicBezTo>
                  <a:cubicBezTo>
                    <a:pt x="5" y="80"/>
                    <a:pt x="0" y="76"/>
                    <a:pt x="0" y="68"/>
                  </a:cubicBezTo>
                  <a:cubicBezTo>
                    <a:pt x="0" y="60"/>
                    <a:pt x="5" y="56"/>
                    <a:pt x="13" y="56"/>
                  </a:cubicBezTo>
                  <a:cubicBezTo>
                    <a:pt x="16" y="56"/>
                    <a:pt x="19" y="56"/>
                    <a:pt x="23" y="56"/>
                  </a:cubicBezTo>
                  <a:cubicBezTo>
                    <a:pt x="71" y="56"/>
                    <a:pt x="119" y="56"/>
                    <a:pt x="168" y="56"/>
                  </a:cubicBezTo>
                  <a:close/>
                  <a:moveTo>
                    <a:pt x="280" y="55"/>
                  </a:moveTo>
                  <a:cubicBezTo>
                    <a:pt x="280" y="48"/>
                    <a:pt x="280" y="41"/>
                    <a:pt x="280" y="35"/>
                  </a:cubicBezTo>
                  <a:cubicBezTo>
                    <a:pt x="280" y="27"/>
                    <a:pt x="277" y="25"/>
                    <a:pt x="270" y="25"/>
                  </a:cubicBezTo>
                  <a:cubicBezTo>
                    <a:pt x="253" y="26"/>
                    <a:pt x="236" y="25"/>
                    <a:pt x="219" y="25"/>
                  </a:cubicBezTo>
                  <a:cubicBezTo>
                    <a:pt x="191" y="25"/>
                    <a:pt x="191" y="25"/>
                    <a:pt x="194" y="53"/>
                  </a:cubicBezTo>
                  <a:cubicBezTo>
                    <a:pt x="194" y="54"/>
                    <a:pt x="194" y="54"/>
                    <a:pt x="195" y="55"/>
                  </a:cubicBezTo>
                  <a:cubicBezTo>
                    <a:pt x="223" y="55"/>
                    <a:pt x="251" y="55"/>
                    <a:pt x="28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6" name="Freeform 69"/>
            <p:cNvSpPr>
              <a:spLocks noEditPoints="1"/>
            </p:cNvSpPr>
            <p:nvPr/>
          </p:nvSpPr>
          <p:spPr bwMode="auto">
            <a:xfrm>
              <a:off x="13639801" y="3941763"/>
              <a:ext cx="287338" cy="739775"/>
            </a:xfrm>
            <a:custGeom>
              <a:avLst/>
              <a:gdLst>
                <a:gd name="T0" fmla="*/ 76 w 76"/>
                <a:gd name="T1" fmla="*/ 98 h 196"/>
                <a:gd name="T2" fmla="*/ 76 w 76"/>
                <a:gd name="T3" fmla="*/ 178 h 196"/>
                <a:gd name="T4" fmla="*/ 58 w 76"/>
                <a:gd name="T5" fmla="*/ 196 h 196"/>
                <a:gd name="T6" fmla="*/ 16 w 76"/>
                <a:gd name="T7" fmla="*/ 196 h 196"/>
                <a:gd name="T8" fmla="*/ 0 w 76"/>
                <a:gd name="T9" fmla="*/ 181 h 196"/>
                <a:gd name="T10" fmla="*/ 0 w 76"/>
                <a:gd name="T11" fmla="*/ 15 h 196"/>
                <a:gd name="T12" fmla="*/ 16 w 76"/>
                <a:gd name="T13" fmla="*/ 0 h 196"/>
                <a:gd name="T14" fmla="*/ 58 w 76"/>
                <a:gd name="T15" fmla="*/ 0 h 196"/>
                <a:gd name="T16" fmla="*/ 76 w 76"/>
                <a:gd name="T17" fmla="*/ 17 h 196"/>
                <a:gd name="T18" fmla="*/ 76 w 76"/>
                <a:gd name="T19" fmla="*/ 98 h 196"/>
                <a:gd name="T20" fmla="*/ 50 w 76"/>
                <a:gd name="T21" fmla="*/ 25 h 196"/>
                <a:gd name="T22" fmla="*/ 26 w 76"/>
                <a:gd name="T23" fmla="*/ 25 h 196"/>
                <a:gd name="T24" fmla="*/ 26 w 76"/>
                <a:gd name="T25" fmla="*/ 171 h 196"/>
                <a:gd name="T26" fmla="*/ 50 w 76"/>
                <a:gd name="T27" fmla="*/ 171 h 196"/>
                <a:gd name="T28" fmla="*/ 50 w 76"/>
                <a:gd name="T29" fmla="*/ 162 h 196"/>
                <a:gd name="T30" fmla="*/ 50 w 76"/>
                <a:gd name="T31" fmla="*/ 2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6" h="196">
                  <a:moveTo>
                    <a:pt x="76" y="98"/>
                  </a:moveTo>
                  <a:cubicBezTo>
                    <a:pt x="76" y="125"/>
                    <a:pt x="76" y="151"/>
                    <a:pt x="76" y="178"/>
                  </a:cubicBezTo>
                  <a:cubicBezTo>
                    <a:pt x="76" y="192"/>
                    <a:pt x="72" y="196"/>
                    <a:pt x="58" y="196"/>
                  </a:cubicBezTo>
                  <a:cubicBezTo>
                    <a:pt x="44" y="196"/>
                    <a:pt x="30" y="196"/>
                    <a:pt x="16" y="196"/>
                  </a:cubicBezTo>
                  <a:cubicBezTo>
                    <a:pt x="5" y="196"/>
                    <a:pt x="0" y="191"/>
                    <a:pt x="0" y="181"/>
                  </a:cubicBezTo>
                  <a:cubicBezTo>
                    <a:pt x="0" y="125"/>
                    <a:pt x="0" y="70"/>
                    <a:pt x="0" y="15"/>
                  </a:cubicBezTo>
                  <a:cubicBezTo>
                    <a:pt x="1" y="4"/>
                    <a:pt x="5" y="0"/>
                    <a:pt x="16" y="0"/>
                  </a:cubicBezTo>
                  <a:cubicBezTo>
                    <a:pt x="30" y="0"/>
                    <a:pt x="44" y="0"/>
                    <a:pt x="58" y="0"/>
                  </a:cubicBezTo>
                  <a:cubicBezTo>
                    <a:pt x="71" y="0"/>
                    <a:pt x="76" y="4"/>
                    <a:pt x="76" y="17"/>
                  </a:cubicBezTo>
                  <a:cubicBezTo>
                    <a:pt x="76" y="44"/>
                    <a:pt x="76" y="71"/>
                    <a:pt x="76" y="98"/>
                  </a:cubicBezTo>
                  <a:close/>
                  <a:moveTo>
                    <a:pt x="50" y="25"/>
                  </a:moveTo>
                  <a:cubicBezTo>
                    <a:pt x="41" y="25"/>
                    <a:pt x="34" y="25"/>
                    <a:pt x="26" y="25"/>
                  </a:cubicBezTo>
                  <a:cubicBezTo>
                    <a:pt x="26" y="74"/>
                    <a:pt x="26" y="122"/>
                    <a:pt x="26" y="171"/>
                  </a:cubicBezTo>
                  <a:cubicBezTo>
                    <a:pt x="35" y="171"/>
                    <a:pt x="42" y="171"/>
                    <a:pt x="50" y="171"/>
                  </a:cubicBezTo>
                  <a:cubicBezTo>
                    <a:pt x="50" y="167"/>
                    <a:pt x="50" y="165"/>
                    <a:pt x="50" y="162"/>
                  </a:cubicBezTo>
                  <a:cubicBezTo>
                    <a:pt x="50" y="117"/>
                    <a:pt x="50" y="71"/>
                    <a:pt x="5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7" name="Freeform 70"/>
            <p:cNvSpPr>
              <a:spLocks noEditPoints="1"/>
            </p:cNvSpPr>
            <p:nvPr/>
          </p:nvSpPr>
          <p:spPr bwMode="auto">
            <a:xfrm>
              <a:off x="13217526" y="4179888"/>
              <a:ext cx="282575" cy="501650"/>
            </a:xfrm>
            <a:custGeom>
              <a:avLst/>
              <a:gdLst>
                <a:gd name="T0" fmla="*/ 0 w 75"/>
                <a:gd name="T1" fmla="*/ 66 h 133"/>
                <a:gd name="T2" fmla="*/ 0 w 75"/>
                <a:gd name="T3" fmla="*/ 16 h 133"/>
                <a:gd name="T4" fmla="*/ 15 w 75"/>
                <a:gd name="T5" fmla="*/ 0 h 133"/>
                <a:gd name="T6" fmla="*/ 59 w 75"/>
                <a:gd name="T7" fmla="*/ 0 h 133"/>
                <a:gd name="T8" fmla="*/ 74 w 75"/>
                <a:gd name="T9" fmla="*/ 15 h 133"/>
                <a:gd name="T10" fmla="*/ 74 w 75"/>
                <a:gd name="T11" fmla="*/ 118 h 133"/>
                <a:gd name="T12" fmla="*/ 59 w 75"/>
                <a:gd name="T13" fmla="*/ 133 h 133"/>
                <a:gd name="T14" fmla="*/ 15 w 75"/>
                <a:gd name="T15" fmla="*/ 133 h 133"/>
                <a:gd name="T16" fmla="*/ 0 w 75"/>
                <a:gd name="T17" fmla="*/ 118 h 133"/>
                <a:gd name="T18" fmla="*/ 0 w 75"/>
                <a:gd name="T19" fmla="*/ 66 h 133"/>
                <a:gd name="T20" fmla="*/ 49 w 75"/>
                <a:gd name="T21" fmla="*/ 108 h 133"/>
                <a:gd name="T22" fmla="*/ 49 w 75"/>
                <a:gd name="T23" fmla="*/ 25 h 133"/>
                <a:gd name="T24" fmla="*/ 25 w 75"/>
                <a:gd name="T25" fmla="*/ 25 h 133"/>
                <a:gd name="T26" fmla="*/ 25 w 75"/>
                <a:gd name="T27" fmla="*/ 108 h 133"/>
                <a:gd name="T28" fmla="*/ 49 w 75"/>
                <a:gd name="T29" fmla="*/ 10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5" h="133">
                  <a:moveTo>
                    <a:pt x="0" y="66"/>
                  </a:moveTo>
                  <a:cubicBezTo>
                    <a:pt x="0" y="49"/>
                    <a:pt x="0" y="32"/>
                    <a:pt x="0" y="16"/>
                  </a:cubicBezTo>
                  <a:cubicBezTo>
                    <a:pt x="0" y="4"/>
                    <a:pt x="4" y="0"/>
                    <a:pt x="15" y="0"/>
                  </a:cubicBezTo>
                  <a:cubicBezTo>
                    <a:pt x="30" y="0"/>
                    <a:pt x="45" y="0"/>
                    <a:pt x="59" y="0"/>
                  </a:cubicBezTo>
                  <a:cubicBezTo>
                    <a:pt x="70" y="0"/>
                    <a:pt x="74" y="4"/>
                    <a:pt x="74" y="15"/>
                  </a:cubicBezTo>
                  <a:cubicBezTo>
                    <a:pt x="74" y="50"/>
                    <a:pt x="75" y="84"/>
                    <a:pt x="74" y="118"/>
                  </a:cubicBezTo>
                  <a:cubicBezTo>
                    <a:pt x="74" y="129"/>
                    <a:pt x="70" y="133"/>
                    <a:pt x="59" y="133"/>
                  </a:cubicBezTo>
                  <a:cubicBezTo>
                    <a:pt x="44" y="133"/>
                    <a:pt x="30" y="133"/>
                    <a:pt x="15" y="133"/>
                  </a:cubicBezTo>
                  <a:cubicBezTo>
                    <a:pt x="4" y="133"/>
                    <a:pt x="0" y="129"/>
                    <a:pt x="0" y="118"/>
                  </a:cubicBezTo>
                  <a:cubicBezTo>
                    <a:pt x="0" y="100"/>
                    <a:pt x="0" y="83"/>
                    <a:pt x="0" y="66"/>
                  </a:cubicBezTo>
                  <a:close/>
                  <a:moveTo>
                    <a:pt x="49" y="108"/>
                  </a:moveTo>
                  <a:cubicBezTo>
                    <a:pt x="49" y="80"/>
                    <a:pt x="49" y="53"/>
                    <a:pt x="49" y="25"/>
                  </a:cubicBezTo>
                  <a:cubicBezTo>
                    <a:pt x="41" y="25"/>
                    <a:pt x="33" y="25"/>
                    <a:pt x="25" y="25"/>
                  </a:cubicBezTo>
                  <a:cubicBezTo>
                    <a:pt x="25" y="53"/>
                    <a:pt x="25" y="80"/>
                    <a:pt x="25" y="108"/>
                  </a:cubicBezTo>
                  <a:cubicBezTo>
                    <a:pt x="33" y="108"/>
                    <a:pt x="40" y="108"/>
                    <a:pt x="49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8" name="Freeform 71"/>
            <p:cNvSpPr>
              <a:spLocks noEditPoints="1"/>
            </p:cNvSpPr>
            <p:nvPr/>
          </p:nvSpPr>
          <p:spPr bwMode="auto">
            <a:xfrm>
              <a:off x="14070013" y="4179888"/>
              <a:ext cx="279400" cy="501650"/>
            </a:xfrm>
            <a:custGeom>
              <a:avLst/>
              <a:gdLst>
                <a:gd name="T0" fmla="*/ 74 w 74"/>
                <a:gd name="T1" fmla="*/ 66 h 133"/>
                <a:gd name="T2" fmla="*/ 74 w 74"/>
                <a:gd name="T3" fmla="*/ 117 h 133"/>
                <a:gd name="T4" fmla="*/ 58 w 74"/>
                <a:gd name="T5" fmla="*/ 133 h 133"/>
                <a:gd name="T6" fmla="*/ 15 w 74"/>
                <a:gd name="T7" fmla="*/ 133 h 133"/>
                <a:gd name="T8" fmla="*/ 0 w 74"/>
                <a:gd name="T9" fmla="*/ 118 h 133"/>
                <a:gd name="T10" fmla="*/ 0 w 74"/>
                <a:gd name="T11" fmla="*/ 15 h 133"/>
                <a:gd name="T12" fmla="*/ 13 w 74"/>
                <a:gd name="T13" fmla="*/ 0 h 133"/>
                <a:gd name="T14" fmla="*/ 60 w 74"/>
                <a:gd name="T15" fmla="*/ 0 h 133"/>
                <a:gd name="T16" fmla="*/ 74 w 74"/>
                <a:gd name="T17" fmla="*/ 14 h 133"/>
                <a:gd name="T18" fmla="*/ 74 w 74"/>
                <a:gd name="T19" fmla="*/ 66 h 133"/>
                <a:gd name="T20" fmla="*/ 49 w 74"/>
                <a:gd name="T21" fmla="*/ 108 h 133"/>
                <a:gd name="T22" fmla="*/ 49 w 74"/>
                <a:gd name="T23" fmla="*/ 25 h 133"/>
                <a:gd name="T24" fmla="*/ 25 w 74"/>
                <a:gd name="T25" fmla="*/ 25 h 133"/>
                <a:gd name="T26" fmla="*/ 25 w 74"/>
                <a:gd name="T27" fmla="*/ 108 h 133"/>
                <a:gd name="T28" fmla="*/ 49 w 74"/>
                <a:gd name="T29" fmla="*/ 10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4" h="133">
                  <a:moveTo>
                    <a:pt x="74" y="66"/>
                  </a:moveTo>
                  <a:cubicBezTo>
                    <a:pt x="74" y="83"/>
                    <a:pt x="74" y="100"/>
                    <a:pt x="74" y="117"/>
                  </a:cubicBezTo>
                  <a:cubicBezTo>
                    <a:pt x="74" y="129"/>
                    <a:pt x="70" y="133"/>
                    <a:pt x="58" y="133"/>
                  </a:cubicBezTo>
                  <a:cubicBezTo>
                    <a:pt x="44" y="133"/>
                    <a:pt x="29" y="133"/>
                    <a:pt x="15" y="133"/>
                  </a:cubicBezTo>
                  <a:cubicBezTo>
                    <a:pt x="4" y="133"/>
                    <a:pt x="0" y="129"/>
                    <a:pt x="0" y="118"/>
                  </a:cubicBezTo>
                  <a:cubicBezTo>
                    <a:pt x="0" y="84"/>
                    <a:pt x="0" y="49"/>
                    <a:pt x="0" y="15"/>
                  </a:cubicBezTo>
                  <a:cubicBezTo>
                    <a:pt x="0" y="5"/>
                    <a:pt x="4" y="0"/>
                    <a:pt x="13" y="0"/>
                  </a:cubicBezTo>
                  <a:cubicBezTo>
                    <a:pt x="29" y="0"/>
                    <a:pt x="45" y="0"/>
                    <a:pt x="60" y="0"/>
                  </a:cubicBezTo>
                  <a:cubicBezTo>
                    <a:pt x="70" y="0"/>
                    <a:pt x="74" y="5"/>
                    <a:pt x="74" y="14"/>
                  </a:cubicBezTo>
                  <a:cubicBezTo>
                    <a:pt x="74" y="32"/>
                    <a:pt x="74" y="49"/>
                    <a:pt x="74" y="66"/>
                  </a:cubicBezTo>
                  <a:close/>
                  <a:moveTo>
                    <a:pt x="49" y="108"/>
                  </a:moveTo>
                  <a:cubicBezTo>
                    <a:pt x="49" y="80"/>
                    <a:pt x="49" y="53"/>
                    <a:pt x="49" y="25"/>
                  </a:cubicBezTo>
                  <a:cubicBezTo>
                    <a:pt x="41" y="25"/>
                    <a:pt x="33" y="25"/>
                    <a:pt x="25" y="25"/>
                  </a:cubicBezTo>
                  <a:cubicBezTo>
                    <a:pt x="25" y="53"/>
                    <a:pt x="25" y="80"/>
                    <a:pt x="25" y="108"/>
                  </a:cubicBezTo>
                  <a:cubicBezTo>
                    <a:pt x="33" y="108"/>
                    <a:pt x="40" y="108"/>
                    <a:pt x="49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9" name="Freeform 72"/>
            <p:cNvSpPr/>
            <p:nvPr/>
          </p:nvSpPr>
          <p:spPr bwMode="auto">
            <a:xfrm>
              <a:off x="14493876" y="4451351"/>
              <a:ext cx="282575" cy="230188"/>
            </a:xfrm>
            <a:custGeom>
              <a:avLst/>
              <a:gdLst>
                <a:gd name="T0" fmla="*/ 25 w 75"/>
                <a:gd name="T1" fmla="*/ 36 h 61"/>
                <a:gd name="T2" fmla="*/ 59 w 75"/>
                <a:gd name="T3" fmla="*/ 36 h 61"/>
                <a:gd name="T4" fmla="*/ 75 w 75"/>
                <a:gd name="T5" fmla="*/ 49 h 61"/>
                <a:gd name="T6" fmla="*/ 59 w 75"/>
                <a:gd name="T7" fmla="*/ 61 h 61"/>
                <a:gd name="T8" fmla="*/ 16 w 75"/>
                <a:gd name="T9" fmla="*/ 61 h 61"/>
                <a:gd name="T10" fmla="*/ 0 w 75"/>
                <a:gd name="T11" fmla="*/ 46 h 61"/>
                <a:gd name="T12" fmla="*/ 0 w 75"/>
                <a:gd name="T13" fmla="*/ 15 h 61"/>
                <a:gd name="T14" fmla="*/ 13 w 75"/>
                <a:gd name="T15" fmla="*/ 1 h 61"/>
                <a:gd name="T16" fmla="*/ 25 w 75"/>
                <a:gd name="T17" fmla="*/ 16 h 61"/>
                <a:gd name="T18" fmla="*/ 25 w 75"/>
                <a:gd name="T19" fmla="*/ 3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" h="61">
                  <a:moveTo>
                    <a:pt x="25" y="36"/>
                  </a:moveTo>
                  <a:cubicBezTo>
                    <a:pt x="37" y="36"/>
                    <a:pt x="48" y="36"/>
                    <a:pt x="59" y="36"/>
                  </a:cubicBezTo>
                  <a:cubicBezTo>
                    <a:pt x="70" y="37"/>
                    <a:pt x="75" y="41"/>
                    <a:pt x="75" y="49"/>
                  </a:cubicBezTo>
                  <a:cubicBezTo>
                    <a:pt x="75" y="57"/>
                    <a:pt x="70" y="61"/>
                    <a:pt x="59" y="61"/>
                  </a:cubicBezTo>
                  <a:cubicBezTo>
                    <a:pt x="45" y="61"/>
                    <a:pt x="30" y="61"/>
                    <a:pt x="16" y="61"/>
                  </a:cubicBezTo>
                  <a:cubicBezTo>
                    <a:pt x="5" y="61"/>
                    <a:pt x="1" y="57"/>
                    <a:pt x="0" y="46"/>
                  </a:cubicBezTo>
                  <a:cubicBezTo>
                    <a:pt x="0" y="36"/>
                    <a:pt x="0" y="26"/>
                    <a:pt x="0" y="15"/>
                  </a:cubicBezTo>
                  <a:cubicBezTo>
                    <a:pt x="1" y="6"/>
                    <a:pt x="6" y="0"/>
                    <a:pt x="13" y="1"/>
                  </a:cubicBezTo>
                  <a:cubicBezTo>
                    <a:pt x="22" y="1"/>
                    <a:pt x="25" y="7"/>
                    <a:pt x="25" y="16"/>
                  </a:cubicBezTo>
                  <a:cubicBezTo>
                    <a:pt x="25" y="22"/>
                    <a:pt x="25" y="29"/>
                    <a:pt x="2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70" name="Freeform 73"/>
            <p:cNvSpPr/>
            <p:nvPr/>
          </p:nvSpPr>
          <p:spPr bwMode="auto">
            <a:xfrm>
              <a:off x="14579601" y="3557588"/>
              <a:ext cx="1001713" cy="906463"/>
            </a:xfrm>
            <a:custGeom>
              <a:avLst/>
              <a:gdLst>
                <a:gd name="T0" fmla="*/ 125 w 265"/>
                <a:gd name="T1" fmla="*/ 240 h 240"/>
                <a:gd name="T2" fmla="*/ 10 w 265"/>
                <a:gd name="T3" fmla="*/ 145 h 240"/>
                <a:gd name="T4" fmla="*/ 81 w 265"/>
                <a:gd name="T5" fmla="*/ 16 h 240"/>
                <a:gd name="T6" fmla="*/ 192 w 265"/>
                <a:gd name="T7" fmla="*/ 28 h 240"/>
                <a:gd name="T8" fmla="*/ 198 w 265"/>
                <a:gd name="T9" fmla="*/ 47 h 240"/>
                <a:gd name="T10" fmla="*/ 178 w 265"/>
                <a:gd name="T11" fmla="*/ 49 h 240"/>
                <a:gd name="T12" fmla="*/ 81 w 265"/>
                <a:gd name="T13" fmla="*/ 43 h 240"/>
                <a:gd name="T14" fmla="*/ 38 w 265"/>
                <a:gd name="T15" fmla="*/ 156 h 240"/>
                <a:gd name="T16" fmla="*/ 147 w 265"/>
                <a:gd name="T17" fmla="*/ 213 h 240"/>
                <a:gd name="T18" fmla="*/ 210 w 265"/>
                <a:gd name="T19" fmla="*/ 88 h 240"/>
                <a:gd name="T20" fmla="*/ 214 w 265"/>
                <a:gd name="T21" fmla="*/ 68 h 240"/>
                <a:gd name="T22" fmla="*/ 233 w 265"/>
                <a:gd name="T23" fmla="*/ 79 h 240"/>
                <a:gd name="T24" fmla="*/ 125 w 265"/>
                <a:gd name="T2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5" h="240">
                  <a:moveTo>
                    <a:pt x="125" y="240"/>
                  </a:moveTo>
                  <a:cubicBezTo>
                    <a:pt x="68" y="240"/>
                    <a:pt x="21" y="201"/>
                    <a:pt x="10" y="145"/>
                  </a:cubicBezTo>
                  <a:cubicBezTo>
                    <a:pt x="0" y="91"/>
                    <a:pt x="29" y="36"/>
                    <a:pt x="81" y="16"/>
                  </a:cubicBezTo>
                  <a:cubicBezTo>
                    <a:pt x="120" y="0"/>
                    <a:pt x="157" y="4"/>
                    <a:pt x="192" y="28"/>
                  </a:cubicBezTo>
                  <a:cubicBezTo>
                    <a:pt x="200" y="34"/>
                    <a:pt x="202" y="40"/>
                    <a:pt x="198" y="47"/>
                  </a:cubicBezTo>
                  <a:cubicBezTo>
                    <a:pt x="194" y="53"/>
                    <a:pt x="186" y="54"/>
                    <a:pt x="178" y="49"/>
                  </a:cubicBezTo>
                  <a:cubicBezTo>
                    <a:pt x="147" y="27"/>
                    <a:pt x="115" y="26"/>
                    <a:pt x="81" y="43"/>
                  </a:cubicBezTo>
                  <a:cubicBezTo>
                    <a:pt x="41" y="63"/>
                    <a:pt x="22" y="114"/>
                    <a:pt x="38" y="156"/>
                  </a:cubicBezTo>
                  <a:cubicBezTo>
                    <a:pt x="56" y="200"/>
                    <a:pt x="103" y="225"/>
                    <a:pt x="147" y="213"/>
                  </a:cubicBezTo>
                  <a:cubicBezTo>
                    <a:pt x="203" y="197"/>
                    <a:pt x="231" y="142"/>
                    <a:pt x="210" y="88"/>
                  </a:cubicBezTo>
                  <a:cubicBezTo>
                    <a:pt x="206" y="78"/>
                    <a:pt x="207" y="71"/>
                    <a:pt x="214" y="68"/>
                  </a:cubicBezTo>
                  <a:cubicBezTo>
                    <a:pt x="222" y="65"/>
                    <a:pt x="228" y="69"/>
                    <a:pt x="233" y="79"/>
                  </a:cubicBezTo>
                  <a:cubicBezTo>
                    <a:pt x="265" y="155"/>
                    <a:pt x="208" y="240"/>
                    <a:pt x="125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</p:grpSp>
      <p:sp>
        <p:nvSpPr>
          <p:cNvPr id="28" name="矩形 27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2159250" y="5100401"/>
            <a:ext cx="3169942" cy="14392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考虑不同用户使用习惯，系统配备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高效语音识别模块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，能快速准确地将语音转化为文字并进行处理，大大提升咨询的便捷性和效率。</a:t>
            </a:r>
            <a:endParaRPr lang="en-US" altLang="zh-CN" sz="14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911901" y="4804241"/>
            <a:ext cx="209292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just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语音输入功能拓展</a:t>
            </a:r>
          </a:p>
        </p:txBody>
      </p:sp>
      <p:sp>
        <p:nvSpPr>
          <p:cNvPr id="30" name="矩形 29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6862810" y="5177226"/>
            <a:ext cx="3284244" cy="14854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重构政务咨询流程，建立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“关键词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流程引导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多模型兜底”三级意图识别体系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，结合数据分析优化参数，模糊咨询转化率提升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65%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。</a:t>
            </a:r>
            <a:endParaRPr lang="en-US" altLang="zh-CN" sz="14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905241" y="4876364"/>
            <a:ext cx="2989129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lt"/>
              </a:rPr>
              <a:t>咨询流程重构与意图识别优化</a:t>
            </a:r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8390632" y="2520738"/>
            <a:ext cx="3496568" cy="13930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整合先进数据分析技术处理气象等多元敏感数据，通过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脱敏、分类与关联分析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挖掘政务关联价值，支撑应急管理、民生保障等场景精准施策，提升治理效能。</a:t>
            </a:r>
            <a:endParaRPr lang="en-US" altLang="zh-CN" sz="14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149164" y="2224578"/>
            <a:ext cx="1437800" cy="3438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lt"/>
              </a:rPr>
              <a:t>数据分析</a:t>
            </a:r>
          </a:p>
        </p:txBody>
      </p:sp>
      <p:sp>
        <p:nvSpPr>
          <p:cNvPr id="34" name="矩形 33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640203" y="2709130"/>
            <a:ext cx="3169942" cy="11160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融合智能修订与人工审核提升准确性，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私有化部署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DeepSeek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保障政务数据安全，防范公有云泄露风险。</a:t>
            </a:r>
            <a:endParaRPr lang="en-US" altLang="zh-CN" sz="14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291972" y="2355872"/>
            <a:ext cx="209483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lt"/>
              </a:rPr>
              <a:t>智能辅助与安全保障</a:t>
            </a:r>
          </a:p>
        </p:txBody>
      </p:sp>
      <p:grpSp>
        <p:nvGrpSpPr>
          <p:cNvPr id="36" name="Group 52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/>
        </p:nvGrpSpPr>
        <p:grpSpPr bwMode="auto">
          <a:xfrm>
            <a:off x="2022672" y="1804509"/>
            <a:ext cx="346551" cy="342797"/>
            <a:chOff x="2048" y="797"/>
            <a:chExt cx="1662" cy="1644"/>
          </a:xfrm>
          <a:solidFill>
            <a:schemeClr val="bg1"/>
          </a:solidFill>
        </p:grpSpPr>
        <p:sp>
          <p:nvSpPr>
            <p:cNvPr id="57" name="Freeform 53"/>
            <p:cNvSpPr>
              <a:spLocks noEditPoints="1"/>
            </p:cNvSpPr>
            <p:nvPr/>
          </p:nvSpPr>
          <p:spPr bwMode="auto">
            <a:xfrm>
              <a:off x="2048" y="797"/>
              <a:ext cx="1257" cy="1256"/>
            </a:xfrm>
            <a:custGeom>
              <a:avLst/>
              <a:gdLst>
                <a:gd name="T0" fmla="*/ 264 w 528"/>
                <a:gd name="T1" fmla="*/ 528 h 528"/>
                <a:gd name="T2" fmla="*/ 0 w 528"/>
                <a:gd name="T3" fmla="*/ 264 h 528"/>
                <a:gd name="T4" fmla="*/ 264 w 528"/>
                <a:gd name="T5" fmla="*/ 0 h 528"/>
                <a:gd name="T6" fmla="*/ 528 w 528"/>
                <a:gd name="T7" fmla="*/ 264 h 528"/>
                <a:gd name="T8" fmla="*/ 264 w 528"/>
                <a:gd name="T9" fmla="*/ 528 h 528"/>
                <a:gd name="T10" fmla="*/ 264 w 528"/>
                <a:gd name="T11" fmla="*/ 43 h 528"/>
                <a:gd name="T12" fmla="*/ 43 w 528"/>
                <a:gd name="T13" fmla="*/ 264 h 528"/>
                <a:gd name="T14" fmla="*/ 264 w 528"/>
                <a:gd name="T15" fmla="*/ 485 h 528"/>
                <a:gd name="T16" fmla="*/ 485 w 528"/>
                <a:gd name="T17" fmla="*/ 264 h 528"/>
                <a:gd name="T18" fmla="*/ 264 w 528"/>
                <a:gd name="T19" fmla="*/ 43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8" h="528">
                  <a:moveTo>
                    <a:pt x="264" y="528"/>
                  </a:moveTo>
                  <a:cubicBezTo>
                    <a:pt x="118" y="528"/>
                    <a:pt x="0" y="410"/>
                    <a:pt x="0" y="264"/>
                  </a:cubicBezTo>
                  <a:cubicBezTo>
                    <a:pt x="0" y="118"/>
                    <a:pt x="118" y="0"/>
                    <a:pt x="264" y="0"/>
                  </a:cubicBezTo>
                  <a:cubicBezTo>
                    <a:pt x="410" y="0"/>
                    <a:pt x="528" y="118"/>
                    <a:pt x="528" y="264"/>
                  </a:cubicBezTo>
                  <a:cubicBezTo>
                    <a:pt x="528" y="410"/>
                    <a:pt x="410" y="528"/>
                    <a:pt x="264" y="528"/>
                  </a:cubicBezTo>
                  <a:close/>
                  <a:moveTo>
                    <a:pt x="264" y="43"/>
                  </a:moveTo>
                  <a:cubicBezTo>
                    <a:pt x="142" y="43"/>
                    <a:pt x="43" y="142"/>
                    <a:pt x="43" y="264"/>
                  </a:cubicBezTo>
                  <a:cubicBezTo>
                    <a:pt x="43" y="386"/>
                    <a:pt x="142" y="485"/>
                    <a:pt x="264" y="485"/>
                  </a:cubicBezTo>
                  <a:cubicBezTo>
                    <a:pt x="386" y="485"/>
                    <a:pt x="485" y="386"/>
                    <a:pt x="485" y="264"/>
                  </a:cubicBezTo>
                  <a:cubicBezTo>
                    <a:pt x="485" y="142"/>
                    <a:pt x="386" y="43"/>
                    <a:pt x="26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4"/>
            <p:cNvSpPr/>
            <p:nvPr/>
          </p:nvSpPr>
          <p:spPr bwMode="auto">
            <a:xfrm>
              <a:off x="2277" y="968"/>
              <a:ext cx="426" cy="262"/>
            </a:xfrm>
            <a:custGeom>
              <a:avLst/>
              <a:gdLst>
                <a:gd name="T0" fmla="*/ 12 w 179"/>
                <a:gd name="T1" fmla="*/ 110 h 110"/>
                <a:gd name="T2" fmla="*/ 6 w 179"/>
                <a:gd name="T3" fmla="*/ 109 h 110"/>
                <a:gd name="T4" fmla="*/ 3 w 179"/>
                <a:gd name="T5" fmla="*/ 94 h 110"/>
                <a:gd name="T6" fmla="*/ 168 w 179"/>
                <a:gd name="T7" fmla="*/ 0 h 110"/>
                <a:gd name="T8" fmla="*/ 179 w 179"/>
                <a:gd name="T9" fmla="*/ 11 h 110"/>
                <a:gd name="T10" fmla="*/ 168 w 179"/>
                <a:gd name="T11" fmla="*/ 21 h 110"/>
                <a:gd name="T12" fmla="*/ 21 w 179"/>
                <a:gd name="T13" fmla="*/ 105 h 110"/>
                <a:gd name="T14" fmla="*/ 12 w 179"/>
                <a:gd name="T15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110">
                  <a:moveTo>
                    <a:pt x="12" y="110"/>
                  </a:moveTo>
                  <a:cubicBezTo>
                    <a:pt x="10" y="110"/>
                    <a:pt x="8" y="110"/>
                    <a:pt x="6" y="109"/>
                  </a:cubicBezTo>
                  <a:cubicBezTo>
                    <a:pt x="1" y="106"/>
                    <a:pt x="0" y="99"/>
                    <a:pt x="3" y="94"/>
                  </a:cubicBezTo>
                  <a:cubicBezTo>
                    <a:pt x="37" y="36"/>
                    <a:pt x="101" y="0"/>
                    <a:pt x="168" y="0"/>
                  </a:cubicBezTo>
                  <a:cubicBezTo>
                    <a:pt x="174" y="0"/>
                    <a:pt x="179" y="5"/>
                    <a:pt x="179" y="11"/>
                  </a:cubicBezTo>
                  <a:cubicBezTo>
                    <a:pt x="179" y="16"/>
                    <a:pt x="174" y="21"/>
                    <a:pt x="168" y="21"/>
                  </a:cubicBezTo>
                  <a:cubicBezTo>
                    <a:pt x="108" y="21"/>
                    <a:pt x="52" y="53"/>
                    <a:pt x="21" y="105"/>
                  </a:cubicBezTo>
                  <a:cubicBezTo>
                    <a:pt x="19" y="108"/>
                    <a:pt x="16" y="110"/>
                    <a:pt x="12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5"/>
            <p:cNvSpPr/>
            <p:nvPr/>
          </p:nvSpPr>
          <p:spPr bwMode="auto">
            <a:xfrm>
              <a:off x="2219" y="1299"/>
              <a:ext cx="65" cy="136"/>
            </a:xfrm>
            <a:custGeom>
              <a:avLst/>
              <a:gdLst>
                <a:gd name="T0" fmla="*/ 11 w 27"/>
                <a:gd name="T1" fmla="*/ 57 h 57"/>
                <a:gd name="T2" fmla="*/ 0 w 27"/>
                <a:gd name="T3" fmla="*/ 47 h 57"/>
                <a:gd name="T4" fmla="*/ 5 w 27"/>
                <a:gd name="T5" fmla="*/ 9 h 57"/>
                <a:gd name="T6" fmla="*/ 18 w 27"/>
                <a:gd name="T7" fmla="*/ 1 h 57"/>
                <a:gd name="T8" fmla="*/ 26 w 27"/>
                <a:gd name="T9" fmla="*/ 14 h 57"/>
                <a:gd name="T10" fmla="*/ 21 w 27"/>
                <a:gd name="T11" fmla="*/ 47 h 57"/>
                <a:gd name="T12" fmla="*/ 11 w 27"/>
                <a:gd name="T1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57">
                  <a:moveTo>
                    <a:pt x="11" y="57"/>
                  </a:moveTo>
                  <a:cubicBezTo>
                    <a:pt x="5" y="57"/>
                    <a:pt x="0" y="53"/>
                    <a:pt x="0" y="47"/>
                  </a:cubicBezTo>
                  <a:cubicBezTo>
                    <a:pt x="0" y="31"/>
                    <a:pt x="2" y="23"/>
                    <a:pt x="5" y="9"/>
                  </a:cubicBezTo>
                  <a:cubicBezTo>
                    <a:pt x="6" y="3"/>
                    <a:pt x="12" y="0"/>
                    <a:pt x="18" y="1"/>
                  </a:cubicBezTo>
                  <a:cubicBezTo>
                    <a:pt x="24" y="2"/>
                    <a:pt x="27" y="8"/>
                    <a:pt x="26" y="14"/>
                  </a:cubicBezTo>
                  <a:cubicBezTo>
                    <a:pt x="23" y="27"/>
                    <a:pt x="21" y="34"/>
                    <a:pt x="21" y="47"/>
                  </a:cubicBezTo>
                  <a:cubicBezTo>
                    <a:pt x="21" y="53"/>
                    <a:pt x="17" y="57"/>
                    <a:pt x="11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6"/>
            <p:cNvSpPr>
              <a:spLocks noEditPoints="1"/>
            </p:cNvSpPr>
            <p:nvPr/>
          </p:nvSpPr>
          <p:spPr bwMode="auto">
            <a:xfrm>
              <a:off x="2988" y="1727"/>
              <a:ext cx="722" cy="714"/>
            </a:xfrm>
            <a:custGeom>
              <a:avLst/>
              <a:gdLst>
                <a:gd name="T0" fmla="*/ 238 w 303"/>
                <a:gd name="T1" fmla="*/ 300 h 300"/>
                <a:gd name="T2" fmla="*/ 192 w 303"/>
                <a:gd name="T3" fmla="*/ 281 h 300"/>
                <a:gd name="T4" fmla="*/ 18 w 303"/>
                <a:gd name="T5" fmla="*/ 107 h 300"/>
                <a:gd name="T6" fmla="*/ 6 w 303"/>
                <a:gd name="T7" fmla="*/ 60 h 300"/>
                <a:gd name="T8" fmla="*/ 29 w 303"/>
                <a:gd name="T9" fmla="*/ 26 h 300"/>
                <a:gd name="T10" fmla="*/ 77 w 303"/>
                <a:gd name="T11" fmla="*/ 0 h 300"/>
                <a:gd name="T12" fmla="*/ 110 w 303"/>
                <a:gd name="T13" fmla="*/ 15 h 300"/>
                <a:gd name="T14" fmla="*/ 284 w 303"/>
                <a:gd name="T15" fmla="*/ 189 h 300"/>
                <a:gd name="T16" fmla="*/ 303 w 303"/>
                <a:gd name="T17" fmla="*/ 235 h 300"/>
                <a:gd name="T18" fmla="*/ 284 w 303"/>
                <a:gd name="T19" fmla="*/ 281 h 300"/>
                <a:gd name="T20" fmla="*/ 238 w 303"/>
                <a:gd name="T21" fmla="*/ 300 h 300"/>
                <a:gd name="T22" fmla="*/ 47 w 303"/>
                <a:gd name="T23" fmla="*/ 74 h 300"/>
                <a:gd name="T24" fmla="*/ 49 w 303"/>
                <a:gd name="T25" fmla="*/ 76 h 300"/>
                <a:gd name="T26" fmla="*/ 223 w 303"/>
                <a:gd name="T27" fmla="*/ 250 h 300"/>
                <a:gd name="T28" fmla="*/ 253 w 303"/>
                <a:gd name="T29" fmla="*/ 250 h 300"/>
                <a:gd name="T30" fmla="*/ 260 w 303"/>
                <a:gd name="T31" fmla="*/ 235 h 300"/>
                <a:gd name="T32" fmla="*/ 253 w 303"/>
                <a:gd name="T33" fmla="*/ 220 h 300"/>
                <a:gd name="T34" fmla="*/ 79 w 303"/>
                <a:gd name="T35" fmla="*/ 46 h 300"/>
                <a:gd name="T36" fmla="*/ 77 w 303"/>
                <a:gd name="T37" fmla="*/ 44 h 300"/>
                <a:gd name="T38" fmla="*/ 60 w 303"/>
                <a:gd name="T39" fmla="*/ 56 h 300"/>
                <a:gd name="T40" fmla="*/ 47 w 303"/>
                <a:gd name="T41" fmla="*/ 74 h 300"/>
                <a:gd name="T42" fmla="*/ 47 w 303"/>
                <a:gd name="T43" fmla="*/ 74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3" h="300">
                  <a:moveTo>
                    <a:pt x="238" y="300"/>
                  </a:moveTo>
                  <a:cubicBezTo>
                    <a:pt x="221" y="300"/>
                    <a:pt x="205" y="293"/>
                    <a:pt x="192" y="281"/>
                  </a:cubicBezTo>
                  <a:cubicBezTo>
                    <a:pt x="18" y="107"/>
                    <a:pt x="18" y="107"/>
                    <a:pt x="18" y="107"/>
                  </a:cubicBezTo>
                  <a:cubicBezTo>
                    <a:pt x="5" y="93"/>
                    <a:pt x="0" y="77"/>
                    <a:pt x="6" y="60"/>
                  </a:cubicBezTo>
                  <a:cubicBezTo>
                    <a:pt x="10" y="46"/>
                    <a:pt x="21" y="34"/>
                    <a:pt x="29" y="26"/>
                  </a:cubicBezTo>
                  <a:cubicBezTo>
                    <a:pt x="42" y="13"/>
                    <a:pt x="57" y="0"/>
                    <a:pt x="77" y="0"/>
                  </a:cubicBezTo>
                  <a:cubicBezTo>
                    <a:pt x="85" y="0"/>
                    <a:pt x="98" y="3"/>
                    <a:pt x="110" y="15"/>
                  </a:cubicBezTo>
                  <a:cubicBezTo>
                    <a:pt x="284" y="189"/>
                    <a:pt x="284" y="189"/>
                    <a:pt x="284" y="189"/>
                  </a:cubicBezTo>
                  <a:cubicBezTo>
                    <a:pt x="296" y="201"/>
                    <a:pt x="303" y="218"/>
                    <a:pt x="303" y="235"/>
                  </a:cubicBezTo>
                  <a:cubicBezTo>
                    <a:pt x="303" y="252"/>
                    <a:pt x="296" y="269"/>
                    <a:pt x="284" y="281"/>
                  </a:cubicBezTo>
                  <a:cubicBezTo>
                    <a:pt x="272" y="293"/>
                    <a:pt x="255" y="300"/>
                    <a:pt x="238" y="300"/>
                  </a:cubicBezTo>
                  <a:close/>
                  <a:moveTo>
                    <a:pt x="47" y="74"/>
                  </a:moveTo>
                  <a:cubicBezTo>
                    <a:pt x="47" y="74"/>
                    <a:pt x="47" y="75"/>
                    <a:pt x="49" y="76"/>
                  </a:cubicBezTo>
                  <a:cubicBezTo>
                    <a:pt x="223" y="250"/>
                    <a:pt x="223" y="250"/>
                    <a:pt x="223" y="250"/>
                  </a:cubicBezTo>
                  <a:cubicBezTo>
                    <a:pt x="231" y="258"/>
                    <a:pt x="245" y="258"/>
                    <a:pt x="253" y="250"/>
                  </a:cubicBezTo>
                  <a:cubicBezTo>
                    <a:pt x="257" y="246"/>
                    <a:pt x="260" y="241"/>
                    <a:pt x="260" y="235"/>
                  </a:cubicBezTo>
                  <a:cubicBezTo>
                    <a:pt x="260" y="229"/>
                    <a:pt x="257" y="224"/>
                    <a:pt x="253" y="220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78" y="44"/>
                    <a:pt x="77" y="44"/>
                    <a:pt x="77" y="44"/>
                  </a:cubicBezTo>
                  <a:cubicBezTo>
                    <a:pt x="76" y="44"/>
                    <a:pt x="72" y="44"/>
                    <a:pt x="60" y="56"/>
                  </a:cubicBezTo>
                  <a:cubicBezTo>
                    <a:pt x="47" y="69"/>
                    <a:pt x="47" y="73"/>
                    <a:pt x="47" y="74"/>
                  </a:cubicBezTo>
                  <a:cubicBezTo>
                    <a:pt x="47" y="74"/>
                    <a:pt x="47" y="74"/>
                    <a:pt x="47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7" name="Group 59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/>
        </p:nvGrpSpPr>
        <p:grpSpPr bwMode="auto">
          <a:xfrm>
            <a:off x="3461217" y="4298390"/>
            <a:ext cx="331457" cy="329881"/>
            <a:chOff x="2039" y="775"/>
            <a:chExt cx="1683" cy="1675"/>
          </a:xfrm>
          <a:solidFill>
            <a:schemeClr val="bg1"/>
          </a:solidFill>
        </p:grpSpPr>
        <p:sp>
          <p:nvSpPr>
            <p:cNvPr id="53" name="Freeform 60"/>
            <p:cNvSpPr>
              <a:spLocks noEditPoints="1"/>
            </p:cNvSpPr>
            <p:nvPr/>
          </p:nvSpPr>
          <p:spPr bwMode="auto">
            <a:xfrm>
              <a:off x="2039" y="775"/>
              <a:ext cx="1683" cy="1675"/>
            </a:xfrm>
            <a:custGeom>
              <a:avLst/>
              <a:gdLst>
                <a:gd name="T0" fmla="*/ 485 w 707"/>
                <a:gd name="T1" fmla="*/ 704 h 704"/>
                <a:gd name="T2" fmla="*/ 419 w 707"/>
                <a:gd name="T3" fmla="*/ 672 h 704"/>
                <a:gd name="T4" fmla="*/ 37 w 707"/>
                <a:gd name="T5" fmla="*/ 290 h 704"/>
                <a:gd name="T6" fmla="*/ 7 w 707"/>
                <a:gd name="T7" fmla="*/ 206 h 704"/>
                <a:gd name="T8" fmla="*/ 74 w 707"/>
                <a:gd name="T9" fmla="*/ 149 h 704"/>
                <a:gd name="T10" fmla="*/ 595 w 707"/>
                <a:gd name="T11" fmla="*/ 10 h 704"/>
                <a:gd name="T12" fmla="*/ 688 w 707"/>
                <a:gd name="T13" fmla="*/ 33 h 704"/>
                <a:gd name="T14" fmla="*/ 699 w 707"/>
                <a:gd name="T15" fmla="*/ 114 h 704"/>
                <a:gd name="T16" fmla="*/ 560 w 707"/>
                <a:gd name="T17" fmla="*/ 635 h 704"/>
                <a:gd name="T18" fmla="*/ 485 w 707"/>
                <a:gd name="T19" fmla="*/ 704 h 704"/>
                <a:gd name="T20" fmla="*/ 627 w 707"/>
                <a:gd name="T21" fmla="*/ 49 h 704"/>
                <a:gd name="T22" fmla="*/ 606 w 707"/>
                <a:gd name="T23" fmla="*/ 52 h 704"/>
                <a:gd name="T24" fmla="*/ 85 w 707"/>
                <a:gd name="T25" fmla="*/ 191 h 704"/>
                <a:gd name="T26" fmla="*/ 49 w 707"/>
                <a:gd name="T27" fmla="*/ 218 h 704"/>
                <a:gd name="T28" fmla="*/ 68 w 707"/>
                <a:gd name="T29" fmla="*/ 259 h 704"/>
                <a:gd name="T30" fmla="*/ 449 w 707"/>
                <a:gd name="T31" fmla="*/ 641 h 704"/>
                <a:gd name="T32" fmla="*/ 485 w 707"/>
                <a:gd name="T33" fmla="*/ 660 h 704"/>
                <a:gd name="T34" fmla="*/ 517 w 707"/>
                <a:gd name="T35" fmla="*/ 623 h 704"/>
                <a:gd name="T36" fmla="*/ 656 w 707"/>
                <a:gd name="T37" fmla="*/ 103 h 704"/>
                <a:gd name="T38" fmla="*/ 653 w 707"/>
                <a:gd name="T39" fmla="*/ 60 h 704"/>
                <a:gd name="T40" fmla="*/ 627 w 707"/>
                <a:gd name="T41" fmla="*/ 49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7" h="704">
                  <a:moveTo>
                    <a:pt x="485" y="704"/>
                  </a:moveTo>
                  <a:cubicBezTo>
                    <a:pt x="462" y="704"/>
                    <a:pt x="439" y="693"/>
                    <a:pt x="419" y="672"/>
                  </a:cubicBezTo>
                  <a:cubicBezTo>
                    <a:pt x="37" y="290"/>
                    <a:pt x="37" y="290"/>
                    <a:pt x="37" y="290"/>
                  </a:cubicBezTo>
                  <a:cubicBezTo>
                    <a:pt x="10" y="264"/>
                    <a:pt x="0" y="234"/>
                    <a:pt x="7" y="206"/>
                  </a:cubicBezTo>
                  <a:cubicBezTo>
                    <a:pt x="15" y="179"/>
                    <a:pt x="38" y="159"/>
                    <a:pt x="74" y="149"/>
                  </a:cubicBezTo>
                  <a:cubicBezTo>
                    <a:pt x="595" y="10"/>
                    <a:pt x="595" y="10"/>
                    <a:pt x="595" y="10"/>
                  </a:cubicBezTo>
                  <a:cubicBezTo>
                    <a:pt x="634" y="0"/>
                    <a:pt x="669" y="8"/>
                    <a:pt x="688" y="33"/>
                  </a:cubicBezTo>
                  <a:cubicBezTo>
                    <a:pt x="703" y="54"/>
                    <a:pt x="707" y="82"/>
                    <a:pt x="699" y="114"/>
                  </a:cubicBezTo>
                  <a:cubicBezTo>
                    <a:pt x="560" y="635"/>
                    <a:pt x="560" y="635"/>
                    <a:pt x="560" y="635"/>
                  </a:cubicBezTo>
                  <a:cubicBezTo>
                    <a:pt x="548" y="678"/>
                    <a:pt x="520" y="704"/>
                    <a:pt x="485" y="704"/>
                  </a:cubicBezTo>
                  <a:close/>
                  <a:moveTo>
                    <a:pt x="627" y="49"/>
                  </a:moveTo>
                  <a:cubicBezTo>
                    <a:pt x="620" y="49"/>
                    <a:pt x="613" y="50"/>
                    <a:pt x="606" y="52"/>
                  </a:cubicBezTo>
                  <a:cubicBezTo>
                    <a:pt x="85" y="191"/>
                    <a:pt x="85" y="191"/>
                    <a:pt x="85" y="191"/>
                  </a:cubicBezTo>
                  <a:cubicBezTo>
                    <a:pt x="66" y="197"/>
                    <a:pt x="53" y="206"/>
                    <a:pt x="49" y="218"/>
                  </a:cubicBezTo>
                  <a:cubicBezTo>
                    <a:pt x="46" y="229"/>
                    <a:pt x="53" y="245"/>
                    <a:pt x="68" y="259"/>
                  </a:cubicBezTo>
                  <a:cubicBezTo>
                    <a:pt x="449" y="641"/>
                    <a:pt x="449" y="641"/>
                    <a:pt x="449" y="641"/>
                  </a:cubicBezTo>
                  <a:cubicBezTo>
                    <a:pt x="462" y="653"/>
                    <a:pt x="474" y="660"/>
                    <a:pt x="485" y="660"/>
                  </a:cubicBezTo>
                  <a:cubicBezTo>
                    <a:pt x="505" y="660"/>
                    <a:pt x="515" y="634"/>
                    <a:pt x="517" y="623"/>
                  </a:cubicBezTo>
                  <a:cubicBezTo>
                    <a:pt x="656" y="103"/>
                    <a:pt x="656" y="103"/>
                    <a:pt x="656" y="103"/>
                  </a:cubicBezTo>
                  <a:cubicBezTo>
                    <a:pt x="661" y="84"/>
                    <a:pt x="660" y="69"/>
                    <a:pt x="653" y="60"/>
                  </a:cubicBezTo>
                  <a:cubicBezTo>
                    <a:pt x="646" y="51"/>
                    <a:pt x="635" y="49"/>
                    <a:pt x="627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61"/>
            <p:cNvSpPr/>
            <p:nvPr/>
          </p:nvSpPr>
          <p:spPr bwMode="auto">
            <a:xfrm>
              <a:off x="3265" y="1815"/>
              <a:ext cx="59" cy="64"/>
            </a:xfrm>
            <a:custGeom>
              <a:avLst/>
              <a:gdLst>
                <a:gd name="T0" fmla="*/ 12 w 25"/>
                <a:gd name="T1" fmla="*/ 27 h 27"/>
                <a:gd name="T2" fmla="*/ 10 w 25"/>
                <a:gd name="T3" fmla="*/ 27 h 27"/>
                <a:gd name="T4" fmla="*/ 2 w 25"/>
                <a:gd name="T5" fmla="*/ 14 h 27"/>
                <a:gd name="T6" fmla="*/ 3 w 25"/>
                <a:gd name="T7" fmla="*/ 9 h 27"/>
                <a:gd name="T8" fmla="*/ 16 w 25"/>
                <a:gd name="T9" fmla="*/ 1 h 27"/>
                <a:gd name="T10" fmla="*/ 24 w 25"/>
                <a:gd name="T11" fmla="*/ 15 h 27"/>
                <a:gd name="T12" fmla="*/ 23 w 25"/>
                <a:gd name="T13" fmla="*/ 19 h 27"/>
                <a:gd name="T14" fmla="*/ 12 w 25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7">
                  <a:moveTo>
                    <a:pt x="12" y="27"/>
                  </a:moveTo>
                  <a:cubicBezTo>
                    <a:pt x="11" y="27"/>
                    <a:pt x="10" y="27"/>
                    <a:pt x="10" y="27"/>
                  </a:cubicBezTo>
                  <a:cubicBezTo>
                    <a:pt x="4" y="25"/>
                    <a:pt x="0" y="19"/>
                    <a:pt x="2" y="14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3"/>
                    <a:pt x="10" y="0"/>
                    <a:pt x="16" y="1"/>
                  </a:cubicBezTo>
                  <a:cubicBezTo>
                    <a:pt x="22" y="3"/>
                    <a:pt x="25" y="9"/>
                    <a:pt x="24" y="15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24"/>
                    <a:pt x="17" y="27"/>
                    <a:pt x="1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62"/>
            <p:cNvSpPr/>
            <p:nvPr/>
          </p:nvSpPr>
          <p:spPr bwMode="auto">
            <a:xfrm>
              <a:off x="3193" y="1891"/>
              <a:ext cx="112" cy="267"/>
            </a:xfrm>
            <a:custGeom>
              <a:avLst/>
              <a:gdLst>
                <a:gd name="T0" fmla="*/ 12 w 47"/>
                <a:gd name="T1" fmla="*/ 112 h 112"/>
                <a:gd name="T2" fmla="*/ 9 w 47"/>
                <a:gd name="T3" fmla="*/ 112 h 112"/>
                <a:gd name="T4" fmla="*/ 1 w 47"/>
                <a:gd name="T5" fmla="*/ 99 h 112"/>
                <a:gd name="T6" fmla="*/ 25 w 47"/>
                <a:gd name="T7" fmla="*/ 9 h 112"/>
                <a:gd name="T8" fmla="*/ 38 w 47"/>
                <a:gd name="T9" fmla="*/ 1 h 112"/>
                <a:gd name="T10" fmla="*/ 46 w 47"/>
                <a:gd name="T11" fmla="*/ 14 h 112"/>
                <a:gd name="T12" fmla="*/ 22 w 47"/>
                <a:gd name="T13" fmla="*/ 104 h 112"/>
                <a:gd name="T14" fmla="*/ 12 w 47"/>
                <a:gd name="T15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112">
                  <a:moveTo>
                    <a:pt x="12" y="112"/>
                  </a:moveTo>
                  <a:cubicBezTo>
                    <a:pt x="11" y="112"/>
                    <a:pt x="10" y="112"/>
                    <a:pt x="9" y="112"/>
                  </a:cubicBezTo>
                  <a:cubicBezTo>
                    <a:pt x="3" y="110"/>
                    <a:pt x="0" y="104"/>
                    <a:pt x="1" y="9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3"/>
                    <a:pt x="32" y="0"/>
                    <a:pt x="38" y="1"/>
                  </a:cubicBezTo>
                  <a:cubicBezTo>
                    <a:pt x="44" y="3"/>
                    <a:pt x="47" y="9"/>
                    <a:pt x="46" y="1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1" y="109"/>
                    <a:pt x="17" y="112"/>
                    <a:pt x="12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63"/>
            <p:cNvSpPr/>
            <p:nvPr/>
          </p:nvSpPr>
          <p:spPr bwMode="auto">
            <a:xfrm>
              <a:off x="2569" y="1487"/>
              <a:ext cx="462" cy="457"/>
            </a:xfrm>
            <a:custGeom>
              <a:avLst/>
              <a:gdLst>
                <a:gd name="T0" fmla="*/ 24 w 194"/>
                <a:gd name="T1" fmla="*/ 192 h 192"/>
                <a:gd name="T2" fmla="*/ 8 w 194"/>
                <a:gd name="T3" fmla="*/ 186 h 192"/>
                <a:gd name="T4" fmla="*/ 8 w 194"/>
                <a:gd name="T5" fmla="*/ 155 h 192"/>
                <a:gd name="T6" fmla="*/ 155 w 194"/>
                <a:gd name="T7" fmla="*/ 8 h 192"/>
                <a:gd name="T8" fmla="*/ 186 w 194"/>
                <a:gd name="T9" fmla="*/ 8 h 192"/>
                <a:gd name="T10" fmla="*/ 186 w 194"/>
                <a:gd name="T11" fmla="*/ 39 h 192"/>
                <a:gd name="T12" fmla="*/ 39 w 194"/>
                <a:gd name="T13" fmla="*/ 186 h 192"/>
                <a:gd name="T14" fmla="*/ 24 w 194"/>
                <a:gd name="T1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92">
                  <a:moveTo>
                    <a:pt x="24" y="192"/>
                  </a:moveTo>
                  <a:cubicBezTo>
                    <a:pt x="18" y="192"/>
                    <a:pt x="13" y="190"/>
                    <a:pt x="8" y="186"/>
                  </a:cubicBezTo>
                  <a:cubicBezTo>
                    <a:pt x="0" y="177"/>
                    <a:pt x="0" y="163"/>
                    <a:pt x="8" y="155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64" y="0"/>
                    <a:pt x="177" y="0"/>
                    <a:pt x="186" y="8"/>
                  </a:cubicBezTo>
                  <a:cubicBezTo>
                    <a:pt x="194" y="17"/>
                    <a:pt x="194" y="31"/>
                    <a:pt x="186" y="39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5" y="190"/>
                    <a:pt x="29" y="192"/>
                    <a:pt x="24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8" name="Group 66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/>
        </p:nvGrpSpPr>
        <p:grpSpPr bwMode="auto">
          <a:xfrm>
            <a:off x="8053591" y="4337228"/>
            <a:ext cx="346215" cy="345176"/>
            <a:chOff x="2043" y="790"/>
            <a:chExt cx="1667" cy="1662"/>
          </a:xfrm>
          <a:solidFill>
            <a:schemeClr val="bg1"/>
          </a:solidFill>
        </p:grpSpPr>
        <p:sp>
          <p:nvSpPr>
            <p:cNvPr id="48" name="Freeform 67"/>
            <p:cNvSpPr/>
            <p:nvPr/>
          </p:nvSpPr>
          <p:spPr bwMode="auto">
            <a:xfrm>
              <a:off x="2043" y="790"/>
              <a:ext cx="1667" cy="1662"/>
            </a:xfrm>
            <a:custGeom>
              <a:avLst/>
              <a:gdLst>
                <a:gd name="T0" fmla="*/ 199 w 701"/>
                <a:gd name="T1" fmla="*/ 698 h 698"/>
                <a:gd name="T2" fmla="*/ 185 w 701"/>
                <a:gd name="T3" fmla="*/ 693 h 698"/>
                <a:gd name="T4" fmla="*/ 179 w 701"/>
                <a:gd name="T5" fmla="*/ 668 h 698"/>
                <a:gd name="T6" fmla="*/ 204 w 701"/>
                <a:gd name="T7" fmla="*/ 609 h 698"/>
                <a:gd name="T8" fmla="*/ 212 w 701"/>
                <a:gd name="T9" fmla="*/ 585 h 698"/>
                <a:gd name="T10" fmla="*/ 215 w 701"/>
                <a:gd name="T11" fmla="*/ 558 h 698"/>
                <a:gd name="T12" fmla="*/ 245 w 701"/>
                <a:gd name="T13" fmla="*/ 558 h 698"/>
                <a:gd name="T14" fmla="*/ 244 w 701"/>
                <a:gd name="T15" fmla="*/ 627 h 698"/>
                <a:gd name="T16" fmla="*/ 243 w 701"/>
                <a:gd name="T17" fmla="*/ 628 h 698"/>
                <a:gd name="T18" fmla="*/ 341 w 701"/>
                <a:gd name="T19" fmla="*/ 574 h 698"/>
                <a:gd name="T20" fmla="*/ 352 w 701"/>
                <a:gd name="T21" fmla="*/ 571 h 698"/>
                <a:gd name="T22" fmla="*/ 657 w 701"/>
                <a:gd name="T23" fmla="*/ 302 h 698"/>
                <a:gd name="T24" fmla="*/ 352 w 701"/>
                <a:gd name="T25" fmla="*/ 44 h 698"/>
                <a:gd name="T26" fmla="*/ 46 w 701"/>
                <a:gd name="T27" fmla="*/ 303 h 698"/>
                <a:gd name="T28" fmla="*/ 160 w 701"/>
                <a:gd name="T29" fmla="*/ 512 h 698"/>
                <a:gd name="T30" fmla="*/ 166 w 701"/>
                <a:gd name="T31" fmla="*/ 542 h 698"/>
                <a:gd name="T32" fmla="*/ 135 w 701"/>
                <a:gd name="T33" fmla="*/ 547 h 698"/>
                <a:gd name="T34" fmla="*/ 3 w 701"/>
                <a:gd name="T35" fmla="*/ 301 h 698"/>
                <a:gd name="T36" fmla="*/ 352 w 701"/>
                <a:gd name="T37" fmla="*/ 0 h 698"/>
                <a:gd name="T38" fmla="*/ 701 w 701"/>
                <a:gd name="T39" fmla="*/ 302 h 698"/>
                <a:gd name="T40" fmla="*/ 358 w 701"/>
                <a:gd name="T41" fmla="*/ 615 h 698"/>
                <a:gd name="T42" fmla="*/ 210 w 701"/>
                <a:gd name="T43" fmla="*/ 696 h 698"/>
                <a:gd name="T44" fmla="*/ 199 w 701"/>
                <a:gd name="T45" fmla="*/ 698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1" h="698">
                  <a:moveTo>
                    <a:pt x="199" y="698"/>
                  </a:moveTo>
                  <a:cubicBezTo>
                    <a:pt x="194" y="698"/>
                    <a:pt x="189" y="696"/>
                    <a:pt x="185" y="693"/>
                  </a:cubicBezTo>
                  <a:cubicBezTo>
                    <a:pt x="178" y="687"/>
                    <a:pt x="176" y="677"/>
                    <a:pt x="179" y="668"/>
                  </a:cubicBezTo>
                  <a:cubicBezTo>
                    <a:pt x="204" y="609"/>
                    <a:pt x="204" y="609"/>
                    <a:pt x="204" y="609"/>
                  </a:cubicBezTo>
                  <a:cubicBezTo>
                    <a:pt x="208" y="600"/>
                    <a:pt x="211" y="589"/>
                    <a:pt x="212" y="585"/>
                  </a:cubicBezTo>
                  <a:cubicBezTo>
                    <a:pt x="206" y="576"/>
                    <a:pt x="207" y="565"/>
                    <a:pt x="215" y="558"/>
                  </a:cubicBezTo>
                  <a:cubicBezTo>
                    <a:pt x="223" y="549"/>
                    <a:pt x="237" y="549"/>
                    <a:pt x="245" y="558"/>
                  </a:cubicBezTo>
                  <a:cubicBezTo>
                    <a:pt x="264" y="576"/>
                    <a:pt x="252" y="609"/>
                    <a:pt x="244" y="627"/>
                  </a:cubicBezTo>
                  <a:cubicBezTo>
                    <a:pt x="243" y="628"/>
                    <a:pt x="243" y="628"/>
                    <a:pt x="243" y="628"/>
                  </a:cubicBezTo>
                  <a:cubicBezTo>
                    <a:pt x="341" y="574"/>
                    <a:pt x="341" y="574"/>
                    <a:pt x="341" y="574"/>
                  </a:cubicBezTo>
                  <a:cubicBezTo>
                    <a:pt x="345" y="572"/>
                    <a:pt x="348" y="571"/>
                    <a:pt x="352" y="571"/>
                  </a:cubicBezTo>
                  <a:cubicBezTo>
                    <a:pt x="520" y="571"/>
                    <a:pt x="657" y="451"/>
                    <a:pt x="657" y="302"/>
                  </a:cubicBezTo>
                  <a:cubicBezTo>
                    <a:pt x="657" y="164"/>
                    <a:pt x="515" y="44"/>
                    <a:pt x="352" y="44"/>
                  </a:cubicBezTo>
                  <a:cubicBezTo>
                    <a:pt x="190" y="44"/>
                    <a:pt x="51" y="162"/>
                    <a:pt x="46" y="303"/>
                  </a:cubicBezTo>
                  <a:cubicBezTo>
                    <a:pt x="44" y="383"/>
                    <a:pt x="86" y="459"/>
                    <a:pt x="160" y="512"/>
                  </a:cubicBezTo>
                  <a:cubicBezTo>
                    <a:pt x="170" y="519"/>
                    <a:pt x="173" y="532"/>
                    <a:pt x="166" y="542"/>
                  </a:cubicBezTo>
                  <a:cubicBezTo>
                    <a:pt x="159" y="552"/>
                    <a:pt x="145" y="554"/>
                    <a:pt x="135" y="547"/>
                  </a:cubicBezTo>
                  <a:cubicBezTo>
                    <a:pt x="48" y="486"/>
                    <a:pt x="0" y="396"/>
                    <a:pt x="3" y="301"/>
                  </a:cubicBezTo>
                  <a:cubicBezTo>
                    <a:pt x="8" y="138"/>
                    <a:pt x="168" y="0"/>
                    <a:pt x="352" y="0"/>
                  </a:cubicBezTo>
                  <a:cubicBezTo>
                    <a:pt x="541" y="0"/>
                    <a:pt x="701" y="139"/>
                    <a:pt x="701" y="302"/>
                  </a:cubicBezTo>
                  <a:cubicBezTo>
                    <a:pt x="701" y="473"/>
                    <a:pt x="547" y="612"/>
                    <a:pt x="358" y="615"/>
                  </a:cubicBezTo>
                  <a:cubicBezTo>
                    <a:pt x="210" y="696"/>
                    <a:pt x="210" y="696"/>
                    <a:pt x="210" y="696"/>
                  </a:cubicBezTo>
                  <a:cubicBezTo>
                    <a:pt x="206" y="697"/>
                    <a:pt x="203" y="698"/>
                    <a:pt x="199" y="6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68"/>
            <p:cNvSpPr/>
            <p:nvPr/>
          </p:nvSpPr>
          <p:spPr bwMode="auto">
            <a:xfrm>
              <a:off x="2521" y="1364"/>
              <a:ext cx="516" cy="50"/>
            </a:xfrm>
            <a:custGeom>
              <a:avLst/>
              <a:gdLst>
                <a:gd name="T0" fmla="*/ 206 w 217"/>
                <a:gd name="T1" fmla="*/ 21 h 21"/>
                <a:gd name="T2" fmla="*/ 11 w 217"/>
                <a:gd name="T3" fmla="*/ 21 h 21"/>
                <a:gd name="T4" fmla="*/ 0 w 217"/>
                <a:gd name="T5" fmla="*/ 10 h 21"/>
                <a:gd name="T6" fmla="*/ 11 w 217"/>
                <a:gd name="T7" fmla="*/ 0 h 21"/>
                <a:gd name="T8" fmla="*/ 206 w 217"/>
                <a:gd name="T9" fmla="*/ 0 h 21"/>
                <a:gd name="T10" fmla="*/ 217 w 217"/>
                <a:gd name="T11" fmla="*/ 10 h 21"/>
                <a:gd name="T12" fmla="*/ 206 w 217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7" h="21">
                  <a:moveTo>
                    <a:pt x="206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5" y="21"/>
                    <a:pt x="0" y="16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12" y="0"/>
                    <a:pt x="217" y="4"/>
                    <a:pt x="217" y="10"/>
                  </a:cubicBezTo>
                  <a:cubicBezTo>
                    <a:pt x="217" y="16"/>
                    <a:pt x="212" y="21"/>
                    <a:pt x="206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69"/>
            <p:cNvSpPr/>
            <p:nvPr/>
          </p:nvSpPr>
          <p:spPr bwMode="auto">
            <a:xfrm>
              <a:off x="3116" y="1364"/>
              <a:ext cx="128" cy="50"/>
            </a:xfrm>
            <a:custGeom>
              <a:avLst/>
              <a:gdLst>
                <a:gd name="T0" fmla="*/ 43 w 54"/>
                <a:gd name="T1" fmla="*/ 21 h 21"/>
                <a:gd name="T2" fmla="*/ 10 w 54"/>
                <a:gd name="T3" fmla="*/ 21 h 21"/>
                <a:gd name="T4" fmla="*/ 0 w 54"/>
                <a:gd name="T5" fmla="*/ 10 h 21"/>
                <a:gd name="T6" fmla="*/ 10 w 54"/>
                <a:gd name="T7" fmla="*/ 0 h 21"/>
                <a:gd name="T8" fmla="*/ 43 w 54"/>
                <a:gd name="T9" fmla="*/ 0 h 21"/>
                <a:gd name="T10" fmla="*/ 54 w 54"/>
                <a:gd name="T11" fmla="*/ 10 h 21"/>
                <a:gd name="T12" fmla="*/ 43 w 54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1">
                  <a:moveTo>
                    <a:pt x="43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4" y="21"/>
                    <a:pt x="0" y="16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9" y="0"/>
                    <a:pt x="54" y="4"/>
                    <a:pt x="54" y="10"/>
                  </a:cubicBezTo>
                  <a:cubicBezTo>
                    <a:pt x="54" y="16"/>
                    <a:pt x="49" y="21"/>
                    <a:pt x="43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70"/>
            <p:cNvSpPr/>
            <p:nvPr/>
          </p:nvSpPr>
          <p:spPr bwMode="auto">
            <a:xfrm>
              <a:off x="2547" y="1621"/>
              <a:ext cx="335" cy="53"/>
            </a:xfrm>
            <a:custGeom>
              <a:avLst/>
              <a:gdLst>
                <a:gd name="T0" fmla="*/ 130 w 141"/>
                <a:gd name="T1" fmla="*/ 22 h 22"/>
                <a:gd name="T2" fmla="*/ 11 w 141"/>
                <a:gd name="T3" fmla="*/ 22 h 22"/>
                <a:gd name="T4" fmla="*/ 0 w 141"/>
                <a:gd name="T5" fmla="*/ 11 h 22"/>
                <a:gd name="T6" fmla="*/ 11 w 141"/>
                <a:gd name="T7" fmla="*/ 0 h 22"/>
                <a:gd name="T8" fmla="*/ 130 w 141"/>
                <a:gd name="T9" fmla="*/ 0 h 22"/>
                <a:gd name="T10" fmla="*/ 141 w 141"/>
                <a:gd name="T11" fmla="*/ 11 h 22"/>
                <a:gd name="T12" fmla="*/ 130 w 14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22">
                  <a:moveTo>
                    <a:pt x="130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6" y="0"/>
                    <a:pt x="141" y="5"/>
                    <a:pt x="141" y="11"/>
                  </a:cubicBezTo>
                  <a:cubicBezTo>
                    <a:pt x="141" y="17"/>
                    <a:pt x="136" y="22"/>
                    <a:pt x="13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71"/>
            <p:cNvSpPr/>
            <p:nvPr/>
          </p:nvSpPr>
          <p:spPr bwMode="auto">
            <a:xfrm>
              <a:off x="2935" y="1621"/>
              <a:ext cx="102" cy="53"/>
            </a:xfrm>
            <a:custGeom>
              <a:avLst/>
              <a:gdLst>
                <a:gd name="T0" fmla="*/ 32 w 43"/>
                <a:gd name="T1" fmla="*/ 22 h 22"/>
                <a:gd name="T2" fmla="*/ 10 w 43"/>
                <a:gd name="T3" fmla="*/ 22 h 22"/>
                <a:gd name="T4" fmla="*/ 0 w 43"/>
                <a:gd name="T5" fmla="*/ 11 h 22"/>
                <a:gd name="T6" fmla="*/ 10 w 43"/>
                <a:gd name="T7" fmla="*/ 0 h 22"/>
                <a:gd name="T8" fmla="*/ 32 w 43"/>
                <a:gd name="T9" fmla="*/ 0 h 22"/>
                <a:gd name="T10" fmla="*/ 43 w 43"/>
                <a:gd name="T11" fmla="*/ 11 h 22"/>
                <a:gd name="T12" fmla="*/ 32 w 43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2">
                  <a:moveTo>
                    <a:pt x="32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8" y="0"/>
                    <a:pt x="43" y="5"/>
                    <a:pt x="43" y="11"/>
                  </a:cubicBezTo>
                  <a:cubicBezTo>
                    <a:pt x="43" y="17"/>
                    <a:pt x="38" y="22"/>
                    <a:pt x="3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9" name="Group 74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/>
        </p:nvGrpSpPr>
        <p:grpSpPr bwMode="auto">
          <a:xfrm>
            <a:off x="9685400" y="1759755"/>
            <a:ext cx="327840" cy="312784"/>
            <a:chOff x="2011" y="788"/>
            <a:chExt cx="1742" cy="1662"/>
          </a:xfrm>
          <a:solidFill>
            <a:schemeClr val="bg1"/>
          </a:solidFill>
        </p:grpSpPr>
        <p:sp>
          <p:nvSpPr>
            <p:cNvPr id="40" name="Freeform 75"/>
            <p:cNvSpPr/>
            <p:nvPr/>
          </p:nvSpPr>
          <p:spPr bwMode="auto">
            <a:xfrm>
              <a:off x="2490" y="2345"/>
              <a:ext cx="818" cy="105"/>
            </a:xfrm>
            <a:custGeom>
              <a:avLst/>
              <a:gdLst>
                <a:gd name="T0" fmla="*/ 321 w 344"/>
                <a:gd name="T1" fmla="*/ 44 h 44"/>
                <a:gd name="T2" fmla="*/ 22 w 344"/>
                <a:gd name="T3" fmla="*/ 44 h 44"/>
                <a:gd name="T4" fmla="*/ 0 w 344"/>
                <a:gd name="T5" fmla="*/ 22 h 44"/>
                <a:gd name="T6" fmla="*/ 22 w 344"/>
                <a:gd name="T7" fmla="*/ 0 h 44"/>
                <a:gd name="T8" fmla="*/ 321 w 344"/>
                <a:gd name="T9" fmla="*/ 0 h 44"/>
                <a:gd name="T10" fmla="*/ 344 w 344"/>
                <a:gd name="T11" fmla="*/ 22 h 44"/>
                <a:gd name="T12" fmla="*/ 321 w 344"/>
                <a:gd name="T1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4" h="44">
                  <a:moveTo>
                    <a:pt x="321" y="44"/>
                  </a:moveTo>
                  <a:cubicBezTo>
                    <a:pt x="22" y="44"/>
                    <a:pt x="22" y="44"/>
                    <a:pt x="22" y="44"/>
                  </a:cubicBez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34" y="0"/>
                    <a:pt x="344" y="10"/>
                    <a:pt x="344" y="22"/>
                  </a:cubicBezTo>
                  <a:cubicBezTo>
                    <a:pt x="344" y="34"/>
                    <a:pt x="334" y="44"/>
                    <a:pt x="321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76"/>
            <p:cNvSpPr>
              <a:spLocks noEditPoints="1"/>
            </p:cNvSpPr>
            <p:nvPr/>
          </p:nvSpPr>
          <p:spPr bwMode="auto">
            <a:xfrm>
              <a:off x="2011" y="788"/>
              <a:ext cx="1742" cy="1345"/>
            </a:xfrm>
            <a:custGeom>
              <a:avLst/>
              <a:gdLst>
                <a:gd name="T0" fmla="*/ 732 w 732"/>
                <a:gd name="T1" fmla="*/ 488 h 565"/>
                <a:gd name="T2" fmla="*/ 655 w 732"/>
                <a:gd name="T3" fmla="*/ 565 h 565"/>
                <a:gd name="T4" fmla="*/ 77 w 732"/>
                <a:gd name="T5" fmla="*/ 565 h 565"/>
                <a:gd name="T6" fmla="*/ 0 w 732"/>
                <a:gd name="T7" fmla="*/ 488 h 565"/>
                <a:gd name="T8" fmla="*/ 0 w 732"/>
                <a:gd name="T9" fmla="*/ 77 h 565"/>
                <a:gd name="T10" fmla="*/ 77 w 732"/>
                <a:gd name="T11" fmla="*/ 0 h 565"/>
                <a:gd name="T12" fmla="*/ 655 w 732"/>
                <a:gd name="T13" fmla="*/ 0 h 565"/>
                <a:gd name="T14" fmla="*/ 732 w 732"/>
                <a:gd name="T15" fmla="*/ 77 h 565"/>
                <a:gd name="T16" fmla="*/ 732 w 732"/>
                <a:gd name="T17" fmla="*/ 488 h 565"/>
                <a:gd name="T18" fmla="*/ 687 w 732"/>
                <a:gd name="T19" fmla="*/ 77 h 565"/>
                <a:gd name="T20" fmla="*/ 655 w 732"/>
                <a:gd name="T21" fmla="*/ 44 h 565"/>
                <a:gd name="T22" fmla="*/ 77 w 732"/>
                <a:gd name="T23" fmla="*/ 44 h 565"/>
                <a:gd name="T24" fmla="*/ 45 w 732"/>
                <a:gd name="T25" fmla="*/ 77 h 565"/>
                <a:gd name="T26" fmla="*/ 45 w 732"/>
                <a:gd name="T27" fmla="*/ 488 h 565"/>
                <a:gd name="T28" fmla="*/ 77 w 732"/>
                <a:gd name="T29" fmla="*/ 521 h 565"/>
                <a:gd name="T30" fmla="*/ 655 w 732"/>
                <a:gd name="T31" fmla="*/ 521 h 565"/>
                <a:gd name="T32" fmla="*/ 687 w 732"/>
                <a:gd name="T33" fmla="*/ 488 h 565"/>
                <a:gd name="T34" fmla="*/ 687 w 732"/>
                <a:gd name="T35" fmla="*/ 77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2" h="565">
                  <a:moveTo>
                    <a:pt x="732" y="488"/>
                  </a:moveTo>
                  <a:cubicBezTo>
                    <a:pt x="732" y="531"/>
                    <a:pt x="697" y="565"/>
                    <a:pt x="655" y="565"/>
                  </a:cubicBezTo>
                  <a:cubicBezTo>
                    <a:pt x="77" y="565"/>
                    <a:pt x="77" y="565"/>
                    <a:pt x="77" y="565"/>
                  </a:cubicBezTo>
                  <a:cubicBezTo>
                    <a:pt x="35" y="565"/>
                    <a:pt x="0" y="531"/>
                    <a:pt x="0" y="48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5" y="0"/>
                    <a:pt x="77" y="0"/>
                  </a:cubicBezTo>
                  <a:cubicBezTo>
                    <a:pt x="655" y="0"/>
                    <a:pt x="655" y="0"/>
                    <a:pt x="655" y="0"/>
                  </a:cubicBezTo>
                  <a:cubicBezTo>
                    <a:pt x="697" y="0"/>
                    <a:pt x="732" y="34"/>
                    <a:pt x="732" y="77"/>
                  </a:cubicBezTo>
                  <a:cubicBezTo>
                    <a:pt x="732" y="488"/>
                    <a:pt x="732" y="488"/>
                    <a:pt x="732" y="488"/>
                  </a:cubicBezTo>
                  <a:close/>
                  <a:moveTo>
                    <a:pt x="687" y="77"/>
                  </a:moveTo>
                  <a:cubicBezTo>
                    <a:pt x="687" y="59"/>
                    <a:pt x="673" y="44"/>
                    <a:pt x="655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59" y="44"/>
                    <a:pt x="45" y="59"/>
                    <a:pt x="45" y="77"/>
                  </a:cubicBezTo>
                  <a:cubicBezTo>
                    <a:pt x="45" y="488"/>
                    <a:pt x="45" y="488"/>
                    <a:pt x="45" y="488"/>
                  </a:cubicBezTo>
                  <a:cubicBezTo>
                    <a:pt x="45" y="506"/>
                    <a:pt x="59" y="521"/>
                    <a:pt x="77" y="521"/>
                  </a:cubicBezTo>
                  <a:cubicBezTo>
                    <a:pt x="655" y="521"/>
                    <a:pt x="655" y="521"/>
                    <a:pt x="655" y="521"/>
                  </a:cubicBezTo>
                  <a:cubicBezTo>
                    <a:pt x="673" y="521"/>
                    <a:pt x="687" y="506"/>
                    <a:pt x="687" y="488"/>
                  </a:cubicBezTo>
                  <a:lnTo>
                    <a:pt x="687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77"/>
            <p:cNvSpPr/>
            <p:nvPr/>
          </p:nvSpPr>
          <p:spPr bwMode="auto">
            <a:xfrm>
              <a:off x="2042" y="1790"/>
              <a:ext cx="1688" cy="53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78"/>
            <p:cNvSpPr/>
            <p:nvPr/>
          </p:nvSpPr>
          <p:spPr bwMode="auto">
            <a:xfrm>
              <a:off x="2042" y="1026"/>
              <a:ext cx="1688" cy="53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79"/>
            <p:cNvSpPr/>
            <p:nvPr/>
          </p:nvSpPr>
          <p:spPr bwMode="auto">
            <a:xfrm>
              <a:off x="2761" y="1388"/>
              <a:ext cx="67" cy="76"/>
            </a:xfrm>
            <a:custGeom>
              <a:avLst/>
              <a:gdLst>
                <a:gd name="T0" fmla="*/ 12 w 28"/>
                <a:gd name="T1" fmla="*/ 32 h 32"/>
                <a:gd name="T2" fmla="*/ 8 w 28"/>
                <a:gd name="T3" fmla="*/ 31 h 32"/>
                <a:gd name="T4" fmla="*/ 2 w 28"/>
                <a:gd name="T5" fmla="*/ 16 h 32"/>
                <a:gd name="T6" fmla="*/ 5 w 28"/>
                <a:gd name="T7" fmla="*/ 9 h 32"/>
                <a:gd name="T8" fmla="*/ 19 w 28"/>
                <a:gd name="T9" fmla="*/ 2 h 32"/>
                <a:gd name="T10" fmla="*/ 26 w 28"/>
                <a:gd name="T11" fmla="*/ 17 h 32"/>
                <a:gd name="T12" fmla="*/ 23 w 28"/>
                <a:gd name="T13" fmla="*/ 24 h 32"/>
                <a:gd name="T14" fmla="*/ 12 w 28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2">
                  <a:moveTo>
                    <a:pt x="12" y="32"/>
                  </a:moveTo>
                  <a:cubicBezTo>
                    <a:pt x="11" y="32"/>
                    <a:pt x="10" y="31"/>
                    <a:pt x="8" y="31"/>
                  </a:cubicBezTo>
                  <a:cubicBezTo>
                    <a:pt x="3" y="29"/>
                    <a:pt x="0" y="22"/>
                    <a:pt x="2" y="16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7" y="3"/>
                    <a:pt x="14" y="0"/>
                    <a:pt x="19" y="2"/>
                  </a:cubicBezTo>
                  <a:cubicBezTo>
                    <a:pt x="25" y="5"/>
                    <a:pt x="28" y="11"/>
                    <a:pt x="26" y="17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1" y="29"/>
                    <a:pt x="17" y="32"/>
                    <a:pt x="12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80"/>
            <p:cNvSpPr/>
            <p:nvPr/>
          </p:nvSpPr>
          <p:spPr bwMode="auto">
            <a:xfrm>
              <a:off x="2659" y="1474"/>
              <a:ext cx="135" cy="247"/>
            </a:xfrm>
            <a:custGeom>
              <a:avLst/>
              <a:gdLst>
                <a:gd name="T0" fmla="*/ 13 w 57"/>
                <a:gd name="T1" fmla="*/ 104 h 104"/>
                <a:gd name="T2" fmla="*/ 9 w 57"/>
                <a:gd name="T3" fmla="*/ 103 h 104"/>
                <a:gd name="T4" fmla="*/ 3 w 57"/>
                <a:gd name="T5" fmla="*/ 89 h 104"/>
                <a:gd name="T6" fmla="*/ 34 w 57"/>
                <a:gd name="T7" fmla="*/ 8 h 104"/>
                <a:gd name="T8" fmla="*/ 48 w 57"/>
                <a:gd name="T9" fmla="*/ 2 h 104"/>
                <a:gd name="T10" fmla="*/ 55 w 57"/>
                <a:gd name="T11" fmla="*/ 16 h 104"/>
                <a:gd name="T12" fmla="*/ 23 w 57"/>
                <a:gd name="T13" fmla="*/ 97 h 104"/>
                <a:gd name="T14" fmla="*/ 13 w 57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3" y="104"/>
                  </a:moveTo>
                  <a:cubicBezTo>
                    <a:pt x="12" y="104"/>
                    <a:pt x="10" y="104"/>
                    <a:pt x="9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6" y="3"/>
                    <a:pt x="43" y="0"/>
                    <a:pt x="48" y="2"/>
                  </a:cubicBezTo>
                  <a:cubicBezTo>
                    <a:pt x="54" y="4"/>
                    <a:pt x="57" y="11"/>
                    <a:pt x="55" y="16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22" y="101"/>
                    <a:pt x="17" y="104"/>
                    <a:pt x="13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81"/>
            <p:cNvSpPr/>
            <p:nvPr/>
          </p:nvSpPr>
          <p:spPr bwMode="auto">
            <a:xfrm>
              <a:off x="2554" y="1205"/>
              <a:ext cx="169" cy="338"/>
            </a:xfrm>
            <a:custGeom>
              <a:avLst/>
              <a:gdLst>
                <a:gd name="T0" fmla="*/ 12 w 71"/>
                <a:gd name="T1" fmla="*/ 142 h 142"/>
                <a:gd name="T2" fmla="*/ 8 w 71"/>
                <a:gd name="T3" fmla="*/ 141 h 142"/>
                <a:gd name="T4" fmla="*/ 2 w 71"/>
                <a:gd name="T5" fmla="*/ 127 h 142"/>
                <a:gd name="T6" fmla="*/ 48 w 71"/>
                <a:gd name="T7" fmla="*/ 9 h 142"/>
                <a:gd name="T8" fmla="*/ 62 w 71"/>
                <a:gd name="T9" fmla="*/ 2 h 142"/>
                <a:gd name="T10" fmla="*/ 68 w 71"/>
                <a:gd name="T11" fmla="*/ 17 h 142"/>
                <a:gd name="T12" fmla="*/ 22 w 71"/>
                <a:gd name="T13" fmla="*/ 135 h 142"/>
                <a:gd name="T14" fmla="*/ 12 w 71"/>
                <a:gd name="T15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42">
                  <a:moveTo>
                    <a:pt x="12" y="142"/>
                  </a:moveTo>
                  <a:cubicBezTo>
                    <a:pt x="11" y="142"/>
                    <a:pt x="9" y="141"/>
                    <a:pt x="8" y="141"/>
                  </a:cubicBezTo>
                  <a:cubicBezTo>
                    <a:pt x="2" y="139"/>
                    <a:pt x="0" y="132"/>
                    <a:pt x="2" y="127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3"/>
                    <a:pt x="56" y="0"/>
                    <a:pt x="62" y="2"/>
                  </a:cubicBezTo>
                  <a:cubicBezTo>
                    <a:pt x="68" y="4"/>
                    <a:pt x="71" y="11"/>
                    <a:pt x="68" y="17"/>
                  </a:cubicBezTo>
                  <a:cubicBezTo>
                    <a:pt x="22" y="135"/>
                    <a:pt x="22" y="135"/>
                    <a:pt x="22" y="135"/>
                  </a:cubicBezTo>
                  <a:cubicBezTo>
                    <a:pt x="21" y="139"/>
                    <a:pt x="17" y="142"/>
                    <a:pt x="12" y="1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82"/>
            <p:cNvSpPr/>
            <p:nvPr/>
          </p:nvSpPr>
          <p:spPr bwMode="auto">
            <a:xfrm>
              <a:off x="2502" y="1576"/>
              <a:ext cx="76" cy="98"/>
            </a:xfrm>
            <a:custGeom>
              <a:avLst/>
              <a:gdLst>
                <a:gd name="T0" fmla="*/ 13 w 32"/>
                <a:gd name="T1" fmla="*/ 41 h 41"/>
                <a:gd name="T2" fmla="*/ 9 w 32"/>
                <a:gd name="T3" fmla="*/ 40 h 41"/>
                <a:gd name="T4" fmla="*/ 2 w 32"/>
                <a:gd name="T5" fmla="*/ 26 h 41"/>
                <a:gd name="T6" fmla="*/ 9 w 32"/>
                <a:gd name="T7" fmla="*/ 9 h 41"/>
                <a:gd name="T8" fmla="*/ 23 w 32"/>
                <a:gd name="T9" fmla="*/ 2 h 41"/>
                <a:gd name="T10" fmla="*/ 30 w 32"/>
                <a:gd name="T11" fmla="*/ 17 h 41"/>
                <a:gd name="T12" fmla="*/ 23 w 32"/>
                <a:gd name="T13" fmla="*/ 34 h 41"/>
                <a:gd name="T14" fmla="*/ 13 w 32"/>
                <a:gd name="T1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13" y="41"/>
                  </a:moveTo>
                  <a:cubicBezTo>
                    <a:pt x="11" y="41"/>
                    <a:pt x="10" y="41"/>
                    <a:pt x="9" y="40"/>
                  </a:cubicBezTo>
                  <a:cubicBezTo>
                    <a:pt x="3" y="38"/>
                    <a:pt x="0" y="32"/>
                    <a:pt x="2" y="26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1" y="3"/>
                    <a:pt x="18" y="0"/>
                    <a:pt x="23" y="2"/>
                  </a:cubicBezTo>
                  <a:cubicBezTo>
                    <a:pt x="29" y="4"/>
                    <a:pt x="32" y="11"/>
                    <a:pt x="30" y="17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1" y="38"/>
                    <a:pt x="17" y="41"/>
                    <a:pt x="1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4042554" y="1258432"/>
            <a:ext cx="4048112" cy="3012612"/>
            <a:chOff x="2785801" y="2099986"/>
            <a:chExt cx="6620398" cy="4830570"/>
          </a:xfrm>
        </p:grpSpPr>
        <p:grpSp>
          <p:nvGrpSpPr>
            <p:cNvPr id="83" name="组合 82"/>
            <p:cNvGrpSpPr/>
            <p:nvPr/>
          </p:nvGrpSpPr>
          <p:grpSpPr>
            <a:xfrm>
              <a:off x="2785801" y="2099986"/>
              <a:ext cx="6620398" cy="4830570"/>
              <a:chOff x="3642677" y="1360169"/>
              <a:chExt cx="4906645" cy="3580131"/>
            </a:xfrm>
          </p:grpSpPr>
          <p:sp>
            <p:nvSpPr>
              <p:cNvPr id="84" name="ísḷíde"/>
              <p:cNvSpPr/>
              <p:nvPr/>
            </p:nvSpPr>
            <p:spPr bwMode="auto">
              <a:xfrm>
                <a:off x="5465127" y="4275455"/>
                <a:ext cx="1807845" cy="599440"/>
              </a:xfrm>
              <a:custGeom>
                <a:avLst/>
                <a:gdLst>
                  <a:gd name="T0" fmla="*/ 6924 w 6981"/>
                  <a:gd name="T1" fmla="*/ 2138 h 2315"/>
                  <a:gd name="T2" fmla="*/ 6924 w 6981"/>
                  <a:gd name="T3" fmla="*/ 2138 h 2315"/>
                  <a:gd name="T4" fmla="*/ 6249 w 6981"/>
                  <a:gd name="T5" fmla="*/ 2000 h 2315"/>
                  <a:gd name="T6" fmla="*/ 6036 w 6981"/>
                  <a:gd name="T7" fmla="*/ 1712 h 2315"/>
                  <a:gd name="T8" fmla="*/ 5897 w 6981"/>
                  <a:gd name="T9" fmla="*/ 0 h 2315"/>
                  <a:gd name="T10" fmla="*/ 1074 w 6981"/>
                  <a:gd name="T11" fmla="*/ 0 h 2315"/>
                  <a:gd name="T12" fmla="*/ 944 w 6981"/>
                  <a:gd name="T13" fmla="*/ 1712 h 2315"/>
                  <a:gd name="T14" fmla="*/ 731 w 6981"/>
                  <a:gd name="T15" fmla="*/ 2000 h 2315"/>
                  <a:gd name="T16" fmla="*/ 37 w 6981"/>
                  <a:gd name="T17" fmla="*/ 2148 h 2315"/>
                  <a:gd name="T18" fmla="*/ 0 w 6981"/>
                  <a:gd name="T19" fmla="*/ 2185 h 2315"/>
                  <a:gd name="T20" fmla="*/ 0 w 6981"/>
                  <a:gd name="T21" fmla="*/ 2314 h 2315"/>
                  <a:gd name="T22" fmla="*/ 18 w 6981"/>
                  <a:gd name="T23" fmla="*/ 2314 h 2315"/>
                  <a:gd name="T24" fmla="*/ 6961 w 6981"/>
                  <a:gd name="T25" fmla="*/ 2314 h 2315"/>
                  <a:gd name="T26" fmla="*/ 6980 w 6981"/>
                  <a:gd name="T27" fmla="*/ 2314 h 2315"/>
                  <a:gd name="T28" fmla="*/ 6980 w 6981"/>
                  <a:gd name="T29" fmla="*/ 2185 h 2315"/>
                  <a:gd name="T30" fmla="*/ 6924 w 6981"/>
                  <a:gd name="T31" fmla="*/ 2138 h 2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981" h="2315">
                    <a:moveTo>
                      <a:pt x="6924" y="2138"/>
                    </a:moveTo>
                    <a:lnTo>
                      <a:pt x="6924" y="2138"/>
                    </a:lnTo>
                    <a:cubicBezTo>
                      <a:pt x="6795" y="2111"/>
                      <a:pt x="6443" y="2037"/>
                      <a:pt x="6249" y="2000"/>
                    </a:cubicBezTo>
                    <a:cubicBezTo>
                      <a:pt x="6008" y="1944"/>
                      <a:pt x="6036" y="1712"/>
                      <a:pt x="6036" y="1712"/>
                    </a:cubicBezTo>
                    <a:cubicBezTo>
                      <a:pt x="5897" y="0"/>
                      <a:pt x="5897" y="0"/>
                      <a:pt x="5897" y="0"/>
                    </a:cubicBezTo>
                    <a:cubicBezTo>
                      <a:pt x="1074" y="0"/>
                      <a:pt x="1074" y="0"/>
                      <a:pt x="1074" y="0"/>
                    </a:cubicBezTo>
                    <a:cubicBezTo>
                      <a:pt x="944" y="1712"/>
                      <a:pt x="944" y="1712"/>
                      <a:pt x="944" y="1712"/>
                    </a:cubicBezTo>
                    <a:cubicBezTo>
                      <a:pt x="944" y="1712"/>
                      <a:pt x="972" y="1944"/>
                      <a:pt x="731" y="2000"/>
                    </a:cubicBezTo>
                    <a:cubicBezTo>
                      <a:pt x="527" y="2046"/>
                      <a:pt x="148" y="2120"/>
                      <a:pt x="37" y="2148"/>
                    </a:cubicBezTo>
                    <a:cubicBezTo>
                      <a:pt x="0" y="2157"/>
                      <a:pt x="0" y="2185"/>
                      <a:pt x="0" y="2185"/>
                    </a:cubicBezTo>
                    <a:cubicBezTo>
                      <a:pt x="0" y="2314"/>
                      <a:pt x="0" y="2314"/>
                      <a:pt x="0" y="2314"/>
                    </a:cubicBezTo>
                    <a:cubicBezTo>
                      <a:pt x="18" y="2314"/>
                      <a:pt x="18" y="2314"/>
                      <a:pt x="18" y="2314"/>
                    </a:cubicBezTo>
                    <a:cubicBezTo>
                      <a:pt x="6961" y="2314"/>
                      <a:pt x="6961" y="2314"/>
                      <a:pt x="6961" y="2314"/>
                    </a:cubicBezTo>
                    <a:cubicBezTo>
                      <a:pt x="6980" y="2314"/>
                      <a:pt x="6980" y="2314"/>
                      <a:pt x="6980" y="2314"/>
                    </a:cubicBezTo>
                    <a:cubicBezTo>
                      <a:pt x="6980" y="2185"/>
                      <a:pt x="6980" y="2185"/>
                      <a:pt x="6980" y="2185"/>
                    </a:cubicBezTo>
                    <a:cubicBezTo>
                      <a:pt x="6980" y="2185"/>
                      <a:pt x="6980" y="2157"/>
                      <a:pt x="6924" y="2138"/>
                    </a:cubicBezTo>
                  </a:path>
                </a:pathLst>
              </a:custGeom>
              <a:solidFill>
                <a:srgbClr val="EAEAEA"/>
              </a:solidFill>
              <a:ln>
                <a:noFill/>
              </a:ln>
              <a:effectLst>
                <a:reflection blurRad="6350" stA="23000" endPos="55000" dir="5400000" sy="-100000" algn="bl" rotWithShape="0"/>
              </a:effec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5" name="íṡḷíḑê"/>
              <p:cNvSpPr/>
              <p:nvPr/>
            </p:nvSpPr>
            <p:spPr bwMode="auto">
              <a:xfrm>
                <a:off x="5465127" y="4864100"/>
                <a:ext cx="1833245" cy="76200"/>
              </a:xfrm>
              <a:custGeom>
                <a:avLst/>
                <a:gdLst>
                  <a:gd name="T0" fmla="*/ 6776 w 6981"/>
                  <a:gd name="T1" fmla="*/ 0 h 103"/>
                  <a:gd name="T2" fmla="*/ 6776 w 6981"/>
                  <a:gd name="T3" fmla="*/ 0 h 103"/>
                  <a:gd name="T4" fmla="*/ 203 w 6981"/>
                  <a:gd name="T5" fmla="*/ 0 h 103"/>
                  <a:gd name="T6" fmla="*/ 0 w 6981"/>
                  <a:gd name="T7" fmla="*/ 46 h 103"/>
                  <a:gd name="T8" fmla="*/ 0 w 6981"/>
                  <a:gd name="T9" fmla="*/ 55 h 103"/>
                  <a:gd name="T10" fmla="*/ 203 w 6981"/>
                  <a:gd name="T11" fmla="*/ 102 h 103"/>
                  <a:gd name="T12" fmla="*/ 6776 w 6981"/>
                  <a:gd name="T13" fmla="*/ 102 h 103"/>
                  <a:gd name="T14" fmla="*/ 6980 w 6981"/>
                  <a:gd name="T15" fmla="*/ 55 h 103"/>
                  <a:gd name="T16" fmla="*/ 6980 w 6981"/>
                  <a:gd name="T17" fmla="*/ 46 h 103"/>
                  <a:gd name="T18" fmla="*/ 6776 w 6981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81" h="103">
                    <a:moveTo>
                      <a:pt x="6776" y="0"/>
                    </a:moveTo>
                    <a:lnTo>
                      <a:pt x="6776" y="0"/>
                    </a:lnTo>
                    <a:cubicBezTo>
                      <a:pt x="203" y="0"/>
                      <a:pt x="203" y="0"/>
                      <a:pt x="203" y="0"/>
                    </a:cubicBezTo>
                    <a:cubicBezTo>
                      <a:pt x="92" y="0"/>
                      <a:pt x="0" y="18"/>
                      <a:pt x="0" y="4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83"/>
                      <a:pt x="92" y="102"/>
                      <a:pt x="203" y="102"/>
                    </a:cubicBezTo>
                    <a:cubicBezTo>
                      <a:pt x="6776" y="102"/>
                      <a:pt x="6776" y="102"/>
                      <a:pt x="6776" y="102"/>
                    </a:cubicBezTo>
                    <a:cubicBezTo>
                      <a:pt x="6887" y="102"/>
                      <a:pt x="6980" y="83"/>
                      <a:pt x="6980" y="55"/>
                    </a:cubicBezTo>
                    <a:cubicBezTo>
                      <a:pt x="6980" y="46"/>
                      <a:pt x="6980" y="46"/>
                      <a:pt x="6980" y="46"/>
                    </a:cubicBezTo>
                    <a:cubicBezTo>
                      <a:pt x="6980" y="18"/>
                      <a:pt x="6887" y="0"/>
                      <a:pt x="6776" y="0"/>
                    </a:cubicBezTo>
                  </a:path>
                </a:pathLst>
              </a:custGeom>
              <a:solidFill>
                <a:srgbClr val="BCBDC0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6" name="îSḻidè"/>
              <p:cNvSpPr/>
              <p:nvPr/>
            </p:nvSpPr>
            <p:spPr bwMode="auto">
              <a:xfrm>
                <a:off x="5465127" y="4840605"/>
                <a:ext cx="1830070" cy="76200"/>
              </a:xfrm>
              <a:custGeom>
                <a:avLst/>
                <a:gdLst>
                  <a:gd name="T0" fmla="*/ 6943 w 6981"/>
                  <a:gd name="T1" fmla="*/ 0 h 167"/>
                  <a:gd name="T2" fmla="*/ 6943 w 6981"/>
                  <a:gd name="T3" fmla="*/ 0 h 167"/>
                  <a:gd name="T4" fmla="*/ 27 w 6981"/>
                  <a:gd name="T5" fmla="*/ 0 h 167"/>
                  <a:gd name="T6" fmla="*/ 0 w 6981"/>
                  <a:gd name="T7" fmla="*/ 37 h 167"/>
                  <a:gd name="T8" fmla="*/ 0 w 6981"/>
                  <a:gd name="T9" fmla="*/ 166 h 167"/>
                  <a:gd name="T10" fmla="*/ 18 w 6981"/>
                  <a:gd name="T11" fmla="*/ 166 h 167"/>
                  <a:gd name="T12" fmla="*/ 6961 w 6981"/>
                  <a:gd name="T13" fmla="*/ 166 h 167"/>
                  <a:gd name="T14" fmla="*/ 6980 w 6981"/>
                  <a:gd name="T15" fmla="*/ 166 h 167"/>
                  <a:gd name="T16" fmla="*/ 6980 w 6981"/>
                  <a:gd name="T17" fmla="*/ 37 h 167"/>
                  <a:gd name="T18" fmla="*/ 6943 w 6981"/>
                  <a:gd name="T19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81" h="167">
                    <a:moveTo>
                      <a:pt x="6943" y="0"/>
                    </a:moveTo>
                    <a:lnTo>
                      <a:pt x="6943" y="0"/>
                    </a:lnTo>
                    <a:cubicBezTo>
                      <a:pt x="27" y="0"/>
                      <a:pt x="27" y="0"/>
                      <a:pt x="27" y="0"/>
                    </a:cubicBezTo>
                    <a:cubicBezTo>
                      <a:pt x="0" y="9"/>
                      <a:pt x="0" y="37"/>
                      <a:pt x="0" y="37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18" y="166"/>
                      <a:pt x="18" y="166"/>
                      <a:pt x="18" y="166"/>
                    </a:cubicBezTo>
                    <a:cubicBezTo>
                      <a:pt x="6961" y="166"/>
                      <a:pt x="6961" y="166"/>
                      <a:pt x="6961" y="166"/>
                    </a:cubicBezTo>
                    <a:cubicBezTo>
                      <a:pt x="6980" y="166"/>
                      <a:pt x="6980" y="166"/>
                      <a:pt x="6980" y="166"/>
                    </a:cubicBezTo>
                    <a:cubicBezTo>
                      <a:pt x="6980" y="37"/>
                      <a:pt x="6980" y="37"/>
                      <a:pt x="6980" y="37"/>
                    </a:cubicBezTo>
                    <a:cubicBezTo>
                      <a:pt x="6980" y="37"/>
                      <a:pt x="6980" y="18"/>
                      <a:pt x="6943" y="0"/>
                    </a:cubicBezTo>
                  </a:path>
                </a:pathLst>
              </a:custGeom>
              <a:solidFill>
                <a:srgbClr val="D1D2D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88" name="组合 87"/>
              <p:cNvGrpSpPr/>
              <p:nvPr/>
            </p:nvGrpSpPr>
            <p:grpSpPr>
              <a:xfrm>
                <a:off x="3642677" y="1360169"/>
                <a:ext cx="4906645" cy="3018153"/>
                <a:chOff x="463893" y="1768804"/>
                <a:chExt cx="5688000" cy="3664703"/>
              </a:xfrm>
            </p:grpSpPr>
            <p:sp>
              <p:nvSpPr>
                <p:cNvPr id="89" name="îṣḷïḍe"/>
                <p:cNvSpPr/>
                <p:nvPr/>
              </p:nvSpPr>
              <p:spPr bwMode="auto">
                <a:xfrm>
                  <a:off x="463893" y="5181997"/>
                  <a:ext cx="5688000" cy="251510"/>
                </a:xfrm>
                <a:custGeom>
                  <a:avLst/>
                  <a:gdLst>
                    <a:gd name="T0" fmla="*/ 0 w 19000"/>
                    <a:gd name="T1" fmla="*/ 0 h 2103"/>
                    <a:gd name="T2" fmla="*/ 0 w 19000"/>
                    <a:gd name="T3" fmla="*/ 0 h 2103"/>
                    <a:gd name="T4" fmla="*/ 0 w 19000"/>
                    <a:gd name="T5" fmla="*/ 1472 h 2103"/>
                    <a:gd name="T6" fmla="*/ 630 w 19000"/>
                    <a:gd name="T7" fmla="*/ 2102 h 2103"/>
                    <a:gd name="T8" fmla="*/ 18369 w 19000"/>
                    <a:gd name="T9" fmla="*/ 2102 h 2103"/>
                    <a:gd name="T10" fmla="*/ 18999 w 19000"/>
                    <a:gd name="T11" fmla="*/ 1472 h 2103"/>
                    <a:gd name="T12" fmla="*/ 18999 w 19000"/>
                    <a:gd name="T13" fmla="*/ 0 h 2103"/>
                    <a:gd name="T14" fmla="*/ 0 w 19000"/>
                    <a:gd name="T15" fmla="*/ 0 h 2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000" h="2103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1472"/>
                        <a:pt x="0" y="1472"/>
                        <a:pt x="0" y="1472"/>
                      </a:cubicBezTo>
                      <a:cubicBezTo>
                        <a:pt x="0" y="1824"/>
                        <a:pt x="278" y="2102"/>
                        <a:pt x="630" y="2102"/>
                      </a:cubicBezTo>
                      <a:cubicBezTo>
                        <a:pt x="18369" y="2102"/>
                        <a:pt x="18369" y="2102"/>
                        <a:pt x="18369" y="2102"/>
                      </a:cubicBezTo>
                      <a:cubicBezTo>
                        <a:pt x="18712" y="2102"/>
                        <a:pt x="18999" y="1824"/>
                        <a:pt x="18999" y="1472"/>
                      </a:cubicBezTo>
                      <a:cubicBezTo>
                        <a:pt x="18999" y="0"/>
                        <a:pt x="18999" y="0"/>
                        <a:pt x="18999" y="0"/>
                      </a:cubicBezTo>
                      <a:lnTo>
                        <a:pt x="0" y="0"/>
                      </a:lnTo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38100" dist="38100" dir="5400000" algn="tl" rotWithShape="0">
                    <a:schemeClr val="tx1">
                      <a:lumMod val="65000"/>
                      <a:lumOff val="35000"/>
                      <a:alpha val="20000"/>
                    </a:schemeClr>
                  </a:outerShdw>
                </a:effectLst>
              </p:spPr>
              <p:txBody>
                <a:bodyPr wrap="square" lIns="91440" tIns="45720" rIns="91440" bIns="45720" anchor="ctr">
                  <a:normAutofit fontScale="3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0" name="矩形: 圆顶角 89"/>
                <p:cNvSpPr/>
                <p:nvPr/>
              </p:nvSpPr>
              <p:spPr>
                <a:xfrm>
                  <a:off x="463893" y="1768804"/>
                  <a:ext cx="5687695" cy="3418205"/>
                </a:xfrm>
                <a:prstGeom prst="round2SameRect">
                  <a:avLst>
                    <a:gd name="adj1" fmla="val 211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pic>
          <p:nvPicPr>
            <p:cNvPr id="93" name="图片 9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8953" y="2196892"/>
              <a:ext cx="6434096" cy="363640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521" y="382369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94308"/>
            <a:ext cx="5294403" cy="593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技术重点难点</a:t>
            </a:r>
            <a:endParaRPr kumimoji="1" lang="zh-CN" altLang="en-US" sz="11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73237" y="4178626"/>
            <a:ext cx="11318116" cy="2175079"/>
          </a:xfrm>
          <a:prstGeom prst="roundRect">
            <a:avLst>
              <a:gd name="adj" fmla="val 926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矩形: 圆角 4"/>
          <p:cNvSpPr/>
          <p:nvPr/>
        </p:nvSpPr>
        <p:spPr>
          <a:xfrm>
            <a:off x="819912" y="1110927"/>
            <a:ext cx="10874248" cy="4852993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8575">
            <a:solidFill>
              <a:srgbClr val="037DF7"/>
            </a:solidFill>
          </a:ln>
          <a:effectLst>
            <a:outerShdw blurRad="127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749270" y="1440470"/>
            <a:ext cx="10816656" cy="1919085"/>
            <a:chOff x="439462" y="1370879"/>
            <a:chExt cx="9904676" cy="1176885"/>
          </a:xfrm>
        </p:grpSpPr>
        <p:grpSp>
          <p:nvGrpSpPr>
            <p:cNvPr id="23" name="组合 22"/>
            <p:cNvGrpSpPr/>
            <p:nvPr/>
          </p:nvGrpSpPr>
          <p:grpSpPr>
            <a:xfrm>
              <a:off x="439462" y="1370879"/>
              <a:ext cx="3475119" cy="1157334"/>
              <a:chOff x="639759" y="1357816"/>
              <a:chExt cx="3475119" cy="1157334"/>
            </a:xfrm>
          </p:grpSpPr>
          <p:sp>
            <p:nvSpPr>
              <p:cNvPr id="34" name="矩形 33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    <p:cNvSpPr/>
              <p:nvPr/>
            </p:nvSpPr>
            <p:spPr>
              <a:xfrm>
                <a:off x="1460032" y="1660843"/>
                <a:ext cx="2654846" cy="854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基于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DeepSeek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模型 </a:t>
                </a: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整合政务数据构建知识库，经脱敏保障安全；通过场景反馈微调模型，强化专业术语理解与逻辑推理能力。</a:t>
                </a:r>
                <a:endParaRPr lang="en-US" altLang="zh-CN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427441" y="1425683"/>
                <a:ext cx="1648689" cy="226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sym typeface="+mn-lt"/>
                  </a:rPr>
                  <a:t>模型训练与优化</a:t>
                </a: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639759" y="1357816"/>
                <a:ext cx="79715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1D42E1"/>
                    </a:solidFill>
                    <a:effectLst/>
                    <a:uLnTx/>
                    <a:uFillTx/>
                    <a:latin typeface="+mj-lt"/>
                    <a:ea typeface="微软雅黑" panose="020B0503020204020204" pitchFamily="34" charset="-122"/>
                    <a:cs typeface="+mn-cs"/>
                    <a:sym typeface="+mn-lt"/>
                  </a:rPr>
                  <a:t>01</a:t>
                </a:r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1358537" y="1489166"/>
                <a:ext cx="0" cy="949234"/>
              </a:xfrm>
              <a:prstGeom prst="line">
                <a:avLst/>
              </a:prstGeom>
              <a:ln w="28575">
                <a:gradFill>
                  <a:gsLst>
                    <a:gs pos="0">
                      <a:srgbClr val="1D42E1"/>
                    </a:gs>
                    <a:gs pos="100000">
                      <a:srgbClr val="1D42E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3644217" y="1370879"/>
              <a:ext cx="3603491" cy="1176885"/>
              <a:chOff x="639759" y="1357816"/>
              <a:chExt cx="3603491" cy="1176885"/>
            </a:xfrm>
          </p:grpSpPr>
          <p:sp>
            <p:nvSpPr>
              <p:cNvPr id="30" name="矩形 29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    <p:cNvSpPr/>
              <p:nvPr/>
            </p:nvSpPr>
            <p:spPr>
              <a:xfrm>
                <a:off x="1441617" y="1655385"/>
                <a:ext cx="2801633" cy="8793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政务服务问题逻辑复杂，混合推理引擎需灵活切换推理层次。通过多模态知识融合、突破长文本处理瓶颈，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构建三级推理链路</a:t>
                </a: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。</a:t>
                </a:r>
                <a:endParaRPr lang="en-US" altLang="zh-CN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427441" y="1425683"/>
                <a:ext cx="1860059" cy="226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sym typeface="+mn-lt"/>
                  </a:rPr>
                  <a:t>推理深度与复杂性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639759" y="1357816"/>
                <a:ext cx="79715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E1"/>
                    </a:solidFill>
                    <a:effectLst/>
                    <a:uLnTx/>
                    <a:uFillTx/>
                    <a:latin typeface="+mj-lt"/>
                    <a:ea typeface="微软雅黑" panose="020B0503020204020204" pitchFamily="34" charset="-122"/>
                    <a:cs typeface="+mn-cs"/>
                    <a:sym typeface="+mn-lt"/>
                  </a:rPr>
                  <a:t>02</a:t>
                </a: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1358537" y="1489166"/>
                <a:ext cx="0" cy="949234"/>
              </a:xfrm>
              <a:prstGeom prst="line">
                <a:avLst/>
              </a:prstGeom>
              <a:ln w="28575">
                <a:gradFill>
                  <a:gsLst>
                    <a:gs pos="0">
                      <a:srgbClr val="1D42E1"/>
                    </a:gs>
                    <a:gs pos="100000">
                      <a:srgbClr val="1D42E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合 24"/>
            <p:cNvGrpSpPr/>
            <p:nvPr/>
          </p:nvGrpSpPr>
          <p:grpSpPr>
            <a:xfrm>
              <a:off x="6709634" y="1370879"/>
              <a:ext cx="3634504" cy="1151878"/>
              <a:chOff x="639759" y="1357816"/>
              <a:chExt cx="3634504" cy="1151878"/>
            </a:xfrm>
          </p:grpSpPr>
          <p:sp>
            <p:nvSpPr>
              <p:cNvPr id="26" name="矩形 25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    <p:cNvSpPr/>
              <p:nvPr/>
            </p:nvSpPr>
            <p:spPr>
              <a:xfrm>
                <a:off x="1472630" y="1655387"/>
                <a:ext cx="2801633" cy="854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动态调度概率与规则推理引擎</a:t>
                </a: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，依托多模态融合与推理链路，协同处理多源政务信息，提升复杂审批等场景的协同效率。</a:t>
                </a:r>
                <a:endParaRPr lang="en-US" altLang="zh-CN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427441" y="1425683"/>
                <a:ext cx="1648689" cy="226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sym typeface="+mn-lt"/>
                  </a:rPr>
                  <a:t>模型协同与调度</a:t>
                </a: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639759" y="1357816"/>
                <a:ext cx="79715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1D42E1"/>
                    </a:solidFill>
                    <a:effectLst/>
                    <a:uLnTx/>
                    <a:uFillTx/>
                    <a:latin typeface="+mj-lt"/>
                    <a:ea typeface="微软雅黑" panose="020B0503020204020204" pitchFamily="34" charset="-122"/>
                    <a:cs typeface="+mn-cs"/>
                    <a:sym typeface="+mn-lt"/>
                  </a:rPr>
                  <a:t>03</a:t>
                </a:r>
              </a:p>
            </p:txBody>
          </p:sp>
          <p:cxnSp>
            <p:nvCxnSpPr>
              <p:cNvPr id="29" name="直接连接符 28"/>
              <p:cNvCxnSpPr/>
              <p:nvPr/>
            </p:nvCxnSpPr>
            <p:spPr>
              <a:xfrm>
                <a:off x="1358537" y="1489166"/>
                <a:ext cx="0" cy="949234"/>
              </a:xfrm>
              <a:prstGeom prst="line">
                <a:avLst/>
              </a:prstGeom>
              <a:ln w="28575">
                <a:gradFill>
                  <a:gsLst>
                    <a:gs pos="0">
                      <a:srgbClr val="1D42E1"/>
                    </a:gs>
                    <a:gs pos="100000">
                      <a:srgbClr val="1D42E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6"/>
          <p:cNvGrpSpPr/>
          <p:nvPr/>
        </p:nvGrpSpPr>
        <p:grpSpPr>
          <a:xfrm>
            <a:off x="749270" y="3560691"/>
            <a:ext cx="10815498" cy="2262223"/>
            <a:chOff x="439462" y="1370879"/>
            <a:chExt cx="9903616" cy="1387314"/>
          </a:xfrm>
        </p:grpSpPr>
        <p:grpSp>
          <p:nvGrpSpPr>
            <p:cNvPr id="8" name="组合 7"/>
            <p:cNvGrpSpPr/>
            <p:nvPr/>
          </p:nvGrpSpPr>
          <p:grpSpPr>
            <a:xfrm>
              <a:off x="439462" y="1391647"/>
              <a:ext cx="3671610" cy="1236354"/>
              <a:chOff x="639759" y="1378584"/>
              <a:chExt cx="3671610" cy="1236354"/>
            </a:xfrm>
          </p:grpSpPr>
          <p:sp>
            <p:nvSpPr>
              <p:cNvPr id="19" name="矩形 18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    <p:cNvSpPr/>
              <p:nvPr/>
            </p:nvSpPr>
            <p:spPr>
              <a:xfrm>
                <a:off x="1480383" y="1707312"/>
                <a:ext cx="2830986" cy="9076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政务服务数据敏感，基于 </a:t>
                </a:r>
                <a:r>
                  <a:rPr lang="en-US" altLang="zh-CN" sz="1400" dirty="0" err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DeepSeek</a:t>
                </a:r>
                <a:r>
                  <a:rPr lang="en-US" altLang="zh-C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 </a:t>
                </a: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的方案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采取数据脱敏、本地化存储传输、专网私有部署及权限控制等措施</a:t>
                </a:r>
                <a:r>
                  <a:rPr lang="zh-CN" altLang="en-US" sz="1400" dirty="0"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，</a:t>
                </a: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确保数据安全合规。</a:t>
                </a:r>
                <a:endParaRPr lang="en-US" altLang="zh-CN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427441" y="1441261"/>
                <a:ext cx="1860059" cy="226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sym typeface="+mn-lt"/>
                  </a:rPr>
                  <a:t>数据安全与合规性</a:t>
                </a: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39759" y="1378584"/>
                <a:ext cx="797156" cy="4680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E1"/>
                    </a:solidFill>
                    <a:effectLst/>
                    <a:uLnTx/>
                    <a:uFillTx/>
                    <a:latin typeface="+mj-lt"/>
                    <a:ea typeface="微软雅黑" panose="020B0503020204020204" pitchFamily="34" charset="-122"/>
                    <a:cs typeface="+mn-cs"/>
                    <a:sym typeface="+mn-lt"/>
                  </a:rPr>
                  <a:t>04</a:t>
                </a:r>
              </a:p>
            </p:txBody>
          </p:sp>
          <p:cxnSp>
            <p:nvCxnSpPr>
              <p:cNvPr id="22" name="直接连接符 21"/>
              <p:cNvCxnSpPr/>
              <p:nvPr/>
            </p:nvCxnSpPr>
            <p:spPr>
              <a:xfrm>
                <a:off x="1358537" y="1530710"/>
                <a:ext cx="0" cy="949234"/>
              </a:xfrm>
              <a:prstGeom prst="line">
                <a:avLst/>
              </a:prstGeom>
              <a:ln w="28575">
                <a:gradFill>
                  <a:gsLst>
                    <a:gs pos="0">
                      <a:srgbClr val="1D42E1"/>
                    </a:gs>
                    <a:gs pos="100000">
                      <a:srgbClr val="1D42E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3644217" y="1370879"/>
              <a:ext cx="3530418" cy="1208045"/>
              <a:chOff x="639759" y="1357816"/>
              <a:chExt cx="3530418" cy="1208045"/>
            </a:xfrm>
          </p:grpSpPr>
          <p:sp>
            <p:nvSpPr>
              <p:cNvPr id="15" name="矩形 14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    <p:cNvSpPr/>
              <p:nvPr/>
            </p:nvSpPr>
            <p:spPr>
              <a:xfrm>
                <a:off x="1480383" y="1686546"/>
                <a:ext cx="2689794" cy="879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政务服务需满足多元用户需求。当前支持多模态交互，但适老化和亲情服务不足，后续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可增加大字体、简化流程及亲情代办等功能</a:t>
                </a: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。</a:t>
                </a:r>
                <a:endParaRPr lang="en-US" altLang="zh-CN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427441" y="1425683"/>
                <a:ext cx="1860059" cy="226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sym typeface="+mn-lt"/>
                  </a:rPr>
                  <a:t>用户体验与适配性</a:t>
                </a: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39759" y="1357816"/>
                <a:ext cx="797156" cy="4680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1D42E1"/>
                    </a:solidFill>
                    <a:effectLst/>
                    <a:uLnTx/>
                    <a:uFillTx/>
                    <a:latin typeface="+mj-lt"/>
                    <a:ea typeface="微软雅黑" panose="020B0503020204020204" pitchFamily="34" charset="-122"/>
                    <a:cs typeface="+mn-cs"/>
                    <a:sym typeface="+mn-lt"/>
                  </a:rPr>
                  <a:t>05</a:t>
                </a:r>
              </a:p>
            </p:txBody>
          </p:sp>
          <p:cxnSp>
            <p:nvCxnSpPr>
              <p:cNvPr id="18" name="直接连接符 17"/>
              <p:cNvCxnSpPr/>
              <p:nvPr/>
            </p:nvCxnSpPr>
            <p:spPr>
              <a:xfrm>
                <a:off x="1358537" y="1489166"/>
                <a:ext cx="0" cy="949234"/>
              </a:xfrm>
              <a:prstGeom prst="line">
                <a:avLst/>
              </a:prstGeom>
              <a:ln w="28575">
                <a:gradFill>
                  <a:gsLst>
                    <a:gs pos="0">
                      <a:srgbClr val="1D42E1"/>
                    </a:gs>
                    <a:gs pos="100000">
                      <a:srgbClr val="1D42E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6709634" y="1370879"/>
              <a:ext cx="3633444" cy="1387314"/>
              <a:chOff x="639759" y="1357816"/>
              <a:chExt cx="3633444" cy="1387314"/>
            </a:xfrm>
          </p:grpSpPr>
          <p:sp>
            <p:nvSpPr>
              <p:cNvPr id="11" name="矩形 10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    <p:cNvSpPr/>
              <p:nvPr/>
            </p:nvSpPr>
            <p:spPr>
              <a:xfrm>
                <a:off x="1471570" y="1667634"/>
                <a:ext cx="2801633" cy="10774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政务服务跨部门流程多，多智能体协同至关重要。智能工作台为部门协作提供一定支持，但缺乏协同机制阐述，可通过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建立信息共享平台和协同流程</a:t>
                </a:r>
                <a:r>
                  <a:rPr lang="zh-CN" alt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+mn-ea"/>
                    <a:cs typeface="Arial" panose="020B0604020202020204" pitchFamily="34" charset="0"/>
                    <a:sym typeface="Calibri" panose="020F0502020204030204" pitchFamily="34" charset="0"/>
                  </a:rPr>
                  <a:t>提升效率。</a:t>
                </a:r>
                <a:endParaRPr lang="en-US" altLang="zh-CN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427441" y="1425683"/>
                <a:ext cx="1437318" cy="226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sym typeface="+mn-lt"/>
                  </a:rPr>
                  <a:t>多智能体协同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39759" y="1357816"/>
                <a:ext cx="797156" cy="4680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E1"/>
                    </a:solidFill>
                    <a:effectLst/>
                    <a:uLnTx/>
                    <a:uFillTx/>
                    <a:latin typeface="+mj-lt"/>
                    <a:ea typeface="微软雅黑" panose="020B0503020204020204" pitchFamily="34" charset="-122"/>
                    <a:cs typeface="+mn-cs"/>
                    <a:sym typeface="+mn-lt"/>
                  </a:rPr>
                  <a:t>06</a:t>
                </a: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1358537" y="1489166"/>
                <a:ext cx="0" cy="949234"/>
              </a:xfrm>
              <a:prstGeom prst="line">
                <a:avLst/>
              </a:prstGeom>
              <a:ln w="28575">
                <a:gradFill>
                  <a:gsLst>
                    <a:gs pos="0">
                      <a:srgbClr val="1D42E1"/>
                    </a:gs>
                    <a:gs pos="100000">
                      <a:srgbClr val="1D42E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7"/>
          <p:cNvSpPr>
            <a:spLocks noChangeArrowheads="1"/>
          </p:cNvSpPr>
          <p:nvPr/>
        </p:nvSpPr>
        <p:spPr bwMode="auto">
          <a:xfrm rot="10800000">
            <a:off x="7213759" y="2619058"/>
            <a:ext cx="1533525" cy="1320800"/>
          </a:xfrm>
          <a:prstGeom prst="triangle">
            <a:avLst>
              <a:gd name="adj" fmla="val 50000"/>
            </a:avLst>
          </a:prstGeom>
          <a:solidFill>
            <a:srgbClr val="0848AF"/>
          </a:solidFill>
          <a:ln w="25400" algn="ctr">
            <a:noFill/>
            <a:miter lim="800000"/>
          </a:ln>
        </p:spPr>
        <p:txBody>
          <a:bodyPr rot="1080000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id-ID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Isosceles Triangle 8"/>
          <p:cNvSpPr>
            <a:spLocks noChangeArrowheads="1"/>
          </p:cNvSpPr>
          <p:nvPr/>
        </p:nvSpPr>
        <p:spPr bwMode="auto">
          <a:xfrm rot="10800000">
            <a:off x="5516721" y="2619058"/>
            <a:ext cx="1531938" cy="1320800"/>
          </a:xfrm>
          <a:prstGeom prst="triangle">
            <a:avLst>
              <a:gd name="adj" fmla="val 50000"/>
            </a:avLst>
          </a:prstGeom>
          <a:solidFill>
            <a:srgbClr val="0848AF"/>
          </a:solidFill>
          <a:ln w="25400" algn="ctr">
            <a:noFill/>
            <a:miter lim="800000"/>
          </a:ln>
        </p:spPr>
        <p:txBody>
          <a:bodyPr rot="1080000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id-ID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Isosceles Triangle 9"/>
          <p:cNvSpPr>
            <a:spLocks noChangeArrowheads="1"/>
          </p:cNvSpPr>
          <p:nvPr/>
        </p:nvSpPr>
        <p:spPr bwMode="auto">
          <a:xfrm rot="10800000">
            <a:off x="3818096" y="2619058"/>
            <a:ext cx="1533525" cy="1320800"/>
          </a:xfrm>
          <a:prstGeom prst="triangle">
            <a:avLst>
              <a:gd name="adj" fmla="val 50000"/>
            </a:avLst>
          </a:prstGeom>
          <a:solidFill>
            <a:srgbClr val="0848AF"/>
          </a:solidFill>
          <a:ln w="25400" algn="ctr">
            <a:noFill/>
            <a:miter lim="800000"/>
          </a:ln>
        </p:spPr>
        <p:txBody>
          <a:bodyPr rot="1080000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id-ID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Isosceles Triangle 10"/>
          <p:cNvSpPr>
            <a:spLocks noChangeArrowheads="1"/>
          </p:cNvSpPr>
          <p:nvPr/>
        </p:nvSpPr>
        <p:spPr bwMode="auto">
          <a:xfrm>
            <a:off x="4673759" y="2939733"/>
            <a:ext cx="1531937" cy="1320800"/>
          </a:xfrm>
          <a:prstGeom prst="triangle">
            <a:avLst>
              <a:gd name="adj" fmla="val 50000"/>
            </a:avLst>
          </a:prstGeom>
          <a:solidFill>
            <a:srgbClr val="0848AF"/>
          </a:solidFill>
          <a:ln w="25400" algn="ctr">
            <a:noFill/>
            <a:miter lim="800000"/>
          </a:ln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id-ID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Isosceles Triangle 11"/>
          <p:cNvSpPr>
            <a:spLocks noChangeArrowheads="1"/>
          </p:cNvSpPr>
          <p:nvPr/>
        </p:nvSpPr>
        <p:spPr bwMode="auto">
          <a:xfrm>
            <a:off x="6372384" y="2939733"/>
            <a:ext cx="1531937" cy="1320800"/>
          </a:xfrm>
          <a:prstGeom prst="triangle">
            <a:avLst>
              <a:gd name="adj" fmla="val 50000"/>
            </a:avLst>
          </a:prstGeom>
          <a:solidFill>
            <a:srgbClr val="0848AF"/>
          </a:solidFill>
          <a:ln w="25400" algn="ctr">
            <a:noFill/>
            <a:miter lim="800000"/>
          </a:ln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id-ID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Group 12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2934" y="2904808"/>
            <a:ext cx="341312" cy="3413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8" name="Group 15"/>
          <p:cNvPicPr preferRelativeResize="0"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1609" y="3647758"/>
            <a:ext cx="347662" cy="3540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9" name="Group 18"/>
          <p:cNvPicPr preferRelativeResize="0"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4896" y="2849245"/>
            <a:ext cx="273050" cy="390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10" name="Group 21"/>
          <p:cNvPicPr preferRelativeResize="0"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10546" y="3684270"/>
            <a:ext cx="427038" cy="2984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11" name="Group 30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818596" y="2868295"/>
            <a:ext cx="322263" cy="3460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cxnSp>
        <p:nvCxnSpPr>
          <p:cNvPr id="12" name="Straight Connector 33"/>
          <p:cNvCxnSpPr>
            <a:cxnSpLocks noChangeShapeType="1"/>
          </p:cNvCxnSpPr>
          <p:nvPr/>
        </p:nvCxnSpPr>
        <p:spPr bwMode="auto">
          <a:xfrm flipH="1">
            <a:off x="3475196" y="2303145"/>
            <a:ext cx="1109663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  <a:tailEnd type="oval" w="med" len="med"/>
          </a:ln>
        </p:spPr>
      </p:cxnSp>
      <p:cxnSp>
        <p:nvCxnSpPr>
          <p:cNvPr id="13" name="Straight Connector 34"/>
          <p:cNvCxnSpPr>
            <a:cxnSpLocks noChangeShapeType="1"/>
          </p:cNvCxnSpPr>
          <p:nvPr/>
        </p:nvCxnSpPr>
        <p:spPr bwMode="auto">
          <a:xfrm>
            <a:off x="6281896" y="3955733"/>
            <a:ext cx="0" cy="828675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  <a:tailEnd type="oval" w="med" len="med"/>
          </a:ln>
        </p:spPr>
      </p:cxnSp>
      <p:cxnSp>
        <p:nvCxnSpPr>
          <p:cNvPr id="14" name="Straight Connector 35"/>
          <p:cNvCxnSpPr>
            <a:cxnSpLocks noChangeShapeType="1"/>
          </p:cNvCxnSpPr>
          <p:nvPr/>
        </p:nvCxnSpPr>
        <p:spPr bwMode="auto">
          <a:xfrm flipV="1">
            <a:off x="4583271" y="2299970"/>
            <a:ext cx="0" cy="319088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</a:ln>
        </p:spPr>
      </p:cxnSp>
      <p:cxnSp>
        <p:nvCxnSpPr>
          <p:cNvPr id="15" name="Straight Connector 36"/>
          <p:cNvCxnSpPr>
            <a:cxnSpLocks noChangeShapeType="1"/>
          </p:cNvCxnSpPr>
          <p:nvPr/>
        </p:nvCxnSpPr>
        <p:spPr bwMode="auto">
          <a:xfrm flipH="1">
            <a:off x="7970996" y="2303145"/>
            <a:ext cx="1109663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  <a:headEnd type="oval" w="med" len="med"/>
          </a:ln>
        </p:spPr>
      </p:cxnSp>
      <p:cxnSp>
        <p:nvCxnSpPr>
          <p:cNvPr id="16" name="Straight Connector 37"/>
          <p:cNvCxnSpPr>
            <a:cxnSpLocks noChangeShapeType="1"/>
          </p:cNvCxnSpPr>
          <p:nvPr/>
        </p:nvCxnSpPr>
        <p:spPr bwMode="auto">
          <a:xfrm flipV="1">
            <a:off x="7974171" y="2299970"/>
            <a:ext cx="0" cy="319088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</a:ln>
        </p:spPr>
      </p:cxnSp>
      <p:cxnSp>
        <p:nvCxnSpPr>
          <p:cNvPr id="17" name="Straight Connector 38"/>
          <p:cNvCxnSpPr>
            <a:cxnSpLocks noChangeShapeType="1"/>
          </p:cNvCxnSpPr>
          <p:nvPr/>
        </p:nvCxnSpPr>
        <p:spPr bwMode="auto">
          <a:xfrm flipH="1">
            <a:off x="4330859" y="4573270"/>
            <a:ext cx="1109662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  <a:tailEnd type="oval" w="med" len="med"/>
          </a:ln>
        </p:spPr>
      </p:cxnSp>
      <p:cxnSp>
        <p:nvCxnSpPr>
          <p:cNvPr id="18" name="Straight Connector 39"/>
          <p:cNvCxnSpPr>
            <a:cxnSpLocks noChangeShapeType="1"/>
          </p:cNvCxnSpPr>
          <p:nvPr/>
        </p:nvCxnSpPr>
        <p:spPr bwMode="auto">
          <a:xfrm>
            <a:off x="5438934" y="4257358"/>
            <a:ext cx="0" cy="320675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</a:ln>
        </p:spPr>
      </p:cxnSp>
      <p:cxnSp>
        <p:nvCxnSpPr>
          <p:cNvPr id="19" name="Straight Connector 40"/>
          <p:cNvCxnSpPr>
            <a:cxnSpLocks noChangeShapeType="1"/>
          </p:cNvCxnSpPr>
          <p:nvPr/>
        </p:nvCxnSpPr>
        <p:spPr bwMode="auto">
          <a:xfrm flipH="1">
            <a:off x="7135971" y="4573270"/>
            <a:ext cx="11080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  <a:headEnd type="oval" w="med" len="med"/>
          </a:ln>
        </p:spPr>
      </p:cxnSp>
      <p:cxnSp>
        <p:nvCxnSpPr>
          <p:cNvPr id="20" name="Straight Connector 41"/>
          <p:cNvCxnSpPr>
            <a:cxnSpLocks noChangeShapeType="1"/>
          </p:cNvCxnSpPr>
          <p:nvPr/>
        </p:nvCxnSpPr>
        <p:spPr bwMode="auto">
          <a:xfrm>
            <a:off x="7137559" y="4257358"/>
            <a:ext cx="0" cy="320675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"/>
            <a:miter lim="800000"/>
          </a:ln>
        </p:spPr>
      </p:cxnSp>
      <p:sp>
        <p:nvSpPr>
          <p:cNvPr id="21" name="TextBox 42"/>
          <p:cNvSpPr txBox="1">
            <a:spLocks noChangeArrowheads="1"/>
          </p:cNvSpPr>
          <p:nvPr/>
        </p:nvSpPr>
        <p:spPr bwMode="auto">
          <a:xfrm>
            <a:off x="1268571" y="1777683"/>
            <a:ext cx="2181225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2000" b="1" dirty="0">
                <a:latin typeface="+mj-ea"/>
                <a:ea typeface="+mj-ea"/>
              </a:rPr>
              <a:t>政务服务咨询</a:t>
            </a:r>
          </a:p>
        </p:txBody>
      </p:sp>
      <p:sp>
        <p:nvSpPr>
          <p:cNvPr id="22" name="TextBox 43"/>
          <p:cNvSpPr txBox="1">
            <a:spLocks noChangeArrowheads="1"/>
          </p:cNvSpPr>
          <p:nvPr/>
        </p:nvSpPr>
        <p:spPr bwMode="auto">
          <a:xfrm>
            <a:off x="528323" y="2188845"/>
            <a:ext cx="3121500" cy="83369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阿里巴巴普惠体" panose="00020600040101010101" charset="-122"/>
              </a:rPr>
              <a:t>为市民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阿里巴巴普惠体" panose="00020600040101010101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阿里巴巴普惠体" panose="00020600040101010101" charset="-122"/>
              </a:rPr>
              <a:t>企业提供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  <a:sym typeface="阿里巴巴普惠体" panose="00020600040101010101" charset="-122"/>
              </a:rPr>
              <a:t>7*24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sym typeface="阿里巴巴普惠体" panose="00020600040101010101" charset="-122"/>
              </a:rPr>
              <a:t>小时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阿里巴巴普惠体" panose="00020600040101010101" charset="-122"/>
              </a:rPr>
              <a:t>场景化、智能化、精准化的咨询服务。</a:t>
            </a:r>
          </a:p>
        </p:txBody>
      </p:sp>
      <p:sp>
        <p:nvSpPr>
          <p:cNvPr id="23" name="TextBox 44"/>
          <p:cNvSpPr txBox="1">
            <a:spLocks noChangeArrowheads="1"/>
          </p:cNvSpPr>
          <p:nvPr/>
        </p:nvSpPr>
        <p:spPr bwMode="auto">
          <a:xfrm>
            <a:off x="2133759" y="4027170"/>
            <a:ext cx="2001837" cy="3968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数据查询服务</a:t>
            </a:r>
          </a:p>
        </p:txBody>
      </p:sp>
      <p:sp>
        <p:nvSpPr>
          <p:cNvPr id="24" name="TextBox 45"/>
          <p:cNvSpPr txBox="1">
            <a:spLocks noChangeArrowheads="1"/>
          </p:cNvSpPr>
          <p:nvPr/>
        </p:nvSpPr>
        <p:spPr bwMode="auto">
          <a:xfrm>
            <a:off x="751845" y="4438333"/>
            <a:ext cx="3574252" cy="11568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阿里巴巴普惠体" panose="00020600040101010101" charset="-122"/>
              </a:rPr>
              <a:t>通过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  <a:sym typeface="阿里巴巴普惠体" panose="00020600040101010101" charset="-122"/>
              </a:rPr>
              <a:t>跨部门数据查询服务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阿里巴巴普惠体" panose="00020600040101010101" charset="-122"/>
              </a:rPr>
              <a:t>，用户能够迅速获取所需的信息，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  <a:sym typeface="阿里巴巴普惠体" panose="00020600040101010101" charset="-122"/>
              </a:rPr>
              <a:t>实现数据的有效整合和智能化管理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阿里巴巴普惠体" panose="00020600040101010101" charset="-122"/>
              </a:rPr>
              <a:t>。</a:t>
            </a:r>
          </a:p>
        </p:txBody>
      </p:sp>
      <p:sp>
        <p:nvSpPr>
          <p:cNvPr id="25" name="TextBox 46"/>
          <p:cNvSpPr txBox="1">
            <a:spLocks noChangeArrowheads="1"/>
          </p:cNvSpPr>
          <p:nvPr/>
        </p:nvSpPr>
        <p:spPr bwMode="auto">
          <a:xfrm>
            <a:off x="8250396" y="3938270"/>
            <a:ext cx="3171825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2000" b="1" dirty="0">
                <a:latin typeface="+mj-ea"/>
                <a:ea typeface="+mj-ea"/>
                <a:sym typeface="阿里巴巴普惠体" panose="00020600040101010101" charset="-122"/>
              </a:rPr>
              <a:t>政策解读与分析</a:t>
            </a:r>
          </a:p>
        </p:txBody>
      </p:sp>
      <p:sp>
        <p:nvSpPr>
          <p:cNvPr id="26" name="TextBox 47"/>
          <p:cNvSpPr txBox="1">
            <a:spLocks noChangeArrowheads="1"/>
          </p:cNvSpPr>
          <p:nvPr/>
        </p:nvSpPr>
        <p:spPr bwMode="auto">
          <a:xfrm>
            <a:off x="8251984" y="4330383"/>
            <a:ext cx="3273425" cy="791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阿里巴巴普惠体" panose="00020600040101010101" charset="-122"/>
              </a:rPr>
              <a:t>对新发布政策进行解读和分析</a:t>
            </a:r>
            <a:r>
              <a:rPr lang="zh-CN" altLang="en-US" sz="1600" dirty="0">
                <a:latin typeface="+mj-ea"/>
                <a:ea typeface="+mj-ea"/>
                <a:sym typeface="阿里巴巴普惠体" panose="00020600040101010101" charset="-122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  <a:sym typeface="阿里巴巴普惠体" panose="00020600040101010101" charset="-122"/>
              </a:rPr>
              <a:t>帮助用户理解政策影响和应用</a:t>
            </a:r>
          </a:p>
        </p:txBody>
      </p:sp>
      <p:sp>
        <p:nvSpPr>
          <p:cNvPr id="27" name="TextBox 48"/>
          <p:cNvSpPr txBox="1">
            <a:spLocks noChangeArrowheads="1"/>
          </p:cNvSpPr>
          <p:nvPr/>
        </p:nvSpPr>
        <p:spPr bwMode="auto">
          <a:xfrm>
            <a:off x="9079071" y="1717358"/>
            <a:ext cx="2395538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2000" b="1" dirty="0">
                <a:latin typeface="+mj-ea"/>
                <a:ea typeface="+mj-ea"/>
                <a:sym typeface="阿里巴巴普惠体" panose="00020600040101010101" charset="-122"/>
              </a:rPr>
              <a:t>业务流程指导</a:t>
            </a:r>
          </a:p>
        </p:txBody>
      </p:sp>
      <p:sp>
        <p:nvSpPr>
          <p:cNvPr id="28" name="TextBox 49"/>
          <p:cNvSpPr txBox="1">
            <a:spLocks noChangeArrowheads="1"/>
          </p:cNvSpPr>
          <p:nvPr/>
        </p:nvSpPr>
        <p:spPr bwMode="auto">
          <a:xfrm>
            <a:off x="9080658" y="2084070"/>
            <a:ext cx="2754311" cy="1152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阿里巴巴普惠体" panose="00020600040101010101" charset="-122"/>
              </a:rPr>
              <a:t>指导用户完成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  <a:sym typeface="阿里巴巴普惠体" panose="00020600040101010101" charset="-122"/>
              </a:rPr>
              <a:t>各类政府业务流程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阿里巴巴普惠体" panose="00020600040101010101" charset="-122"/>
              </a:rPr>
              <a:t>，如许可证申请、税务申报等</a:t>
            </a:r>
          </a:p>
        </p:txBody>
      </p:sp>
      <p:sp>
        <p:nvSpPr>
          <p:cNvPr id="29" name="TextBox 50"/>
          <p:cNvSpPr txBox="1">
            <a:spLocks noChangeArrowheads="1"/>
          </p:cNvSpPr>
          <p:nvPr/>
        </p:nvSpPr>
        <p:spPr bwMode="auto">
          <a:xfrm>
            <a:off x="5135722" y="4978083"/>
            <a:ext cx="23304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2000" b="1" dirty="0">
                <a:latin typeface="+mj-ea"/>
                <a:ea typeface="+mj-ea"/>
                <a:sym typeface="阿里巴巴普惠体" panose="00020600040101010101" charset="-122"/>
              </a:rPr>
              <a:t>政务业务数据安全</a:t>
            </a:r>
          </a:p>
        </p:txBody>
      </p:sp>
      <p:sp>
        <p:nvSpPr>
          <p:cNvPr id="30" name="TextBox 51"/>
          <p:cNvSpPr txBox="1">
            <a:spLocks noChangeArrowheads="1"/>
          </p:cNvSpPr>
          <p:nvPr/>
        </p:nvSpPr>
        <p:spPr bwMode="auto">
          <a:xfrm>
            <a:off x="4583271" y="5501958"/>
            <a:ext cx="4108450" cy="11609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阿里巴巴普惠体" panose="00020600040101010101" charset="-122"/>
              </a:rPr>
              <a:t>利用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  <a:sym typeface="阿里巴巴普惠体" panose="00020600040101010101" charset="-122"/>
              </a:rPr>
              <a:t>大模型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  <a:sym typeface="阿里巴巴普惠体" panose="00020600040101010101" charset="-122"/>
              </a:rPr>
              <a:t>+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  <a:sym typeface="阿里巴巴普惠体" panose="00020600040101010101" charset="-122"/>
              </a:rPr>
              <a:t>本地向量库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阿里巴巴普惠体" panose="00020600040101010101" charset="-122"/>
              </a:rPr>
              <a:t>方案，让服务数据存放在本地，政务数据的安全性、权威性、实时性等得到保障。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62225" y="359383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1381729" y="359383"/>
            <a:ext cx="5294403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业务覆盖范围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746761" y="2431894"/>
            <a:ext cx="1569855" cy="534074"/>
          </a:xfrm>
          <a:prstGeom prst="roundRect">
            <a:avLst>
              <a:gd name="adj" fmla="val 11114"/>
            </a:avLst>
          </a:prstGeom>
          <a:solidFill>
            <a:srgbClr val="006DE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实现原理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3582" y="3008818"/>
            <a:ext cx="2820259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通过把我们已有的高质量精确问答对，政务业务流程，政策解读等内容，形成本地政务知识库。用户提问时，从本地政务知识库里面获取关联相似度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 k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的知识，作为提问内容，再向政小智大模型提问，得到基于本地政务知识库的答案。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486535" y="1648460"/>
            <a:ext cx="9133205" cy="1397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cxnSp>
      <p:sp>
        <p:nvSpPr>
          <p:cNvPr id="5" name="文本框 4"/>
          <p:cNvSpPr txBox="1"/>
          <p:nvPr/>
        </p:nvSpPr>
        <p:spPr>
          <a:xfrm>
            <a:off x="1414145" y="1209040"/>
            <a:ext cx="92983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基于大模型+本地向量数据库的应用模式解决数据安全性、权威性、时效性等问题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882719" y="1942011"/>
            <a:ext cx="9115425" cy="4794250"/>
            <a:chOff x="2294" y="2208"/>
            <a:chExt cx="14355" cy="7550"/>
          </a:xfrm>
        </p:grpSpPr>
        <p:sp>
          <p:nvSpPr>
            <p:cNvPr id="7" name="圆角矩形 15"/>
            <p:cNvSpPr/>
            <p:nvPr>
              <p:custDataLst>
                <p:tags r:id="rId1"/>
              </p:custDataLst>
            </p:nvPr>
          </p:nvSpPr>
          <p:spPr>
            <a:xfrm>
              <a:off x="5580" y="5727"/>
              <a:ext cx="3037" cy="1239"/>
            </a:xfrm>
            <a:prstGeom prst="roundRect">
              <a:avLst/>
            </a:prstGeom>
            <a:solidFill>
              <a:srgbClr val="006DE8"/>
            </a:solidFill>
            <a:ln w="3175" cap="flat" cmpd="sng" algn="ctr">
              <a:solidFill>
                <a:srgbClr val="006DE8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SeekGov</a:t>
              </a:r>
            </a:p>
          </p:txBody>
        </p:sp>
        <p:sp>
          <p:nvSpPr>
            <p:cNvPr id="8" name="圆角矩形 16"/>
            <p:cNvSpPr/>
            <p:nvPr>
              <p:custDataLst>
                <p:tags r:id="rId2"/>
              </p:custDataLst>
            </p:nvPr>
          </p:nvSpPr>
          <p:spPr>
            <a:xfrm>
              <a:off x="5580" y="8654"/>
              <a:ext cx="2811" cy="1104"/>
            </a:xfrm>
            <a:prstGeom prst="roundRect">
              <a:avLst/>
            </a:prstGeom>
            <a:solidFill>
              <a:srgbClr val="2AA1E3"/>
            </a:solidFill>
            <a:ln w="3175" cap="flat" cmpd="sng" algn="ctr">
              <a:solidFill>
                <a:srgbClr val="0286D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大语言模型</a:t>
              </a:r>
            </a:p>
          </p:txBody>
        </p:sp>
        <p:sp>
          <p:nvSpPr>
            <p:cNvPr id="9" name="圆角矩形 17"/>
            <p:cNvSpPr/>
            <p:nvPr>
              <p:custDataLst>
                <p:tags r:id="rId3"/>
              </p:custDataLst>
            </p:nvPr>
          </p:nvSpPr>
          <p:spPr>
            <a:xfrm>
              <a:off x="4970" y="2890"/>
              <a:ext cx="2710" cy="1026"/>
            </a:xfrm>
            <a:prstGeom prst="roundRect">
              <a:avLst/>
            </a:prstGeom>
            <a:solidFill>
              <a:srgbClr val="3CBEB4"/>
            </a:solidFill>
            <a:ln w="3175" cap="flat" cmpd="sng" algn="ctr">
              <a:solidFill>
                <a:srgbClr val="2F968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向量化模型</a:t>
              </a:r>
            </a:p>
          </p:txBody>
        </p:sp>
        <p:sp>
          <p:nvSpPr>
            <p:cNvPr id="10" name="流程图: 磁盘 9"/>
            <p:cNvSpPr/>
            <p:nvPr>
              <p:custDataLst>
                <p:tags r:id="rId4"/>
              </p:custDataLst>
            </p:nvPr>
          </p:nvSpPr>
          <p:spPr>
            <a:xfrm>
              <a:off x="10818" y="5603"/>
              <a:ext cx="1806" cy="1618"/>
            </a:xfrm>
            <a:prstGeom prst="flowChartMagneticDisk">
              <a:avLst/>
            </a:prstGeom>
            <a:solidFill>
              <a:srgbClr val="E89562"/>
            </a:solidFill>
            <a:ln w="12700" cap="flat" cmpd="sng" algn="ctr">
              <a:solidFill>
                <a:srgbClr val="D68B58"/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tIns="10795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向量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数据库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968" y="5891"/>
              <a:ext cx="701" cy="1131"/>
              <a:chOff x="11007" y="5908"/>
              <a:chExt cx="841" cy="1358"/>
            </a:xfrm>
            <a:solidFill>
              <a:srgbClr val="3366CC">
                <a:lumMod val="50000"/>
              </a:srgbClr>
            </a:solidFill>
          </p:grpSpPr>
          <p:sp>
            <p:nvSpPr>
              <p:cNvPr id="45" name="椭圆 44"/>
              <p:cNvSpPr/>
              <p:nvPr>
                <p:custDataLst>
                  <p:tags r:id="rId38"/>
                </p:custDataLst>
              </p:nvPr>
            </p:nvSpPr>
            <p:spPr>
              <a:xfrm>
                <a:off x="11151" y="5908"/>
                <a:ext cx="516" cy="49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弦形 45"/>
              <p:cNvSpPr/>
              <p:nvPr>
                <p:custDataLst>
                  <p:tags r:id="rId39"/>
                </p:custDataLst>
              </p:nvPr>
            </p:nvSpPr>
            <p:spPr>
              <a:xfrm rot="6720000">
                <a:off x="10999" y="6417"/>
                <a:ext cx="857" cy="841"/>
              </a:xfrm>
              <a:prstGeom prst="chord">
                <a:avLst>
                  <a:gd name="adj1" fmla="val 3713833"/>
                  <a:gd name="adj2" fmla="val 15170916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2" name="弧形 11"/>
            <p:cNvSpPr/>
            <p:nvPr>
              <p:custDataLst>
                <p:tags r:id="rId5"/>
              </p:custDataLst>
            </p:nvPr>
          </p:nvSpPr>
          <p:spPr>
            <a:xfrm>
              <a:off x="3707" y="6060"/>
              <a:ext cx="1780" cy="202"/>
            </a:xfrm>
            <a:prstGeom prst="arc">
              <a:avLst>
                <a:gd name="adj1" fmla="val 10958157"/>
                <a:gd name="adj2" fmla="val 0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弧形 12"/>
            <p:cNvSpPr/>
            <p:nvPr>
              <p:custDataLst>
                <p:tags r:id="rId6"/>
              </p:custDataLst>
            </p:nvPr>
          </p:nvSpPr>
          <p:spPr>
            <a:xfrm rot="10800000">
              <a:off x="3776" y="6345"/>
              <a:ext cx="1705" cy="245"/>
            </a:xfrm>
            <a:prstGeom prst="arc">
              <a:avLst>
                <a:gd name="adj1" fmla="val 10995433"/>
                <a:gd name="adj2" fmla="val 0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3692" y="5487"/>
              <a:ext cx="165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用户咨询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8"/>
              </p:custDataLst>
            </p:nvPr>
          </p:nvSpPr>
          <p:spPr>
            <a:xfrm>
              <a:off x="3742" y="6664"/>
              <a:ext cx="16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8.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返回答案</a:t>
              </a:r>
            </a:p>
          </p:txBody>
        </p:sp>
        <p:sp>
          <p:nvSpPr>
            <p:cNvPr id="16" name="弧形 15"/>
            <p:cNvSpPr/>
            <p:nvPr>
              <p:custDataLst>
                <p:tags r:id="rId9"/>
              </p:custDataLst>
            </p:nvPr>
          </p:nvSpPr>
          <p:spPr>
            <a:xfrm rot="16200000">
              <a:off x="6219" y="7722"/>
              <a:ext cx="1422" cy="227"/>
            </a:xfrm>
            <a:prstGeom prst="arc">
              <a:avLst>
                <a:gd name="adj1" fmla="val 10783148"/>
                <a:gd name="adj2" fmla="val 0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弧形 16"/>
            <p:cNvSpPr/>
            <p:nvPr>
              <p:custDataLst>
                <p:tags r:id="rId10"/>
              </p:custDataLst>
            </p:nvPr>
          </p:nvSpPr>
          <p:spPr>
            <a:xfrm rot="5400000">
              <a:off x="6601" y="7692"/>
              <a:ext cx="1394" cy="264"/>
            </a:xfrm>
            <a:prstGeom prst="arc">
              <a:avLst>
                <a:gd name="adj1" fmla="val 11020994"/>
                <a:gd name="adj2" fmla="val 22380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弧形 17"/>
            <p:cNvSpPr/>
            <p:nvPr>
              <p:custDataLst>
                <p:tags r:id="rId11"/>
              </p:custDataLst>
            </p:nvPr>
          </p:nvSpPr>
          <p:spPr>
            <a:xfrm rot="15180000">
              <a:off x="5709" y="4728"/>
              <a:ext cx="1626" cy="195"/>
            </a:xfrm>
            <a:prstGeom prst="arc">
              <a:avLst>
                <a:gd name="adj1" fmla="val 10909733"/>
                <a:gd name="adj2" fmla="val 21597474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弧形 18"/>
            <p:cNvSpPr/>
            <p:nvPr>
              <p:custDataLst>
                <p:tags r:id="rId12"/>
              </p:custDataLst>
            </p:nvPr>
          </p:nvSpPr>
          <p:spPr>
            <a:xfrm rot="4560000">
              <a:off x="5949" y="4588"/>
              <a:ext cx="1691" cy="358"/>
            </a:xfrm>
            <a:prstGeom prst="arc">
              <a:avLst>
                <a:gd name="adj1" fmla="val 11066873"/>
                <a:gd name="adj2" fmla="val 21314352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3"/>
              </p:custDataLst>
            </p:nvPr>
          </p:nvSpPr>
          <p:spPr>
            <a:xfrm>
              <a:off x="4969" y="7575"/>
              <a:ext cx="214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7.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生成答案</a:t>
              </a:r>
            </a:p>
          </p:txBody>
        </p:sp>
        <p:sp>
          <p:nvSpPr>
            <p:cNvPr id="21" name="文本框 20"/>
            <p:cNvSpPr txBox="1"/>
            <p:nvPr>
              <p:custDataLst>
                <p:tags r:id="rId14"/>
              </p:custDataLst>
            </p:nvPr>
          </p:nvSpPr>
          <p:spPr>
            <a:xfrm>
              <a:off x="7439" y="7537"/>
              <a:ext cx="233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6.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拼接提示词</a:t>
              </a:r>
            </a:p>
          </p:txBody>
        </p:sp>
        <p:sp>
          <p:nvSpPr>
            <p:cNvPr id="22" name="文本框 21"/>
            <p:cNvSpPr txBox="1"/>
            <p:nvPr>
              <p:custDataLst>
                <p:tags r:id="rId15"/>
              </p:custDataLst>
            </p:nvPr>
          </p:nvSpPr>
          <p:spPr>
            <a:xfrm>
              <a:off x="4574" y="4527"/>
              <a:ext cx="214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发送查询</a:t>
              </a:r>
            </a:p>
          </p:txBody>
        </p:sp>
        <p:sp>
          <p:nvSpPr>
            <p:cNvPr id="23" name="文本框 22"/>
            <p:cNvSpPr txBox="1"/>
            <p:nvPr>
              <p:custDataLst>
                <p:tags r:id="rId16"/>
              </p:custDataLst>
            </p:nvPr>
          </p:nvSpPr>
          <p:spPr>
            <a:xfrm>
              <a:off x="7085" y="4553"/>
              <a:ext cx="276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返回查询向量</a:t>
              </a:r>
            </a:p>
          </p:txBody>
        </p:sp>
        <p:sp>
          <p:nvSpPr>
            <p:cNvPr id="24" name="弧形 23"/>
            <p:cNvSpPr/>
            <p:nvPr>
              <p:custDataLst>
                <p:tags r:id="rId17"/>
              </p:custDataLst>
            </p:nvPr>
          </p:nvSpPr>
          <p:spPr>
            <a:xfrm>
              <a:off x="8906" y="6144"/>
              <a:ext cx="1546" cy="273"/>
            </a:xfrm>
            <a:prstGeom prst="arc">
              <a:avLst>
                <a:gd name="adj1" fmla="val 10957251"/>
                <a:gd name="adj2" fmla="val 0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弧形 24"/>
            <p:cNvSpPr/>
            <p:nvPr>
              <p:custDataLst>
                <p:tags r:id="rId18"/>
              </p:custDataLst>
            </p:nvPr>
          </p:nvSpPr>
          <p:spPr>
            <a:xfrm rot="10800000">
              <a:off x="8882" y="6275"/>
              <a:ext cx="1617" cy="420"/>
            </a:xfrm>
            <a:prstGeom prst="arc">
              <a:avLst>
                <a:gd name="adj1" fmla="val 11024689"/>
                <a:gd name="adj2" fmla="val 0"/>
              </a:avLst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9"/>
              </p:custDataLst>
            </p:nvPr>
          </p:nvSpPr>
          <p:spPr>
            <a:xfrm>
              <a:off x="8583" y="5637"/>
              <a:ext cx="235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发送查询向量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0"/>
              </p:custDataLst>
            </p:nvPr>
          </p:nvSpPr>
          <p:spPr>
            <a:xfrm>
              <a:off x="8566" y="6753"/>
              <a:ext cx="240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5.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返回参考信息</a:t>
              </a:r>
            </a:p>
          </p:txBody>
        </p:sp>
        <p:cxnSp>
          <p:nvCxnSpPr>
            <p:cNvPr id="28" name="直接箭头连接符 27"/>
            <p:cNvCxnSpPr>
              <a:endCxn id="10" idx="4"/>
            </p:cNvCxnSpPr>
            <p:nvPr>
              <p:custDataLst>
                <p:tags r:id="rId21"/>
              </p:custDataLst>
            </p:nvPr>
          </p:nvCxnSpPr>
          <p:spPr>
            <a:xfrm flipH="1">
              <a:off x="12624" y="6412"/>
              <a:ext cx="1477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F0F0F0">
                  <a:lumMod val="25000"/>
                </a:srgbClr>
              </a:solidFill>
              <a:prstDash val="solid"/>
              <a:miter lim="800000"/>
              <a:tailEnd type="triangle" w="lg" len="med"/>
            </a:ln>
            <a:effectLst/>
          </p:spPr>
        </p:cxnSp>
        <p:sp>
          <p:nvSpPr>
            <p:cNvPr id="29" name="文本框 28"/>
            <p:cNvSpPr txBox="1"/>
            <p:nvPr>
              <p:custDataLst>
                <p:tags r:id="rId22"/>
              </p:custDataLst>
            </p:nvPr>
          </p:nvSpPr>
          <p:spPr>
            <a:xfrm>
              <a:off x="12868" y="5884"/>
              <a:ext cx="129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向量化</a:t>
              </a:r>
            </a:p>
          </p:txBody>
        </p:sp>
        <p:sp>
          <p:nvSpPr>
            <p:cNvPr id="30" name="圆柱形 66"/>
            <p:cNvSpPr/>
            <p:nvPr>
              <p:custDataLst>
                <p:tags r:id="rId23"/>
              </p:custDataLst>
            </p:nvPr>
          </p:nvSpPr>
          <p:spPr>
            <a:xfrm rot="5400000">
              <a:off x="14535" y="5454"/>
              <a:ext cx="1178" cy="2052"/>
            </a:xfrm>
            <a:prstGeom prst="can">
              <a:avLst/>
            </a:prstGeom>
            <a:solidFill>
              <a:srgbClr val="FFB745"/>
            </a:solidFill>
            <a:ln w="3175" cap="flat" cmpd="sng" algn="ctr">
              <a:solidFill>
                <a:srgbClr val="D68B58"/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lIns="0" tIns="10795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24"/>
              </p:custDataLst>
            </p:nvPr>
          </p:nvSpPr>
          <p:spPr>
            <a:xfrm>
              <a:off x="14043" y="6213"/>
              <a:ext cx="208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段落数据集</a:t>
              </a:r>
            </a:p>
          </p:txBody>
        </p:sp>
        <p:sp>
          <p:nvSpPr>
            <p:cNvPr id="32" name="流程图: 磁盘 31"/>
            <p:cNvSpPr/>
            <p:nvPr>
              <p:custDataLst>
                <p:tags r:id="rId25"/>
              </p:custDataLst>
            </p:nvPr>
          </p:nvSpPr>
          <p:spPr>
            <a:xfrm>
              <a:off x="14213" y="3507"/>
              <a:ext cx="1779" cy="1209"/>
            </a:xfrm>
            <a:prstGeom prst="flowChartMagneticDisk">
              <a:avLst/>
            </a:prstGeom>
            <a:solidFill>
              <a:srgbClr val="000000">
                <a:lumMod val="50000"/>
                <a:lumOff val="50000"/>
              </a:srgbClr>
            </a:solidFill>
            <a:ln w="1270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lIns="91440" tIns="144145" rIns="9144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原智能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知识库</a:t>
              </a:r>
            </a:p>
          </p:txBody>
        </p:sp>
        <p:sp>
          <p:nvSpPr>
            <p:cNvPr id="33" name="矩形 32"/>
            <p:cNvSpPr/>
            <p:nvPr>
              <p:custDataLst>
                <p:tags r:id="rId26"/>
              </p:custDataLst>
            </p:nvPr>
          </p:nvSpPr>
          <p:spPr>
            <a:xfrm>
              <a:off x="13387" y="7247"/>
              <a:ext cx="1657" cy="911"/>
            </a:xfrm>
            <a:prstGeom prst="rect">
              <a:avLst/>
            </a:prstGeom>
            <a:noFill/>
            <a:ln w="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拆分段落</a:t>
              </a:r>
            </a:p>
          </p:txBody>
        </p:sp>
        <p:sp>
          <p:nvSpPr>
            <p:cNvPr id="34" name="矩形 33"/>
            <p:cNvSpPr/>
            <p:nvPr>
              <p:custDataLst>
                <p:tags r:id="rId27"/>
              </p:custDataLst>
            </p:nvPr>
          </p:nvSpPr>
          <p:spPr>
            <a:xfrm>
              <a:off x="13326" y="4809"/>
              <a:ext cx="1815" cy="911"/>
            </a:xfrm>
            <a:prstGeom prst="rect">
              <a:avLst/>
            </a:prstGeom>
            <a:noFill/>
            <a:ln w="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问答对合并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为段落</a:t>
              </a:r>
            </a:p>
          </p:txBody>
        </p:sp>
        <p:sp>
          <p:nvSpPr>
            <p:cNvPr id="35" name="流程图: 多文档 34"/>
            <p:cNvSpPr/>
            <p:nvPr>
              <p:custDataLst>
                <p:tags r:id="rId28"/>
              </p:custDataLst>
            </p:nvPr>
          </p:nvSpPr>
          <p:spPr>
            <a:xfrm>
              <a:off x="13738" y="8255"/>
              <a:ext cx="2236" cy="1273"/>
            </a:xfrm>
            <a:prstGeom prst="flowChartMultidocument">
              <a:avLst/>
            </a:prstGeom>
            <a:solidFill>
              <a:srgbClr val="000000">
                <a:lumMod val="50000"/>
                <a:lumOff val="50000"/>
              </a:srgbClr>
            </a:solidFill>
            <a:ln w="1270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lIns="91440" rIns="9144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政策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文件</a:t>
              </a:r>
              <a:r>
                <a:rPr lang="en-US" altLang="zh-CN" sz="1400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400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政务业务知识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cxnSp>
          <p:nvCxnSpPr>
            <p:cNvPr id="36" name="直接箭头连接符 35"/>
            <p:cNvCxnSpPr>
              <a:stCxn id="32" idx="3"/>
              <a:endCxn id="30" idx="2"/>
            </p:cNvCxnSpPr>
            <p:nvPr>
              <p:custDataLst>
                <p:tags r:id="rId29"/>
              </p:custDataLst>
            </p:nvPr>
          </p:nvCxnSpPr>
          <p:spPr>
            <a:xfrm>
              <a:off x="15103" y="4715"/>
              <a:ext cx="21" cy="1176"/>
            </a:xfrm>
            <a:prstGeom prst="straightConnector1">
              <a:avLst/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7" name="直接箭头连接符 36"/>
            <p:cNvCxnSpPr>
              <a:stCxn id="35" idx="0"/>
            </p:cNvCxnSpPr>
            <p:nvPr>
              <p:custDataLst>
                <p:tags r:id="rId30"/>
              </p:custDataLst>
            </p:nvPr>
          </p:nvCxnSpPr>
          <p:spPr>
            <a:xfrm flipH="1" flipV="1">
              <a:off x="14991" y="7138"/>
              <a:ext cx="19" cy="1117"/>
            </a:xfrm>
            <a:prstGeom prst="straightConnector1">
              <a:avLst/>
            </a:prstGeom>
            <a:noFill/>
            <a:ln w="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  <a:tailEnd type="triangle" w="lg" len="med"/>
            </a:ln>
            <a:effectLst/>
          </p:spPr>
        </p:cxnSp>
        <p:sp>
          <p:nvSpPr>
            <p:cNvPr id="38" name="圆角矩形 74"/>
            <p:cNvSpPr/>
            <p:nvPr>
              <p:custDataLst>
                <p:tags r:id="rId31"/>
              </p:custDataLst>
            </p:nvPr>
          </p:nvSpPr>
          <p:spPr>
            <a:xfrm>
              <a:off x="2294" y="8865"/>
              <a:ext cx="3051" cy="682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措施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：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限制只根据参考信息回答</a:t>
              </a:r>
            </a:p>
          </p:txBody>
        </p:sp>
        <p:cxnSp>
          <p:nvCxnSpPr>
            <p:cNvPr id="39" name="肘形连接符 78"/>
            <p:cNvCxnSpPr>
              <a:stCxn id="38" idx="0"/>
              <a:endCxn id="20" idx="1"/>
            </p:cNvCxnSpPr>
            <p:nvPr>
              <p:custDataLst>
                <p:tags r:id="rId32"/>
              </p:custDataLst>
            </p:nvPr>
          </p:nvCxnSpPr>
          <p:spPr>
            <a:xfrm rot="16200000">
              <a:off x="3871" y="7767"/>
              <a:ext cx="1048" cy="1149"/>
            </a:xfrm>
            <a:prstGeom prst="bentConnector2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40" name="圆角矩形 79"/>
            <p:cNvSpPr/>
            <p:nvPr>
              <p:custDataLst>
                <p:tags r:id="rId33"/>
              </p:custDataLst>
            </p:nvPr>
          </p:nvSpPr>
          <p:spPr>
            <a:xfrm>
              <a:off x="13599" y="2208"/>
              <a:ext cx="3051" cy="682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措施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：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提供、整理高质量问答对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1" name="直接箭头连接符 40"/>
            <p:cNvCxnSpPr>
              <a:stCxn id="40" idx="2"/>
              <a:endCxn id="32" idx="0"/>
            </p:cNvCxnSpPr>
            <p:nvPr>
              <p:custDataLst>
                <p:tags r:id="rId34"/>
              </p:custDataLst>
            </p:nvPr>
          </p:nvCxnSpPr>
          <p:spPr>
            <a:xfrm flipH="1">
              <a:off x="15103" y="2890"/>
              <a:ext cx="22" cy="1020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42" name="圆角矩形 81"/>
            <p:cNvSpPr/>
            <p:nvPr>
              <p:custDataLst>
                <p:tags r:id="rId35"/>
              </p:custDataLst>
            </p:nvPr>
          </p:nvSpPr>
          <p:spPr>
            <a:xfrm>
              <a:off x="10191" y="3770"/>
              <a:ext cx="3051" cy="1038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措施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：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通过调试工具传入适合大语言模型理解的问答对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3" name="曲线连接符 85"/>
            <p:cNvCxnSpPr>
              <a:endCxn id="42" idx="1"/>
            </p:cNvCxnSpPr>
            <p:nvPr>
              <p:custDataLst>
                <p:tags r:id="rId36"/>
              </p:custDataLst>
            </p:nvPr>
          </p:nvCxnSpPr>
          <p:spPr>
            <a:xfrm flipV="1">
              <a:off x="8111" y="4289"/>
              <a:ext cx="2080" cy="1393"/>
            </a:xfrm>
            <a:prstGeom prst="curvedConnector3">
              <a:avLst>
                <a:gd name="adj1" fmla="val 61009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44" name="直接箭头连接符 43"/>
            <p:cNvCxnSpPr>
              <a:stCxn id="42" idx="2"/>
              <a:endCxn id="10" idx="0"/>
            </p:cNvCxnSpPr>
            <p:nvPr>
              <p:custDataLst>
                <p:tags r:id="rId37"/>
              </p:custDataLst>
            </p:nvPr>
          </p:nvCxnSpPr>
          <p:spPr>
            <a:xfrm>
              <a:off x="11717" y="4808"/>
              <a:ext cx="4" cy="1334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</p:grpSp>
      <p:sp>
        <p:nvSpPr>
          <p:cNvPr id="47" name="文本框 46"/>
          <p:cNvSpPr txBox="1"/>
          <p:nvPr/>
        </p:nvSpPr>
        <p:spPr>
          <a:xfrm>
            <a:off x="562225" y="359383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8" name="标题 1"/>
          <p:cNvSpPr txBox="1"/>
          <p:nvPr/>
        </p:nvSpPr>
        <p:spPr>
          <a:xfrm>
            <a:off x="1381729" y="359383"/>
            <a:ext cx="5294403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大模型流程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/>
        </p:nvSpPr>
        <p:spPr>
          <a:xfrm>
            <a:off x="104089" y="4843660"/>
            <a:ext cx="7912192" cy="1387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智能知识库收录了全国通用问答知识以及各地区本地化问答知识，内容涵盖政务公开制度、政务服务规范、民生保障政策、市场监管法规、行政执法程序等。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同时，还包括了近几年政府部门出台的“一带一路”相关政策、房契税、数电发票等具体领域知识，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基本覆盖了绝大多数常见问题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5916" y="1348620"/>
            <a:ext cx="7886700" cy="3031490"/>
            <a:chOff x="63300" y="3156785"/>
            <a:chExt cx="7886700" cy="3031490"/>
          </a:xfrm>
        </p:grpSpPr>
        <p:grpSp>
          <p:nvGrpSpPr>
            <p:cNvPr id="11" name="Group 25"/>
            <p:cNvGrpSpPr/>
            <p:nvPr/>
          </p:nvGrpSpPr>
          <p:grpSpPr>
            <a:xfrm flipH="1">
              <a:off x="2037515" y="3500320"/>
              <a:ext cx="971550" cy="1779905"/>
              <a:chOff x="5181600" y="2106930"/>
              <a:chExt cx="772922" cy="1684020"/>
            </a:xfrm>
            <a:solidFill>
              <a:srgbClr val="000000">
                <a:lumMod val="50000"/>
                <a:lumOff val="50000"/>
              </a:srgbClr>
            </a:solidFill>
          </p:grpSpPr>
          <p:sp>
            <p:nvSpPr>
              <p:cNvPr id="12" name="Rectangle 26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5181600" y="2915602"/>
                <a:ext cx="365760" cy="66675"/>
              </a:xfrm>
              <a:prstGeom prst="rect">
                <a:avLst/>
              </a:prstGeom>
              <a:grpFill/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01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Arrow: U-Turn 27"/>
              <p:cNvSpPr/>
              <p:nvPr>
                <p:custDataLst>
                  <p:tags r:id="rId27"/>
                </p:custDataLst>
              </p:nvPr>
            </p:nvSpPr>
            <p:spPr bwMode="auto">
              <a:xfrm rot="16200000">
                <a:off x="4893056" y="2729484"/>
                <a:ext cx="1684020" cy="438912"/>
              </a:xfrm>
              <a:prstGeom prst="uturnArrow">
                <a:avLst>
                  <a:gd name="adj1" fmla="val 11666"/>
                  <a:gd name="adj2" fmla="val 25000"/>
                  <a:gd name="adj3" fmla="val 0"/>
                  <a:gd name="adj4" fmla="val 85000"/>
                  <a:gd name="adj5" fmla="val 100000"/>
                </a:avLst>
              </a:prstGeom>
              <a:grpFill/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01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30"/>
            <p:cNvGrpSpPr/>
            <p:nvPr/>
          </p:nvGrpSpPr>
          <p:grpSpPr>
            <a:xfrm>
              <a:off x="4303195" y="3500320"/>
              <a:ext cx="965835" cy="1779905"/>
              <a:chOff x="5181600" y="2106930"/>
              <a:chExt cx="791210" cy="1684020"/>
            </a:xfrm>
            <a:solidFill>
              <a:srgbClr val="000000">
                <a:lumMod val="50000"/>
                <a:lumOff val="50000"/>
              </a:srgbClr>
            </a:solidFill>
          </p:grpSpPr>
          <p:sp>
            <p:nvSpPr>
              <p:cNvPr id="15" name="Rectangle 31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5181600" y="2915602"/>
                <a:ext cx="365760" cy="66675"/>
              </a:xfrm>
              <a:prstGeom prst="rect">
                <a:avLst/>
              </a:prstGeom>
              <a:grpFill/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01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Arrow: U-Turn 32"/>
              <p:cNvSpPr/>
              <p:nvPr>
                <p:custDataLst>
                  <p:tags r:id="rId25"/>
                </p:custDataLst>
              </p:nvPr>
            </p:nvSpPr>
            <p:spPr bwMode="auto">
              <a:xfrm rot="16200000">
                <a:off x="4902200" y="2720340"/>
                <a:ext cx="1684020" cy="457200"/>
              </a:xfrm>
              <a:prstGeom prst="uturnArrow">
                <a:avLst>
                  <a:gd name="adj1" fmla="val 11666"/>
                  <a:gd name="adj2" fmla="val 25000"/>
                  <a:gd name="adj3" fmla="val 0"/>
                  <a:gd name="adj4" fmla="val 84991"/>
                  <a:gd name="adj5" fmla="val 98179"/>
                </a:avLst>
              </a:prstGeom>
              <a:grpFill/>
              <a:ln w="19050">
                <a:noFill/>
                <a:rou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01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" name="Oval 39"/>
            <p:cNvSpPr/>
            <p:nvPr>
              <p:custDataLst>
                <p:tags r:id="rId1"/>
              </p:custDataLst>
            </p:nvPr>
          </p:nvSpPr>
          <p:spPr bwMode="auto">
            <a:xfrm>
              <a:off x="3137335" y="3827980"/>
              <a:ext cx="1022985" cy="1022985"/>
            </a:xfrm>
            <a:prstGeom prst="ellipse">
              <a:avLst/>
            </a:prstGeom>
            <a:solidFill>
              <a:srgbClr val="FFFFFF"/>
            </a:solidFill>
            <a:ln w="1905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1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流程图: 磁盘 17"/>
            <p:cNvSpPr/>
            <p:nvPr>
              <p:custDataLst>
                <p:tags r:id="rId2"/>
              </p:custDataLst>
            </p:nvPr>
          </p:nvSpPr>
          <p:spPr>
            <a:xfrm>
              <a:off x="3082090" y="3756860"/>
              <a:ext cx="1119505" cy="1310005"/>
            </a:xfrm>
            <a:prstGeom prst="flowChartMagneticDisk">
              <a:avLst/>
            </a:prstGeom>
            <a:solidFill>
              <a:srgbClr val="35618B"/>
            </a:solidFill>
            <a:ln w="12700" cap="flat" cmpd="sng" algn="ctr">
              <a:solidFill>
                <a:srgbClr val="20537E"/>
              </a:solidFill>
              <a:prstDash val="solid"/>
              <a:miter lim="800000"/>
            </a:ln>
            <a:effectLst/>
          </p:spPr>
          <p:txBody>
            <a:bodyPr vertOverflow="overflow" horzOverflow="overflow" vert="horz" wrap="square" tIns="10795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知识库</a:t>
              </a:r>
            </a:p>
          </p:txBody>
        </p:sp>
        <p:sp>
          <p:nvSpPr>
            <p:cNvPr id="19" name="圆角矩形 47"/>
            <p:cNvSpPr/>
            <p:nvPr>
              <p:custDataLst>
                <p:tags r:id="rId3"/>
              </p:custDataLst>
            </p:nvPr>
          </p:nvSpPr>
          <p:spPr>
            <a:xfrm>
              <a:off x="1082475" y="3156785"/>
              <a:ext cx="792000" cy="792000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圆角矩形 48"/>
            <p:cNvSpPr/>
            <p:nvPr>
              <p:custDataLst>
                <p:tags r:id="rId4"/>
              </p:custDataLst>
            </p:nvPr>
          </p:nvSpPr>
          <p:spPr>
            <a:xfrm>
              <a:off x="1082475" y="4830645"/>
              <a:ext cx="792000" cy="792000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Freeform 15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285675" y="5069405"/>
              <a:ext cx="369570" cy="367665"/>
            </a:xfrm>
            <a:custGeom>
              <a:avLst/>
              <a:gdLst>
                <a:gd name="T0" fmla="*/ 71 w 83"/>
                <a:gd name="T1" fmla="*/ 12 h 83"/>
                <a:gd name="T2" fmla="*/ 83 w 83"/>
                <a:gd name="T3" fmla="*/ 41 h 83"/>
                <a:gd name="T4" fmla="*/ 76 w 83"/>
                <a:gd name="T5" fmla="*/ 65 h 83"/>
                <a:gd name="T6" fmla="*/ 73 w 83"/>
                <a:gd name="T7" fmla="*/ 83 h 83"/>
                <a:gd name="T8" fmla="*/ 42 w 83"/>
                <a:gd name="T9" fmla="*/ 83 h 83"/>
                <a:gd name="T10" fmla="*/ 12 w 83"/>
                <a:gd name="T11" fmla="*/ 71 h 83"/>
                <a:gd name="T12" fmla="*/ 12 w 83"/>
                <a:gd name="T13" fmla="*/ 12 h 83"/>
                <a:gd name="T14" fmla="*/ 42 w 83"/>
                <a:gd name="T15" fmla="*/ 0 h 83"/>
                <a:gd name="T16" fmla="*/ 23 w 83"/>
                <a:gd name="T17" fmla="*/ 34 h 83"/>
                <a:gd name="T18" fmla="*/ 30 w 83"/>
                <a:gd name="T19" fmla="*/ 41 h 83"/>
                <a:gd name="T20" fmla="*/ 28 w 83"/>
                <a:gd name="T21" fmla="*/ 47 h 83"/>
                <a:gd name="T22" fmla="*/ 18 w 83"/>
                <a:gd name="T23" fmla="*/ 47 h 83"/>
                <a:gd name="T24" fmla="*/ 18 w 83"/>
                <a:gd name="T25" fmla="*/ 36 h 83"/>
                <a:gd name="T26" fmla="*/ 23 w 83"/>
                <a:gd name="T27" fmla="*/ 34 h 83"/>
                <a:gd name="T28" fmla="*/ 26 w 83"/>
                <a:gd name="T29" fmla="*/ 39 h 83"/>
                <a:gd name="T30" fmla="*/ 21 w 83"/>
                <a:gd name="T31" fmla="*/ 39 h 83"/>
                <a:gd name="T32" fmla="*/ 21 w 83"/>
                <a:gd name="T33" fmla="*/ 44 h 83"/>
                <a:gd name="T34" fmla="*/ 26 w 83"/>
                <a:gd name="T35" fmla="*/ 44 h 83"/>
                <a:gd name="T36" fmla="*/ 26 w 83"/>
                <a:gd name="T37" fmla="*/ 39 h 83"/>
                <a:gd name="T38" fmla="*/ 42 w 83"/>
                <a:gd name="T39" fmla="*/ 34 h 83"/>
                <a:gd name="T40" fmla="*/ 49 w 83"/>
                <a:gd name="T41" fmla="*/ 41 h 83"/>
                <a:gd name="T42" fmla="*/ 47 w 83"/>
                <a:gd name="T43" fmla="*/ 47 h 83"/>
                <a:gd name="T44" fmla="*/ 36 w 83"/>
                <a:gd name="T45" fmla="*/ 47 h 83"/>
                <a:gd name="T46" fmla="*/ 36 w 83"/>
                <a:gd name="T47" fmla="*/ 36 h 83"/>
                <a:gd name="T48" fmla="*/ 42 w 83"/>
                <a:gd name="T49" fmla="*/ 34 h 83"/>
                <a:gd name="T50" fmla="*/ 44 w 83"/>
                <a:gd name="T51" fmla="*/ 39 h 83"/>
                <a:gd name="T52" fmla="*/ 39 w 83"/>
                <a:gd name="T53" fmla="*/ 39 h 83"/>
                <a:gd name="T54" fmla="*/ 39 w 83"/>
                <a:gd name="T55" fmla="*/ 44 h 83"/>
                <a:gd name="T56" fmla="*/ 44 w 83"/>
                <a:gd name="T57" fmla="*/ 44 h 83"/>
                <a:gd name="T58" fmla="*/ 44 w 83"/>
                <a:gd name="T59" fmla="*/ 39 h 83"/>
                <a:gd name="T60" fmla="*/ 60 w 83"/>
                <a:gd name="T61" fmla="*/ 34 h 83"/>
                <a:gd name="T62" fmla="*/ 68 w 83"/>
                <a:gd name="T63" fmla="*/ 41 h 83"/>
                <a:gd name="T64" fmla="*/ 65 w 83"/>
                <a:gd name="T65" fmla="*/ 47 h 83"/>
                <a:gd name="T66" fmla="*/ 55 w 83"/>
                <a:gd name="T67" fmla="*/ 47 h 83"/>
                <a:gd name="T68" fmla="*/ 55 w 83"/>
                <a:gd name="T69" fmla="*/ 36 h 83"/>
                <a:gd name="T70" fmla="*/ 60 w 83"/>
                <a:gd name="T71" fmla="*/ 34 h 83"/>
                <a:gd name="T72" fmla="*/ 63 w 83"/>
                <a:gd name="T73" fmla="*/ 39 h 83"/>
                <a:gd name="T74" fmla="*/ 58 w 83"/>
                <a:gd name="T75" fmla="*/ 39 h 83"/>
                <a:gd name="T76" fmla="*/ 58 w 83"/>
                <a:gd name="T77" fmla="*/ 44 h 83"/>
                <a:gd name="T78" fmla="*/ 63 w 83"/>
                <a:gd name="T79" fmla="*/ 44 h 83"/>
                <a:gd name="T80" fmla="*/ 63 w 83"/>
                <a:gd name="T81" fmla="*/ 39 h 83"/>
                <a:gd name="T82" fmla="*/ 67 w 83"/>
                <a:gd name="T83" fmla="*/ 16 h 83"/>
                <a:gd name="T84" fmla="*/ 17 w 83"/>
                <a:gd name="T85" fmla="*/ 16 h 83"/>
                <a:gd name="T86" fmla="*/ 6 w 83"/>
                <a:gd name="T87" fmla="*/ 41 h 83"/>
                <a:gd name="T88" fmla="*/ 17 w 83"/>
                <a:gd name="T89" fmla="*/ 66 h 83"/>
                <a:gd name="T90" fmla="*/ 70 w 83"/>
                <a:gd name="T91" fmla="*/ 77 h 83"/>
                <a:gd name="T92" fmla="*/ 70 w 83"/>
                <a:gd name="T93" fmla="*/ 62 h 83"/>
                <a:gd name="T94" fmla="*/ 77 w 83"/>
                <a:gd name="T95" fmla="*/ 41 h 83"/>
                <a:gd name="T96" fmla="*/ 67 w 83"/>
                <a:gd name="T97" fmla="*/ 1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3" h="83">
                  <a:moveTo>
                    <a:pt x="42" y="0"/>
                  </a:moveTo>
                  <a:cubicBezTo>
                    <a:pt x="53" y="0"/>
                    <a:pt x="64" y="4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9" y="20"/>
                    <a:pt x="83" y="30"/>
                    <a:pt x="83" y="41"/>
                  </a:cubicBezTo>
                  <a:cubicBezTo>
                    <a:pt x="83" y="46"/>
                    <a:pt x="83" y="50"/>
                    <a:pt x="81" y="54"/>
                  </a:cubicBezTo>
                  <a:cubicBezTo>
                    <a:pt x="80" y="58"/>
                    <a:pt x="78" y="62"/>
                    <a:pt x="76" y="65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6" y="82"/>
                    <a:pt x="75" y="83"/>
                    <a:pt x="73" y="8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42" y="83"/>
                    <a:pt x="42" y="83"/>
                    <a:pt x="42" y="83"/>
                  </a:cubicBezTo>
                  <a:cubicBezTo>
                    <a:pt x="30" y="83"/>
                    <a:pt x="20" y="78"/>
                    <a:pt x="12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5" y="63"/>
                    <a:pt x="0" y="53"/>
                    <a:pt x="0" y="41"/>
                  </a:cubicBezTo>
                  <a:cubicBezTo>
                    <a:pt x="0" y="30"/>
                    <a:pt x="5" y="19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20" y="4"/>
                    <a:pt x="30" y="0"/>
                    <a:pt x="42" y="0"/>
                  </a:cubicBezTo>
                  <a:close/>
                  <a:moveTo>
                    <a:pt x="23" y="34"/>
                  </a:moveTo>
                  <a:cubicBezTo>
                    <a:pt x="23" y="34"/>
                    <a:pt x="23" y="34"/>
                    <a:pt x="23" y="34"/>
                  </a:cubicBezTo>
                  <a:cubicBezTo>
                    <a:pt x="25" y="34"/>
                    <a:pt x="27" y="35"/>
                    <a:pt x="28" y="36"/>
                  </a:cubicBezTo>
                  <a:cubicBezTo>
                    <a:pt x="30" y="38"/>
                    <a:pt x="30" y="39"/>
                    <a:pt x="30" y="41"/>
                  </a:cubicBezTo>
                  <a:cubicBezTo>
                    <a:pt x="30" y="43"/>
                    <a:pt x="30" y="45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8"/>
                    <a:pt x="25" y="49"/>
                    <a:pt x="23" y="49"/>
                  </a:cubicBezTo>
                  <a:cubicBezTo>
                    <a:pt x="21" y="49"/>
                    <a:pt x="19" y="48"/>
                    <a:pt x="18" y="47"/>
                  </a:cubicBezTo>
                  <a:cubicBezTo>
                    <a:pt x="17" y="45"/>
                    <a:pt x="16" y="43"/>
                    <a:pt x="16" y="41"/>
                  </a:cubicBezTo>
                  <a:cubicBezTo>
                    <a:pt x="16" y="39"/>
                    <a:pt x="17" y="38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21" y="34"/>
                    <a:pt x="23" y="34"/>
                  </a:cubicBezTo>
                  <a:close/>
                  <a:moveTo>
                    <a:pt x="26" y="39"/>
                  </a:moveTo>
                  <a:cubicBezTo>
                    <a:pt x="26" y="39"/>
                    <a:pt x="26" y="39"/>
                    <a:pt x="26" y="39"/>
                  </a:cubicBezTo>
                  <a:cubicBezTo>
                    <a:pt x="25" y="38"/>
                    <a:pt x="24" y="38"/>
                    <a:pt x="23" y="38"/>
                  </a:cubicBezTo>
                  <a:cubicBezTo>
                    <a:pt x="22" y="38"/>
                    <a:pt x="21" y="38"/>
                    <a:pt x="21" y="39"/>
                  </a:cubicBezTo>
                  <a:cubicBezTo>
                    <a:pt x="20" y="40"/>
                    <a:pt x="20" y="40"/>
                    <a:pt x="20" y="41"/>
                  </a:cubicBezTo>
                  <a:cubicBezTo>
                    <a:pt x="20" y="42"/>
                    <a:pt x="20" y="43"/>
                    <a:pt x="21" y="44"/>
                  </a:cubicBezTo>
                  <a:cubicBezTo>
                    <a:pt x="21" y="45"/>
                    <a:pt x="22" y="45"/>
                    <a:pt x="23" y="45"/>
                  </a:cubicBezTo>
                  <a:cubicBezTo>
                    <a:pt x="24" y="45"/>
                    <a:pt x="25" y="45"/>
                    <a:pt x="26" y="44"/>
                  </a:cubicBezTo>
                  <a:cubicBezTo>
                    <a:pt x="26" y="43"/>
                    <a:pt x="27" y="42"/>
                    <a:pt x="27" y="41"/>
                  </a:cubicBezTo>
                  <a:cubicBezTo>
                    <a:pt x="27" y="40"/>
                    <a:pt x="26" y="40"/>
                    <a:pt x="26" y="39"/>
                  </a:cubicBezTo>
                  <a:close/>
                  <a:moveTo>
                    <a:pt x="42" y="34"/>
                  </a:moveTo>
                  <a:cubicBezTo>
                    <a:pt x="42" y="34"/>
                    <a:pt x="42" y="34"/>
                    <a:pt x="42" y="34"/>
                  </a:cubicBezTo>
                  <a:cubicBezTo>
                    <a:pt x="44" y="34"/>
                    <a:pt x="46" y="35"/>
                    <a:pt x="47" y="36"/>
                  </a:cubicBezTo>
                  <a:cubicBezTo>
                    <a:pt x="48" y="38"/>
                    <a:pt x="49" y="39"/>
                    <a:pt x="49" y="41"/>
                  </a:cubicBezTo>
                  <a:cubicBezTo>
                    <a:pt x="49" y="43"/>
                    <a:pt x="48" y="45"/>
                    <a:pt x="47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6" y="48"/>
                    <a:pt x="44" y="49"/>
                    <a:pt x="42" y="49"/>
                  </a:cubicBezTo>
                  <a:cubicBezTo>
                    <a:pt x="40" y="49"/>
                    <a:pt x="38" y="48"/>
                    <a:pt x="36" y="47"/>
                  </a:cubicBezTo>
                  <a:cubicBezTo>
                    <a:pt x="35" y="45"/>
                    <a:pt x="34" y="43"/>
                    <a:pt x="34" y="41"/>
                  </a:cubicBezTo>
                  <a:cubicBezTo>
                    <a:pt x="34" y="39"/>
                    <a:pt x="35" y="38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8" y="35"/>
                    <a:pt x="40" y="34"/>
                    <a:pt x="42" y="34"/>
                  </a:cubicBezTo>
                  <a:close/>
                  <a:moveTo>
                    <a:pt x="44" y="39"/>
                  </a:moveTo>
                  <a:cubicBezTo>
                    <a:pt x="44" y="39"/>
                    <a:pt x="44" y="39"/>
                    <a:pt x="44" y="39"/>
                  </a:cubicBezTo>
                  <a:cubicBezTo>
                    <a:pt x="43" y="38"/>
                    <a:pt x="43" y="38"/>
                    <a:pt x="42" y="38"/>
                  </a:cubicBezTo>
                  <a:cubicBezTo>
                    <a:pt x="41" y="38"/>
                    <a:pt x="40" y="38"/>
                    <a:pt x="39" y="39"/>
                  </a:cubicBezTo>
                  <a:cubicBezTo>
                    <a:pt x="39" y="40"/>
                    <a:pt x="38" y="40"/>
                    <a:pt x="38" y="41"/>
                  </a:cubicBezTo>
                  <a:cubicBezTo>
                    <a:pt x="38" y="42"/>
                    <a:pt x="39" y="43"/>
                    <a:pt x="39" y="44"/>
                  </a:cubicBezTo>
                  <a:cubicBezTo>
                    <a:pt x="40" y="45"/>
                    <a:pt x="41" y="45"/>
                    <a:pt x="42" y="45"/>
                  </a:cubicBezTo>
                  <a:cubicBezTo>
                    <a:pt x="43" y="45"/>
                    <a:pt x="44" y="45"/>
                    <a:pt x="44" y="44"/>
                  </a:cubicBezTo>
                  <a:cubicBezTo>
                    <a:pt x="45" y="43"/>
                    <a:pt x="45" y="42"/>
                    <a:pt x="45" y="41"/>
                  </a:cubicBezTo>
                  <a:cubicBezTo>
                    <a:pt x="45" y="40"/>
                    <a:pt x="45" y="40"/>
                    <a:pt x="44" y="39"/>
                  </a:cubicBezTo>
                  <a:close/>
                  <a:moveTo>
                    <a:pt x="60" y="34"/>
                  </a:moveTo>
                  <a:cubicBezTo>
                    <a:pt x="60" y="34"/>
                    <a:pt x="60" y="34"/>
                    <a:pt x="60" y="34"/>
                  </a:cubicBezTo>
                  <a:cubicBezTo>
                    <a:pt x="62" y="34"/>
                    <a:pt x="64" y="35"/>
                    <a:pt x="65" y="36"/>
                  </a:cubicBezTo>
                  <a:cubicBezTo>
                    <a:pt x="67" y="38"/>
                    <a:pt x="68" y="39"/>
                    <a:pt x="68" y="41"/>
                  </a:cubicBezTo>
                  <a:cubicBezTo>
                    <a:pt x="68" y="43"/>
                    <a:pt x="67" y="45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4" y="48"/>
                    <a:pt x="62" y="49"/>
                    <a:pt x="60" y="49"/>
                  </a:cubicBezTo>
                  <a:cubicBezTo>
                    <a:pt x="58" y="49"/>
                    <a:pt x="56" y="48"/>
                    <a:pt x="55" y="47"/>
                  </a:cubicBezTo>
                  <a:cubicBezTo>
                    <a:pt x="54" y="45"/>
                    <a:pt x="53" y="43"/>
                    <a:pt x="53" y="41"/>
                  </a:cubicBezTo>
                  <a:cubicBezTo>
                    <a:pt x="53" y="39"/>
                    <a:pt x="54" y="38"/>
                    <a:pt x="55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6" y="35"/>
                    <a:pt x="58" y="34"/>
                    <a:pt x="60" y="34"/>
                  </a:cubicBezTo>
                  <a:close/>
                  <a:moveTo>
                    <a:pt x="63" y="39"/>
                  </a:moveTo>
                  <a:cubicBezTo>
                    <a:pt x="63" y="39"/>
                    <a:pt x="63" y="39"/>
                    <a:pt x="63" y="39"/>
                  </a:cubicBezTo>
                  <a:cubicBezTo>
                    <a:pt x="62" y="38"/>
                    <a:pt x="61" y="38"/>
                    <a:pt x="60" y="38"/>
                  </a:cubicBezTo>
                  <a:cubicBezTo>
                    <a:pt x="59" y="38"/>
                    <a:pt x="58" y="38"/>
                    <a:pt x="58" y="39"/>
                  </a:cubicBezTo>
                  <a:cubicBezTo>
                    <a:pt x="57" y="40"/>
                    <a:pt x="57" y="40"/>
                    <a:pt x="57" y="41"/>
                  </a:cubicBezTo>
                  <a:cubicBezTo>
                    <a:pt x="57" y="42"/>
                    <a:pt x="57" y="43"/>
                    <a:pt x="58" y="44"/>
                  </a:cubicBezTo>
                  <a:cubicBezTo>
                    <a:pt x="58" y="45"/>
                    <a:pt x="59" y="45"/>
                    <a:pt x="60" y="45"/>
                  </a:cubicBezTo>
                  <a:cubicBezTo>
                    <a:pt x="61" y="45"/>
                    <a:pt x="62" y="45"/>
                    <a:pt x="63" y="44"/>
                  </a:cubicBezTo>
                  <a:cubicBezTo>
                    <a:pt x="63" y="43"/>
                    <a:pt x="64" y="42"/>
                    <a:pt x="64" y="41"/>
                  </a:cubicBezTo>
                  <a:cubicBezTo>
                    <a:pt x="64" y="40"/>
                    <a:pt x="63" y="40"/>
                    <a:pt x="63" y="39"/>
                  </a:cubicBezTo>
                  <a:close/>
                  <a:moveTo>
                    <a:pt x="67" y="16"/>
                  </a:moveTo>
                  <a:cubicBezTo>
                    <a:pt x="67" y="16"/>
                    <a:pt x="67" y="16"/>
                    <a:pt x="67" y="16"/>
                  </a:cubicBezTo>
                  <a:cubicBezTo>
                    <a:pt x="60" y="10"/>
                    <a:pt x="51" y="6"/>
                    <a:pt x="42" y="6"/>
                  </a:cubicBezTo>
                  <a:cubicBezTo>
                    <a:pt x="32" y="6"/>
                    <a:pt x="23" y="10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0" y="23"/>
                    <a:pt x="6" y="32"/>
                    <a:pt x="6" y="41"/>
                  </a:cubicBezTo>
                  <a:cubicBezTo>
                    <a:pt x="6" y="51"/>
                    <a:pt x="10" y="60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23" y="73"/>
                    <a:pt x="32" y="77"/>
                    <a:pt x="42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3"/>
                    <a:pt x="70" y="63"/>
                    <a:pt x="70" y="62"/>
                  </a:cubicBezTo>
                  <a:cubicBezTo>
                    <a:pt x="72" y="59"/>
                    <a:pt x="74" y="56"/>
                    <a:pt x="75" y="52"/>
                  </a:cubicBezTo>
                  <a:cubicBezTo>
                    <a:pt x="76" y="49"/>
                    <a:pt x="77" y="45"/>
                    <a:pt x="77" y="41"/>
                  </a:cubicBezTo>
                  <a:cubicBezTo>
                    <a:pt x="77" y="32"/>
                    <a:pt x="73" y="23"/>
                    <a:pt x="67" y="17"/>
                  </a:cubicBezTo>
                  <a:cubicBezTo>
                    <a:pt x="67" y="16"/>
                    <a:pt x="67" y="16"/>
                    <a:pt x="67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8228" tIns="24114" rIns="48228" bIns="24114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1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6"/>
              </p:custDataLst>
            </p:nvPr>
          </p:nvSpPr>
          <p:spPr>
            <a:xfrm>
              <a:off x="835143" y="3984825"/>
              <a:ext cx="128397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业务文档</a:t>
              </a: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835143" y="5677735"/>
              <a:ext cx="128397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素材案例</a:t>
              </a:r>
            </a:p>
          </p:txBody>
        </p:sp>
        <p:sp>
          <p:nvSpPr>
            <p:cNvPr id="24" name="Freeform 128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285675" y="3386020"/>
              <a:ext cx="369570" cy="318770"/>
            </a:xfrm>
            <a:custGeom>
              <a:avLst/>
              <a:gdLst>
                <a:gd name="T0" fmla="*/ 49 w 73"/>
                <a:gd name="T1" fmla="*/ 1 h 85"/>
                <a:gd name="T2" fmla="*/ 73 w 73"/>
                <a:gd name="T3" fmla="*/ 27 h 85"/>
                <a:gd name="T4" fmla="*/ 71 w 73"/>
                <a:gd name="T5" fmla="*/ 82 h 85"/>
                <a:gd name="T6" fmla="*/ 8 w 73"/>
                <a:gd name="T7" fmla="*/ 85 h 85"/>
                <a:gd name="T8" fmla="*/ 2 w 73"/>
                <a:gd name="T9" fmla="*/ 82 h 85"/>
                <a:gd name="T10" fmla="*/ 2 w 73"/>
                <a:gd name="T11" fmla="*/ 3 h 85"/>
                <a:gd name="T12" fmla="*/ 16 w 73"/>
                <a:gd name="T13" fmla="*/ 40 h 85"/>
                <a:gd name="T14" fmla="*/ 23 w 73"/>
                <a:gd name="T15" fmla="*/ 42 h 85"/>
                <a:gd name="T16" fmla="*/ 21 w 73"/>
                <a:gd name="T17" fmla="*/ 51 h 85"/>
                <a:gd name="T18" fmla="*/ 12 w 73"/>
                <a:gd name="T19" fmla="*/ 49 h 85"/>
                <a:gd name="T20" fmla="*/ 12 w 73"/>
                <a:gd name="T21" fmla="*/ 42 h 85"/>
                <a:gd name="T22" fmla="*/ 18 w 73"/>
                <a:gd name="T23" fmla="*/ 32 h 85"/>
                <a:gd name="T24" fmla="*/ 18 w 73"/>
                <a:gd name="T25" fmla="*/ 36 h 85"/>
                <a:gd name="T26" fmla="*/ 50 w 73"/>
                <a:gd name="T27" fmla="*/ 56 h 85"/>
                <a:gd name="T28" fmla="*/ 50 w 73"/>
                <a:gd name="T29" fmla="*/ 60 h 85"/>
                <a:gd name="T30" fmla="*/ 44 w 73"/>
                <a:gd name="T31" fmla="*/ 66 h 85"/>
                <a:gd name="T32" fmla="*/ 44 w 73"/>
                <a:gd name="T33" fmla="*/ 62 h 85"/>
                <a:gd name="T34" fmla="*/ 46 w 73"/>
                <a:gd name="T35" fmla="*/ 59 h 85"/>
                <a:gd name="T36" fmla="*/ 39 w 73"/>
                <a:gd name="T37" fmla="*/ 56 h 85"/>
                <a:gd name="T38" fmla="*/ 41 w 73"/>
                <a:gd name="T39" fmla="*/ 47 h 85"/>
                <a:gd name="T40" fmla="*/ 50 w 73"/>
                <a:gd name="T41" fmla="*/ 49 h 85"/>
                <a:gd name="T42" fmla="*/ 50 w 73"/>
                <a:gd name="T43" fmla="*/ 56 h 85"/>
                <a:gd name="T44" fmla="*/ 63 w 73"/>
                <a:gd name="T45" fmla="*/ 56 h 85"/>
                <a:gd name="T46" fmla="*/ 60 w 73"/>
                <a:gd name="T47" fmla="*/ 65 h 85"/>
                <a:gd name="T48" fmla="*/ 55 w 73"/>
                <a:gd name="T49" fmla="*/ 65 h 85"/>
                <a:gd name="T50" fmla="*/ 57 w 73"/>
                <a:gd name="T51" fmla="*/ 62 h 85"/>
                <a:gd name="T52" fmla="*/ 59 w 73"/>
                <a:gd name="T53" fmla="*/ 58 h 85"/>
                <a:gd name="T54" fmla="*/ 52 w 73"/>
                <a:gd name="T55" fmla="*/ 56 h 85"/>
                <a:gd name="T56" fmla="*/ 54 w 73"/>
                <a:gd name="T57" fmla="*/ 47 h 85"/>
                <a:gd name="T58" fmla="*/ 63 w 73"/>
                <a:gd name="T59" fmla="*/ 49 h 85"/>
                <a:gd name="T60" fmla="*/ 25 w 73"/>
                <a:gd name="T61" fmla="*/ 42 h 85"/>
                <a:gd name="T62" fmla="*/ 26 w 73"/>
                <a:gd name="T63" fmla="*/ 36 h 85"/>
                <a:gd name="T64" fmla="*/ 30 w 73"/>
                <a:gd name="T65" fmla="*/ 32 h 85"/>
                <a:gd name="T66" fmla="*/ 30 w 73"/>
                <a:gd name="T67" fmla="*/ 36 h 85"/>
                <a:gd name="T68" fmla="*/ 29 w 73"/>
                <a:gd name="T69" fmla="*/ 40 h 85"/>
                <a:gd name="T70" fmla="*/ 36 w 73"/>
                <a:gd name="T71" fmla="*/ 42 h 85"/>
                <a:gd name="T72" fmla="*/ 34 w 73"/>
                <a:gd name="T73" fmla="*/ 51 h 85"/>
                <a:gd name="T74" fmla="*/ 25 w 73"/>
                <a:gd name="T75" fmla="*/ 49 h 85"/>
                <a:gd name="T76" fmla="*/ 45 w 73"/>
                <a:gd name="T77" fmla="*/ 7 h 85"/>
                <a:gd name="T78" fmla="*/ 7 w 73"/>
                <a:gd name="T79" fmla="*/ 8 h 85"/>
                <a:gd name="T80" fmla="*/ 7 w 73"/>
                <a:gd name="T81" fmla="*/ 77 h 85"/>
                <a:gd name="T82" fmla="*/ 65 w 73"/>
                <a:gd name="T83" fmla="*/ 78 h 85"/>
                <a:gd name="T84" fmla="*/ 67 w 73"/>
                <a:gd name="T85" fmla="*/ 76 h 85"/>
                <a:gd name="T86" fmla="*/ 47 w 73"/>
                <a:gd name="T87" fmla="*/ 27 h 85"/>
                <a:gd name="T88" fmla="*/ 45 w 73"/>
                <a:gd name="T89" fmla="*/ 7 h 85"/>
                <a:gd name="T90" fmla="*/ 49 w 73"/>
                <a:gd name="T91" fmla="*/ 10 h 85"/>
                <a:gd name="T92" fmla="*/ 50 w 73"/>
                <a:gd name="T93" fmla="*/ 2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3" h="85">
                  <a:moveTo>
                    <a:pt x="8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1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5"/>
                    <a:pt x="73" y="26"/>
                    <a:pt x="73" y="27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8"/>
                    <a:pt x="72" y="80"/>
                    <a:pt x="71" y="82"/>
                  </a:cubicBezTo>
                  <a:cubicBezTo>
                    <a:pt x="71" y="82"/>
                    <a:pt x="71" y="82"/>
                    <a:pt x="71" y="82"/>
                  </a:cubicBezTo>
                  <a:cubicBezTo>
                    <a:pt x="71" y="82"/>
                    <a:pt x="71" y="82"/>
                    <a:pt x="71" y="82"/>
                  </a:cubicBezTo>
                  <a:cubicBezTo>
                    <a:pt x="69" y="84"/>
                    <a:pt x="67" y="85"/>
                    <a:pt x="65" y="85"/>
                  </a:cubicBezTo>
                  <a:cubicBezTo>
                    <a:pt x="8" y="85"/>
                    <a:pt x="8" y="85"/>
                    <a:pt x="8" y="85"/>
                  </a:cubicBezTo>
                  <a:cubicBezTo>
                    <a:pt x="6" y="85"/>
                    <a:pt x="4" y="84"/>
                    <a:pt x="2" y="82"/>
                  </a:cubicBezTo>
                  <a:cubicBezTo>
                    <a:pt x="2" y="82"/>
                    <a:pt x="2" y="82"/>
                    <a:pt x="2" y="82"/>
                  </a:cubicBezTo>
                  <a:cubicBezTo>
                    <a:pt x="2" y="82"/>
                    <a:pt x="2" y="82"/>
                    <a:pt x="2" y="82"/>
                  </a:cubicBezTo>
                  <a:cubicBezTo>
                    <a:pt x="1" y="80"/>
                    <a:pt x="0" y="78"/>
                    <a:pt x="0" y="7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5"/>
                    <a:pt x="2" y="3"/>
                  </a:cubicBezTo>
                  <a:cubicBezTo>
                    <a:pt x="4" y="1"/>
                    <a:pt x="6" y="0"/>
                    <a:pt x="8" y="0"/>
                  </a:cubicBezTo>
                  <a:close/>
                  <a:moveTo>
                    <a:pt x="16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2" y="40"/>
                    <a:pt x="23" y="41"/>
                    <a:pt x="23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50"/>
                    <a:pt x="22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3" y="51"/>
                    <a:pt x="12" y="50"/>
                    <a:pt x="12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2" y="47"/>
                    <a:pt x="12" y="44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39"/>
                    <a:pt x="13" y="37"/>
                    <a:pt x="13" y="36"/>
                  </a:cubicBezTo>
                  <a:cubicBezTo>
                    <a:pt x="14" y="35"/>
                    <a:pt x="14" y="34"/>
                    <a:pt x="15" y="33"/>
                  </a:cubicBezTo>
                  <a:cubicBezTo>
                    <a:pt x="16" y="33"/>
                    <a:pt x="17" y="32"/>
                    <a:pt x="18" y="32"/>
                  </a:cubicBezTo>
                  <a:cubicBezTo>
                    <a:pt x="19" y="31"/>
                    <a:pt x="20" y="32"/>
                    <a:pt x="20" y="33"/>
                  </a:cubicBezTo>
                  <a:cubicBezTo>
                    <a:pt x="21" y="34"/>
                    <a:pt x="20" y="35"/>
                    <a:pt x="19" y="35"/>
                  </a:cubicBezTo>
                  <a:cubicBezTo>
                    <a:pt x="19" y="35"/>
                    <a:pt x="18" y="36"/>
                    <a:pt x="18" y="36"/>
                  </a:cubicBezTo>
                  <a:cubicBezTo>
                    <a:pt x="17" y="37"/>
                    <a:pt x="17" y="37"/>
                    <a:pt x="17" y="38"/>
                  </a:cubicBezTo>
                  <a:cubicBezTo>
                    <a:pt x="17" y="38"/>
                    <a:pt x="16" y="39"/>
                    <a:pt x="16" y="40"/>
                  </a:cubicBezTo>
                  <a:close/>
                  <a:moveTo>
                    <a:pt x="50" y="56"/>
                  </a:moveTo>
                  <a:cubicBezTo>
                    <a:pt x="50" y="56"/>
                    <a:pt x="50" y="56"/>
                    <a:pt x="50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58"/>
                    <a:pt x="50" y="59"/>
                    <a:pt x="50" y="60"/>
                  </a:cubicBezTo>
                  <a:cubicBezTo>
                    <a:pt x="50" y="61"/>
                    <a:pt x="49" y="62"/>
                    <a:pt x="49" y="62"/>
                  </a:cubicBezTo>
                  <a:cubicBezTo>
                    <a:pt x="48" y="63"/>
                    <a:pt x="48" y="64"/>
                    <a:pt x="47" y="65"/>
                  </a:cubicBezTo>
                  <a:cubicBezTo>
                    <a:pt x="46" y="65"/>
                    <a:pt x="45" y="66"/>
                    <a:pt x="44" y="66"/>
                  </a:cubicBezTo>
                  <a:cubicBezTo>
                    <a:pt x="43" y="67"/>
                    <a:pt x="42" y="66"/>
                    <a:pt x="42" y="65"/>
                  </a:cubicBezTo>
                  <a:cubicBezTo>
                    <a:pt x="41" y="64"/>
                    <a:pt x="42" y="63"/>
                    <a:pt x="43" y="63"/>
                  </a:cubicBezTo>
                  <a:cubicBezTo>
                    <a:pt x="43" y="63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5" y="61"/>
                    <a:pt x="45" y="61"/>
                    <a:pt x="45" y="60"/>
                  </a:cubicBezTo>
                  <a:cubicBezTo>
                    <a:pt x="46" y="60"/>
                    <a:pt x="46" y="60"/>
                    <a:pt x="46" y="59"/>
                  </a:cubicBezTo>
                  <a:cubicBezTo>
                    <a:pt x="46" y="59"/>
                    <a:pt x="46" y="58"/>
                    <a:pt x="46" y="58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40" y="58"/>
                    <a:pt x="39" y="57"/>
                    <a:pt x="39" y="56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8"/>
                    <a:pt x="40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9" y="47"/>
                    <a:pt x="50" y="48"/>
                    <a:pt x="50" y="49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51"/>
                    <a:pt x="50" y="54"/>
                    <a:pt x="50" y="56"/>
                  </a:cubicBezTo>
                  <a:cubicBezTo>
                    <a:pt x="50" y="56"/>
                    <a:pt x="50" y="56"/>
                    <a:pt x="50" y="56"/>
                  </a:cubicBezTo>
                  <a:close/>
                  <a:moveTo>
                    <a:pt x="63" y="56"/>
                  </a:moveTo>
                  <a:cubicBezTo>
                    <a:pt x="63" y="56"/>
                    <a:pt x="63" y="56"/>
                    <a:pt x="63" y="56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63" y="58"/>
                    <a:pt x="63" y="59"/>
                    <a:pt x="62" y="60"/>
                  </a:cubicBezTo>
                  <a:cubicBezTo>
                    <a:pt x="62" y="61"/>
                    <a:pt x="62" y="62"/>
                    <a:pt x="62" y="62"/>
                  </a:cubicBezTo>
                  <a:cubicBezTo>
                    <a:pt x="61" y="63"/>
                    <a:pt x="60" y="64"/>
                    <a:pt x="60" y="65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59" y="65"/>
                    <a:pt x="58" y="66"/>
                    <a:pt x="57" y="66"/>
                  </a:cubicBezTo>
                  <a:cubicBezTo>
                    <a:pt x="56" y="67"/>
                    <a:pt x="55" y="66"/>
                    <a:pt x="55" y="65"/>
                  </a:cubicBezTo>
                  <a:cubicBezTo>
                    <a:pt x="54" y="64"/>
                    <a:pt x="55" y="63"/>
                    <a:pt x="56" y="63"/>
                  </a:cubicBezTo>
                  <a:cubicBezTo>
                    <a:pt x="56" y="63"/>
                    <a:pt x="57" y="62"/>
                    <a:pt x="57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8" y="61"/>
                    <a:pt x="58" y="61"/>
                    <a:pt x="58" y="60"/>
                  </a:cubicBezTo>
                  <a:cubicBezTo>
                    <a:pt x="58" y="60"/>
                    <a:pt x="58" y="60"/>
                    <a:pt x="59" y="59"/>
                  </a:cubicBezTo>
                  <a:cubicBezTo>
                    <a:pt x="59" y="59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7"/>
                    <a:pt x="53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2" y="47"/>
                    <a:pt x="63" y="48"/>
                    <a:pt x="63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51"/>
                    <a:pt x="63" y="54"/>
                    <a:pt x="63" y="56"/>
                  </a:cubicBezTo>
                  <a:cubicBezTo>
                    <a:pt x="63" y="56"/>
                    <a:pt x="63" y="56"/>
                    <a:pt x="63" y="56"/>
                  </a:cubicBezTo>
                  <a:close/>
                  <a:moveTo>
                    <a:pt x="25" y="42"/>
                  </a:moveTo>
                  <a:cubicBezTo>
                    <a:pt x="25" y="42"/>
                    <a:pt x="25" y="42"/>
                    <a:pt x="25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6"/>
                  </a:cubicBezTo>
                  <a:cubicBezTo>
                    <a:pt x="26" y="35"/>
                    <a:pt x="27" y="34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9" y="33"/>
                    <a:pt x="30" y="32"/>
                    <a:pt x="30" y="32"/>
                  </a:cubicBezTo>
                  <a:cubicBezTo>
                    <a:pt x="31" y="31"/>
                    <a:pt x="33" y="32"/>
                    <a:pt x="33" y="33"/>
                  </a:cubicBezTo>
                  <a:cubicBezTo>
                    <a:pt x="33" y="34"/>
                    <a:pt x="33" y="35"/>
                    <a:pt x="32" y="35"/>
                  </a:cubicBezTo>
                  <a:cubicBezTo>
                    <a:pt x="31" y="35"/>
                    <a:pt x="31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7"/>
                    <a:pt x="30" y="37"/>
                    <a:pt x="29" y="38"/>
                  </a:cubicBezTo>
                  <a:cubicBezTo>
                    <a:pt x="29" y="38"/>
                    <a:pt x="29" y="39"/>
                    <a:pt x="29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5" y="40"/>
                    <a:pt x="36" y="41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6" y="50"/>
                    <a:pt x="35" y="51"/>
                    <a:pt x="34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6" y="51"/>
                    <a:pt x="25" y="50"/>
                    <a:pt x="25" y="49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5" y="47"/>
                    <a:pt x="25" y="44"/>
                    <a:pt x="25" y="42"/>
                  </a:cubicBezTo>
                  <a:cubicBezTo>
                    <a:pt x="25" y="42"/>
                    <a:pt x="25" y="42"/>
                    <a:pt x="25" y="42"/>
                  </a:cubicBezTo>
                  <a:close/>
                  <a:moveTo>
                    <a:pt x="45" y="7"/>
                  </a:moveTo>
                  <a:cubicBezTo>
                    <a:pt x="45" y="7"/>
                    <a:pt x="45" y="7"/>
                    <a:pt x="45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7" y="7"/>
                    <a:pt x="7" y="8"/>
                  </a:cubicBezTo>
                  <a:cubicBezTo>
                    <a:pt x="7" y="8"/>
                    <a:pt x="6" y="9"/>
                    <a:pt x="6" y="9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6" y="76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8"/>
                    <a:pt x="8" y="78"/>
                    <a:pt x="8" y="78"/>
                  </a:cubicBezTo>
                  <a:cubicBezTo>
                    <a:pt x="65" y="78"/>
                    <a:pt x="65" y="78"/>
                    <a:pt x="65" y="78"/>
                  </a:cubicBezTo>
                  <a:cubicBezTo>
                    <a:pt x="65" y="78"/>
                    <a:pt x="66" y="78"/>
                    <a:pt x="66" y="77"/>
                  </a:cubicBezTo>
                  <a:cubicBezTo>
                    <a:pt x="66" y="77"/>
                    <a:pt x="66" y="77"/>
                    <a:pt x="66" y="77"/>
                  </a:cubicBezTo>
                  <a:cubicBezTo>
                    <a:pt x="67" y="77"/>
                    <a:pt x="67" y="76"/>
                    <a:pt x="67" y="76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0" y="29"/>
                    <a:pt x="48" y="28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5" y="24"/>
                    <a:pt x="45" y="22"/>
                  </a:cubicBezTo>
                  <a:cubicBezTo>
                    <a:pt x="45" y="7"/>
                    <a:pt x="45" y="7"/>
                    <a:pt x="45" y="7"/>
                  </a:cubicBezTo>
                  <a:close/>
                  <a:moveTo>
                    <a:pt x="64" y="25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49" y="23"/>
                    <a:pt x="49" y="23"/>
                    <a:pt x="50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5"/>
                    <a:pt x="51" y="25"/>
                    <a:pt x="52" y="25"/>
                  </a:cubicBezTo>
                  <a:cubicBezTo>
                    <a:pt x="64" y="25"/>
                    <a:pt x="64" y="25"/>
                    <a:pt x="64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8228" tIns="24114" rIns="48228" bIns="24114" numCol="1" anchor="t" anchorCtr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1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5" name="圆角矩形 53"/>
            <p:cNvSpPr/>
            <p:nvPr>
              <p:custDataLst>
                <p:tags r:id="rId9"/>
              </p:custDataLst>
            </p:nvPr>
          </p:nvSpPr>
          <p:spPr>
            <a:xfrm>
              <a:off x="5510965" y="3156785"/>
              <a:ext cx="792000" cy="792000"/>
            </a:xfrm>
            <a:prstGeom prst="roundRect">
              <a:avLst/>
            </a:prstGeom>
            <a:solidFill>
              <a:srgbClr val="436C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245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14165" y="3429835"/>
              <a:ext cx="403860" cy="260350"/>
            </a:xfrm>
            <a:custGeom>
              <a:avLst/>
              <a:gdLst>
                <a:gd name="T0" fmla="*/ 12 w 102"/>
                <a:gd name="T1" fmla="*/ 0 h 66"/>
                <a:gd name="T2" fmla="*/ 12 w 102"/>
                <a:gd name="T3" fmla="*/ 0 h 66"/>
                <a:gd name="T4" fmla="*/ 89 w 102"/>
                <a:gd name="T5" fmla="*/ 0 h 66"/>
                <a:gd name="T6" fmla="*/ 92 w 102"/>
                <a:gd name="T7" fmla="*/ 3 h 66"/>
                <a:gd name="T8" fmla="*/ 92 w 102"/>
                <a:gd name="T9" fmla="*/ 3 h 66"/>
                <a:gd name="T10" fmla="*/ 92 w 102"/>
                <a:gd name="T11" fmla="*/ 54 h 66"/>
                <a:gd name="T12" fmla="*/ 89 w 102"/>
                <a:gd name="T13" fmla="*/ 57 h 66"/>
                <a:gd name="T14" fmla="*/ 89 w 102"/>
                <a:gd name="T15" fmla="*/ 57 h 66"/>
                <a:gd name="T16" fmla="*/ 12 w 102"/>
                <a:gd name="T17" fmla="*/ 57 h 66"/>
                <a:gd name="T18" fmla="*/ 9 w 102"/>
                <a:gd name="T19" fmla="*/ 54 h 66"/>
                <a:gd name="T20" fmla="*/ 9 w 102"/>
                <a:gd name="T21" fmla="*/ 54 h 66"/>
                <a:gd name="T22" fmla="*/ 9 w 102"/>
                <a:gd name="T23" fmla="*/ 3 h 66"/>
                <a:gd name="T24" fmla="*/ 12 w 102"/>
                <a:gd name="T25" fmla="*/ 0 h 66"/>
                <a:gd name="T26" fmla="*/ 3 w 102"/>
                <a:gd name="T27" fmla="*/ 66 h 66"/>
                <a:gd name="T28" fmla="*/ 3 w 102"/>
                <a:gd name="T29" fmla="*/ 66 h 66"/>
                <a:gd name="T30" fmla="*/ 0 w 102"/>
                <a:gd name="T31" fmla="*/ 63 h 66"/>
                <a:gd name="T32" fmla="*/ 3 w 102"/>
                <a:gd name="T33" fmla="*/ 60 h 66"/>
                <a:gd name="T34" fmla="*/ 98 w 102"/>
                <a:gd name="T35" fmla="*/ 60 h 66"/>
                <a:gd name="T36" fmla="*/ 102 w 102"/>
                <a:gd name="T37" fmla="*/ 63 h 66"/>
                <a:gd name="T38" fmla="*/ 98 w 102"/>
                <a:gd name="T39" fmla="*/ 66 h 66"/>
                <a:gd name="T40" fmla="*/ 3 w 102"/>
                <a:gd name="T41" fmla="*/ 66 h 66"/>
                <a:gd name="T42" fmla="*/ 86 w 102"/>
                <a:gd name="T43" fmla="*/ 6 h 66"/>
                <a:gd name="T44" fmla="*/ 86 w 102"/>
                <a:gd name="T45" fmla="*/ 6 h 66"/>
                <a:gd name="T46" fmla="*/ 15 w 102"/>
                <a:gd name="T47" fmla="*/ 6 h 66"/>
                <a:gd name="T48" fmla="*/ 15 w 102"/>
                <a:gd name="T49" fmla="*/ 51 h 66"/>
                <a:gd name="T50" fmla="*/ 86 w 102"/>
                <a:gd name="T51" fmla="*/ 51 h 66"/>
                <a:gd name="T52" fmla="*/ 86 w 102"/>
                <a:gd name="T53" fmla="*/ 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2" h="66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1" y="0"/>
                    <a:pt x="92" y="1"/>
                    <a:pt x="92" y="3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2" y="56"/>
                    <a:pt x="91" y="57"/>
                    <a:pt x="89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0" y="57"/>
                    <a:pt x="9" y="56"/>
                    <a:pt x="9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1"/>
                    <a:pt x="10" y="0"/>
                    <a:pt x="12" y="0"/>
                  </a:cubicBezTo>
                  <a:close/>
                  <a:moveTo>
                    <a:pt x="3" y="66"/>
                  </a:moveTo>
                  <a:cubicBezTo>
                    <a:pt x="3" y="66"/>
                    <a:pt x="3" y="66"/>
                    <a:pt x="3" y="66"/>
                  </a:cubicBezTo>
                  <a:cubicBezTo>
                    <a:pt x="1" y="66"/>
                    <a:pt x="0" y="65"/>
                    <a:pt x="0" y="63"/>
                  </a:cubicBezTo>
                  <a:cubicBezTo>
                    <a:pt x="0" y="61"/>
                    <a:pt x="1" y="60"/>
                    <a:pt x="3" y="60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100" y="60"/>
                    <a:pt x="102" y="61"/>
                    <a:pt x="102" y="63"/>
                  </a:cubicBezTo>
                  <a:cubicBezTo>
                    <a:pt x="102" y="65"/>
                    <a:pt x="100" y="66"/>
                    <a:pt x="98" y="66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86" y="6"/>
                  </a:moveTo>
                  <a:cubicBezTo>
                    <a:pt x="86" y="6"/>
                    <a:pt x="86" y="6"/>
                    <a:pt x="86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86" y="6"/>
                    <a:pt x="86" y="6"/>
                    <a:pt x="8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8228" tIns="24114" rIns="48228" bIns="24114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1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圆角矩形 55"/>
            <p:cNvSpPr/>
            <p:nvPr>
              <p:custDataLst>
                <p:tags r:id="rId11"/>
              </p:custDataLst>
            </p:nvPr>
          </p:nvSpPr>
          <p:spPr>
            <a:xfrm>
              <a:off x="5510965" y="4830645"/>
              <a:ext cx="792000" cy="792000"/>
            </a:xfrm>
            <a:prstGeom prst="roundRect">
              <a:avLst/>
            </a:prstGeom>
            <a:solidFill>
              <a:srgbClr val="7398D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78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14165" y="5069405"/>
              <a:ext cx="403860" cy="353695"/>
            </a:xfrm>
            <a:custGeom>
              <a:avLst/>
              <a:gdLst>
                <a:gd name="T0" fmla="*/ 17 w 84"/>
                <a:gd name="T1" fmla="*/ 0 h 74"/>
                <a:gd name="T2" fmla="*/ 67 w 84"/>
                <a:gd name="T3" fmla="*/ 0 h 74"/>
                <a:gd name="T4" fmla="*/ 84 w 84"/>
                <a:gd name="T5" fmla="*/ 17 h 74"/>
                <a:gd name="T6" fmla="*/ 84 w 84"/>
                <a:gd name="T7" fmla="*/ 57 h 74"/>
                <a:gd name="T8" fmla="*/ 67 w 84"/>
                <a:gd name="T9" fmla="*/ 74 h 74"/>
                <a:gd name="T10" fmla="*/ 17 w 84"/>
                <a:gd name="T11" fmla="*/ 74 h 74"/>
                <a:gd name="T12" fmla="*/ 0 w 84"/>
                <a:gd name="T13" fmla="*/ 57 h 74"/>
                <a:gd name="T14" fmla="*/ 0 w 84"/>
                <a:gd name="T15" fmla="*/ 17 h 74"/>
                <a:gd name="T16" fmla="*/ 17 w 84"/>
                <a:gd name="T17" fmla="*/ 0 h 74"/>
                <a:gd name="T18" fmla="*/ 33 w 84"/>
                <a:gd name="T19" fmla="*/ 21 h 74"/>
                <a:gd name="T20" fmla="*/ 33 w 84"/>
                <a:gd name="T21" fmla="*/ 21 h 74"/>
                <a:gd name="T22" fmla="*/ 57 w 84"/>
                <a:gd name="T23" fmla="*/ 36 h 74"/>
                <a:gd name="T24" fmla="*/ 58 w 84"/>
                <a:gd name="T25" fmla="*/ 38 h 74"/>
                <a:gd name="T26" fmla="*/ 57 w 84"/>
                <a:gd name="T27" fmla="*/ 39 h 74"/>
                <a:gd name="T28" fmla="*/ 32 w 84"/>
                <a:gd name="T29" fmla="*/ 53 h 74"/>
                <a:gd name="T30" fmla="*/ 30 w 84"/>
                <a:gd name="T31" fmla="*/ 52 h 74"/>
                <a:gd name="T32" fmla="*/ 30 w 84"/>
                <a:gd name="T33" fmla="*/ 52 h 74"/>
                <a:gd name="T34" fmla="*/ 30 w 84"/>
                <a:gd name="T35" fmla="*/ 52 h 74"/>
                <a:gd name="T36" fmla="*/ 30 w 84"/>
                <a:gd name="T37" fmla="*/ 23 h 74"/>
                <a:gd name="T38" fmla="*/ 31 w 84"/>
                <a:gd name="T39" fmla="*/ 21 h 74"/>
                <a:gd name="T40" fmla="*/ 33 w 84"/>
                <a:gd name="T41" fmla="*/ 21 h 74"/>
                <a:gd name="T42" fmla="*/ 33 w 84"/>
                <a:gd name="T43" fmla="*/ 26 h 74"/>
                <a:gd name="T44" fmla="*/ 33 w 84"/>
                <a:gd name="T45" fmla="*/ 26 h 74"/>
                <a:gd name="T46" fmla="*/ 33 w 84"/>
                <a:gd name="T47" fmla="*/ 48 h 74"/>
                <a:gd name="T48" fmla="*/ 52 w 84"/>
                <a:gd name="T49" fmla="*/ 37 h 74"/>
                <a:gd name="T50" fmla="*/ 33 w 84"/>
                <a:gd name="T51" fmla="*/ 26 h 74"/>
                <a:gd name="T52" fmla="*/ 67 w 84"/>
                <a:gd name="T53" fmla="*/ 7 h 74"/>
                <a:gd name="T54" fmla="*/ 67 w 84"/>
                <a:gd name="T55" fmla="*/ 7 h 74"/>
                <a:gd name="T56" fmla="*/ 17 w 84"/>
                <a:gd name="T57" fmla="*/ 7 h 74"/>
                <a:gd name="T58" fmla="*/ 7 w 84"/>
                <a:gd name="T59" fmla="*/ 17 h 74"/>
                <a:gd name="T60" fmla="*/ 7 w 84"/>
                <a:gd name="T61" fmla="*/ 57 h 74"/>
                <a:gd name="T62" fmla="*/ 17 w 84"/>
                <a:gd name="T63" fmla="*/ 68 h 74"/>
                <a:gd name="T64" fmla="*/ 67 w 84"/>
                <a:gd name="T65" fmla="*/ 68 h 74"/>
                <a:gd name="T66" fmla="*/ 78 w 84"/>
                <a:gd name="T67" fmla="*/ 57 h 74"/>
                <a:gd name="T68" fmla="*/ 78 w 84"/>
                <a:gd name="T69" fmla="*/ 17 h 74"/>
                <a:gd name="T70" fmla="*/ 67 w 84"/>
                <a:gd name="T71" fmla="*/ 7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4" h="74">
                  <a:moveTo>
                    <a:pt x="1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76" y="0"/>
                    <a:pt x="84" y="8"/>
                    <a:pt x="84" y="1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4" y="66"/>
                    <a:pt x="76" y="74"/>
                    <a:pt x="67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8" y="74"/>
                    <a:pt x="0" y="66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lose/>
                  <a:moveTo>
                    <a:pt x="33" y="21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8" y="36"/>
                    <a:pt x="58" y="37"/>
                    <a:pt x="58" y="38"/>
                  </a:cubicBezTo>
                  <a:cubicBezTo>
                    <a:pt x="58" y="38"/>
                    <a:pt x="57" y="39"/>
                    <a:pt x="57" y="39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1" y="54"/>
                    <a:pt x="30" y="53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2"/>
                    <a:pt x="30" y="21"/>
                    <a:pt x="31" y="21"/>
                  </a:cubicBezTo>
                  <a:cubicBezTo>
                    <a:pt x="32" y="21"/>
                    <a:pt x="32" y="21"/>
                    <a:pt x="33" y="21"/>
                  </a:cubicBezTo>
                  <a:close/>
                  <a:moveTo>
                    <a:pt x="33" y="26"/>
                  </a:moveTo>
                  <a:cubicBezTo>
                    <a:pt x="33" y="26"/>
                    <a:pt x="33" y="26"/>
                    <a:pt x="33" y="26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52" y="37"/>
                    <a:pt x="52" y="37"/>
                    <a:pt x="52" y="37"/>
                  </a:cubicBezTo>
                  <a:cubicBezTo>
                    <a:pt x="33" y="26"/>
                    <a:pt x="33" y="26"/>
                    <a:pt x="33" y="26"/>
                  </a:cubicBezTo>
                  <a:close/>
                  <a:moveTo>
                    <a:pt x="67" y="7"/>
                  </a:moveTo>
                  <a:cubicBezTo>
                    <a:pt x="67" y="7"/>
                    <a:pt x="67" y="7"/>
                    <a:pt x="6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1" y="7"/>
                    <a:pt x="7" y="12"/>
                    <a:pt x="7" y="1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63"/>
                    <a:pt x="11" y="68"/>
                    <a:pt x="17" y="68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73" y="68"/>
                    <a:pt x="78" y="63"/>
                    <a:pt x="78" y="5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2"/>
                    <a:pt x="73" y="7"/>
                    <a:pt x="6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8228" tIns="24114" rIns="48228" bIns="24114" numCol="1" anchor="t" anchorCtr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1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5273793" y="4010225"/>
              <a:ext cx="128397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QA</a:t>
              </a:r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</a:p>
          </p:txBody>
        </p:sp>
        <p:sp>
          <p:nvSpPr>
            <p:cNvPr id="30" name="文本框 29"/>
            <p:cNvSpPr txBox="1"/>
            <p:nvPr>
              <p:custDataLst>
                <p:tags r:id="rId14"/>
              </p:custDataLst>
            </p:nvPr>
          </p:nvSpPr>
          <p:spPr>
            <a:xfrm>
              <a:off x="5273793" y="5677735"/>
              <a:ext cx="128397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数据图表</a:t>
              </a:r>
            </a:p>
          </p:txBody>
        </p:sp>
        <p:sp>
          <p:nvSpPr>
            <p:cNvPr id="31" name="文本框 30"/>
            <p:cNvSpPr txBox="1"/>
            <p:nvPr>
              <p:custDataLst>
                <p:tags r:id="rId15"/>
              </p:custDataLst>
            </p:nvPr>
          </p:nvSpPr>
          <p:spPr>
            <a:xfrm rot="1740000">
              <a:off x="2022275" y="3340935"/>
              <a:ext cx="108267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可视化导入</a:t>
              </a:r>
            </a:p>
          </p:txBody>
        </p:sp>
        <p:sp>
          <p:nvSpPr>
            <p:cNvPr id="32" name="文本框 31"/>
            <p:cNvSpPr txBox="1"/>
            <p:nvPr>
              <p:custDataLst>
                <p:tags r:id="rId16"/>
              </p:custDataLst>
            </p:nvPr>
          </p:nvSpPr>
          <p:spPr>
            <a:xfrm rot="19320000">
              <a:off x="2029260" y="5086550"/>
              <a:ext cx="131381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可视化导入</a:t>
              </a:r>
            </a:p>
          </p:txBody>
        </p:sp>
        <p:sp>
          <p:nvSpPr>
            <p:cNvPr id="33" name="文本框 32"/>
            <p:cNvSpPr txBox="1"/>
            <p:nvPr>
              <p:custDataLst>
                <p:tags r:id="rId17"/>
              </p:custDataLst>
            </p:nvPr>
          </p:nvSpPr>
          <p:spPr>
            <a:xfrm rot="20040000">
              <a:off x="4385745" y="3252670"/>
              <a:ext cx="113538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可视化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导入</a:t>
              </a:r>
            </a:p>
          </p:txBody>
        </p:sp>
        <p:sp>
          <p:nvSpPr>
            <p:cNvPr id="34" name="文本框 33"/>
            <p:cNvSpPr txBox="1"/>
            <p:nvPr>
              <p:custDataLst>
                <p:tags r:id="rId18"/>
              </p:custDataLst>
            </p:nvPr>
          </p:nvSpPr>
          <p:spPr>
            <a:xfrm rot="2100000">
              <a:off x="4262555" y="5281495"/>
              <a:ext cx="113919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可视化</a:t>
              </a:r>
              <a:r>
                <a:rPr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导入</a:t>
              </a:r>
            </a:p>
          </p:txBody>
        </p:sp>
        <p:sp>
          <p:nvSpPr>
            <p:cNvPr id="35" name="文本框 34"/>
            <p:cNvSpPr txBox="1"/>
            <p:nvPr>
              <p:custDataLst>
                <p:tags r:id="rId19"/>
              </p:custDataLst>
            </p:nvPr>
          </p:nvSpPr>
          <p:spPr>
            <a:xfrm>
              <a:off x="6337100" y="3184090"/>
              <a:ext cx="1612900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官网官微热点问答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人工咨询热点问答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智能咨询热点问答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.......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20"/>
              </p:custDataLst>
            </p:nvPr>
          </p:nvSpPr>
          <p:spPr>
            <a:xfrm>
              <a:off x="149025" y="3199965"/>
              <a:ext cx="114109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政策法规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业务指南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操作手册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.......</a:t>
              </a:r>
            </a:p>
          </p:txBody>
        </p:sp>
        <p:sp>
          <p:nvSpPr>
            <p:cNvPr id="37" name="文本框 36"/>
            <p:cNvSpPr txBox="1"/>
            <p:nvPr>
              <p:custDataLst>
                <p:tags r:id="rId21"/>
              </p:custDataLst>
            </p:nvPr>
          </p:nvSpPr>
          <p:spPr>
            <a:xfrm>
              <a:off x="63300" y="4915100"/>
              <a:ext cx="114109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政务案例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公务员试题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政务法规知识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.......</a:t>
              </a:r>
            </a:p>
          </p:txBody>
        </p:sp>
        <p:sp>
          <p:nvSpPr>
            <p:cNvPr id="38" name="文本框 37"/>
            <p:cNvSpPr txBox="1"/>
            <p:nvPr>
              <p:custDataLst>
                <p:tags r:id="rId22"/>
              </p:custDataLst>
            </p:nvPr>
          </p:nvSpPr>
          <p:spPr>
            <a:xfrm>
              <a:off x="6337100" y="4868110"/>
              <a:ext cx="1612900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气象数据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交通数据</a:t>
              </a:r>
            </a:p>
            <a:p>
              <a:r>
                <a:rPr lang="en-US" altLang="zh-CN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.......</a:t>
              </a:r>
            </a:p>
          </p:txBody>
        </p:sp>
        <p:sp>
          <p:nvSpPr>
            <p:cNvPr id="40" name="文本框 39"/>
            <p:cNvSpPr txBox="1"/>
            <p:nvPr>
              <p:custDataLst>
                <p:tags r:id="rId23"/>
              </p:custDataLst>
            </p:nvPr>
          </p:nvSpPr>
          <p:spPr>
            <a:xfrm>
              <a:off x="2369620" y="5851090"/>
              <a:ext cx="265366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>
                  <a:solidFill>
                    <a:srgbClr val="006D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支持多模态知识数据运营</a:t>
              </a:r>
            </a:p>
          </p:txBody>
        </p:sp>
      </p:grpSp>
      <p:cxnSp>
        <p:nvCxnSpPr>
          <p:cNvPr id="41" name="直接连接符 40"/>
          <p:cNvCxnSpPr/>
          <p:nvPr/>
        </p:nvCxnSpPr>
        <p:spPr>
          <a:xfrm flipV="1">
            <a:off x="216032" y="4673629"/>
            <a:ext cx="7242810" cy="20320"/>
          </a:xfrm>
          <a:prstGeom prst="line">
            <a:avLst/>
          </a:prstGeom>
          <a:noFill/>
          <a:ln w="31750" cap="rnd">
            <a:solidFill>
              <a:srgbClr val="006DE8"/>
            </a:solidFill>
            <a:prstDash val="sysDot"/>
            <a:round/>
          </a:ln>
          <a:effectLst/>
        </p:spPr>
      </p:cxnSp>
      <p:sp>
        <p:nvSpPr>
          <p:cNvPr id="42" name="文本框 41"/>
          <p:cNvSpPr txBox="1"/>
          <p:nvPr/>
        </p:nvSpPr>
        <p:spPr>
          <a:xfrm>
            <a:off x="147441" y="6319040"/>
            <a:ext cx="7868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注：知识库收录的知识分别来源于官方网站、官方微信公众号、政策文件、官方项目、权威媒体等渠道，权威、可靠、准确。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62225" y="359383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4" name="标题 1"/>
          <p:cNvSpPr txBox="1"/>
          <p:nvPr/>
        </p:nvSpPr>
        <p:spPr>
          <a:xfrm>
            <a:off x="1381729" y="363583"/>
            <a:ext cx="5294403" cy="57778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数据训练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7598714" y="1924181"/>
            <a:ext cx="4505325" cy="4434205"/>
            <a:chOff x="3843338" y="1211897"/>
            <a:chExt cx="4505325" cy="4434205"/>
          </a:xfrm>
        </p:grpSpPr>
        <p:sp>
          <p:nvSpPr>
            <p:cNvPr id="45" name="Freeform 5"/>
            <p:cNvSpPr/>
            <p:nvPr/>
          </p:nvSpPr>
          <p:spPr bwMode="auto">
            <a:xfrm>
              <a:off x="6967703" y="2387650"/>
              <a:ext cx="1380960" cy="2144984"/>
            </a:xfrm>
            <a:custGeom>
              <a:avLst/>
              <a:gdLst>
                <a:gd name="T0" fmla="*/ 111 w 731"/>
                <a:gd name="T1" fmla="*/ 870 h 1146"/>
                <a:gd name="T2" fmla="*/ 507 w 731"/>
                <a:gd name="T3" fmla="*/ 1086 h 1146"/>
                <a:gd name="T4" fmla="*/ 649 w 731"/>
                <a:gd name="T5" fmla="*/ 917 h 1146"/>
                <a:gd name="T6" fmla="*/ 617 w 731"/>
                <a:gd name="T7" fmla="*/ 140 h 1146"/>
                <a:gd name="T8" fmla="*/ 484 w 731"/>
                <a:gd name="T9" fmla="*/ 52 h 1146"/>
                <a:gd name="T10" fmla="*/ 75 w 731"/>
                <a:gd name="T11" fmla="*/ 302 h 1146"/>
                <a:gd name="T12" fmla="*/ 23 w 731"/>
                <a:gd name="T13" fmla="*/ 401 h 1146"/>
                <a:gd name="T14" fmla="*/ 41 w 731"/>
                <a:gd name="T15" fmla="*/ 692 h 1146"/>
                <a:gd name="T16" fmla="*/ 111 w 731"/>
                <a:gd name="T17" fmla="*/ 87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1" h="1146">
                  <a:moveTo>
                    <a:pt x="111" y="870"/>
                  </a:moveTo>
                  <a:cubicBezTo>
                    <a:pt x="176" y="904"/>
                    <a:pt x="507" y="1086"/>
                    <a:pt x="507" y="1086"/>
                  </a:cubicBezTo>
                  <a:cubicBezTo>
                    <a:pt x="507" y="1086"/>
                    <a:pt x="584" y="1146"/>
                    <a:pt x="649" y="917"/>
                  </a:cubicBezTo>
                  <a:cubicBezTo>
                    <a:pt x="714" y="689"/>
                    <a:pt x="731" y="416"/>
                    <a:pt x="617" y="140"/>
                  </a:cubicBezTo>
                  <a:cubicBezTo>
                    <a:pt x="602" y="104"/>
                    <a:pt x="565" y="0"/>
                    <a:pt x="484" y="52"/>
                  </a:cubicBezTo>
                  <a:cubicBezTo>
                    <a:pt x="403" y="103"/>
                    <a:pt x="75" y="302"/>
                    <a:pt x="75" y="302"/>
                  </a:cubicBezTo>
                  <a:cubicBezTo>
                    <a:pt x="75" y="302"/>
                    <a:pt x="11" y="338"/>
                    <a:pt x="23" y="401"/>
                  </a:cubicBezTo>
                  <a:cubicBezTo>
                    <a:pt x="36" y="463"/>
                    <a:pt x="60" y="594"/>
                    <a:pt x="41" y="692"/>
                  </a:cubicBezTo>
                  <a:cubicBezTo>
                    <a:pt x="23" y="782"/>
                    <a:pt x="0" y="813"/>
                    <a:pt x="111" y="870"/>
                  </a:cubicBezTo>
                  <a:close/>
                </a:path>
              </a:pathLst>
            </a:custGeom>
            <a:solidFill>
              <a:srgbClr val="B0B0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政务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指南</a:t>
              </a:r>
            </a:p>
          </p:txBody>
        </p:sp>
        <p:sp>
          <p:nvSpPr>
            <p:cNvPr id="46" name="Freeform 11"/>
            <p:cNvSpPr/>
            <p:nvPr/>
          </p:nvSpPr>
          <p:spPr bwMode="auto">
            <a:xfrm>
              <a:off x="3843338" y="2313346"/>
              <a:ext cx="1380960" cy="2144984"/>
            </a:xfrm>
            <a:custGeom>
              <a:avLst/>
              <a:gdLst>
                <a:gd name="T0" fmla="*/ 620 w 731"/>
                <a:gd name="T1" fmla="*/ 276 h 1146"/>
                <a:gd name="T2" fmla="*/ 224 w 731"/>
                <a:gd name="T3" fmla="*/ 59 h 1146"/>
                <a:gd name="T4" fmla="*/ 81 w 731"/>
                <a:gd name="T5" fmla="*/ 229 h 1146"/>
                <a:gd name="T6" fmla="*/ 113 w 731"/>
                <a:gd name="T7" fmla="*/ 1006 h 1146"/>
                <a:gd name="T8" fmla="*/ 246 w 731"/>
                <a:gd name="T9" fmla="*/ 1094 h 1146"/>
                <a:gd name="T10" fmla="*/ 656 w 731"/>
                <a:gd name="T11" fmla="*/ 844 h 1146"/>
                <a:gd name="T12" fmla="*/ 707 w 731"/>
                <a:gd name="T13" fmla="*/ 745 h 1146"/>
                <a:gd name="T14" fmla="*/ 690 w 731"/>
                <a:gd name="T15" fmla="*/ 453 h 1146"/>
                <a:gd name="T16" fmla="*/ 620 w 731"/>
                <a:gd name="T17" fmla="*/ 276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1" h="1146">
                  <a:moveTo>
                    <a:pt x="620" y="276"/>
                  </a:moveTo>
                  <a:cubicBezTo>
                    <a:pt x="555" y="242"/>
                    <a:pt x="224" y="59"/>
                    <a:pt x="224" y="59"/>
                  </a:cubicBezTo>
                  <a:cubicBezTo>
                    <a:pt x="224" y="59"/>
                    <a:pt x="147" y="0"/>
                    <a:pt x="81" y="229"/>
                  </a:cubicBezTo>
                  <a:cubicBezTo>
                    <a:pt x="17" y="456"/>
                    <a:pt x="0" y="730"/>
                    <a:pt x="113" y="1006"/>
                  </a:cubicBezTo>
                  <a:cubicBezTo>
                    <a:pt x="128" y="1042"/>
                    <a:pt x="166" y="1146"/>
                    <a:pt x="246" y="1094"/>
                  </a:cubicBezTo>
                  <a:cubicBezTo>
                    <a:pt x="327" y="1042"/>
                    <a:pt x="656" y="844"/>
                    <a:pt x="656" y="844"/>
                  </a:cubicBezTo>
                  <a:cubicBezTo>
                    <a:pt x="656" y="844"/>
                    <a:pt x="719" y="807"/>
                    <a:pt x="707" y="745"/>
                  </a:cubicBezTo>
                  <a:cubicBezTo>
                    <a:pt x="695" y="682"/>
                    <a:pt x="670" y="552"/>
                    <a:pt x="690" y="453"/>
                  </a:cubicBezTo>
                  <a:cubicBezTo>
                    <a:pt x="708" y="363"/>
                    <a:pt x="731" y="333"/>
                    <a:pt x="620" y="276"/>
                  </a:cubicBezTo>
                  <a:close/>
                </a:path>
              </a:pathLst>
            </a:custGeom>
            <a:solidFill>
              <a:srgbClr val="63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案例分析</a:t>
              </a:r>
            </a:p>
          </p:txBody>
        </p:sp>
        <p:sp>
          <p:nvSpPr>
            <p:cNvPr id="47" name="Freeform 14"/>
            <p:cNvSpPr/>
            <p:nvPr/>
          </p:nvSpPr>
          <p:spPr bwMode="auto">
            <a:xfrm>
              <a:off x="4213000" y="1211897"/>
              <a:ext cx="1883833" cy="1665285"/>
            </a:xfrm>
            <a:custGeom>
              <a:avLst/>
              <a:gdLst>
                <a:gd name="T0" fmla="*/ 1856708 w 996"/>
                <a:gd name="T1" fmla="*/ 1034202 h 890"/>
                <a:gd name="T2" fmla="*/ 1856708 w 996"/>
                <a:gd name="T3" fmla="*/ 181505 h 890"/>
                <a:gd name="T4" fmla="*/ 1444526 w 996"/>
                <a:gd name="T5" fmla="*/ 100206 h 890"/>
                <a:gd name="T6" fmla="*/ 185293 w 996"/>
                <a:gd name="T7" fmla="*/ 856478 h 890"/>
                <a:gd name="T8" fmla="*/ 160713 w 996"/>
                <a:gd name="T9" fmla="*/ 1158987 h 890"/>
                <a:gd name="T10" fmla="*/ 947261 w 996"/>
                <a:gd name="T11" fmla="*/ 1610860 h 890"/>
                <a:gd name="T12" fmla="*/ 1157133 w 996"/>
                <a:gd name="T13" fmla="*/ 1605188 h 890"/>
                <a:gd name="T14" fmla="*/ 1624146 w 996"/>
                <a:gd name="T15" fmla="*/ 1312133 h 890"/>
                <a:gd name="T16" fmla="*/ 1856708 w 996"/>
                <a:gd name="T17" fmla="*/ 1034202 h 8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6" h="890">
                  <a:moveTo>
                    <a:pt x="982" y="547"/>
                  </a:moveTo>
                  <a:cubicBezTo>
                    <a:pt x="980" y="474"/>
                    <a:pt x="982" y="96"/>
                    <a:pt x="982" y="96"/>
                  </a:cubicBezTo>
                  <a:cubicBezTo>
                    <a:pt x="982" y="96"/>
                    <a:pt x="996" y="0"/>
                    <a:pt x="764" y="53"/>
                  </a:cubicBezTo>
                  <a:cubicBezTo>
                    <a:pt x="534" y="105"/>
                    <a:pt x="286" y="222"/>
                    <a:pt x="98" y="453"/>
                  </a:cubicBezTo>
                  <a:cubicBezTo>
                    <a:pt x="73" y="484"/>
                    <a:pt x="0" y="567"/>
                    <a:pt x="85" y="613"/>
                  </a:cubicBezTo>
                  <a:cubicBezTo>
                    <a:pt x="169" y="659"/>
                    <a:pt x="501" y="852"/>
                    <a:pt x="501" y="852"/>
                  </a:cubicBezTo>
                  <a:cubicBezTo>
                    <a:pt x="501" y="852"/>
                    <a:pt x="563" y="890"/>
                    <a:pt x="612" y="849"/>
                  </a:cubicBezTo>
                  <a:cubicBezTo>
                    <a:pt x="661" y="808"/>
                    <a:pt x="764" y="724"/>
                    <a:pt x="859" y="694"/>
                  </a:cubicBezTo>
                  <a:cubicBezTo>
                    <a:pt x="947" y="667"/>
                    <a:pt x="984" y="672"/>
                    <a:pt x="982" y="547"/>
                  </a:cubicBezTo>
                  <a:close/>
                </a:path>
              </a:pathLst>
            </a:custGeom>
            <a:solidFill>
              <a:srgbClr val="006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15"/>
            <p:cNvSpPr/>
            <p:nvPr/>
          </p:nvSpPr>
          <p:spPr>
            <a:xfrm>
              <a:off x="5029476" y="3079880"/>
              <a:ext cx="2121949" cy="840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知识库数量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6174540" y="1222824"/>
              <a:ext cx="1880503" cy="1684408"/>
              <a:chOff x="6030077" y="1032007"/>
              <a:chExt cx="1880503" cy="1684408"/>
            </a:xfrm>
          </p:grpSpPr>
          <p:sp>
            <p:nvSpPr>
              <p:cNvPr id="57" name="Freeform 6"/>
              <p:cNvSpPr/>
              <p:nvPr/>
            </p:nvSpPr>
            <p:spPr bwMode="auto">
              <a:xfrm>
                <a:off x="6030077" y="1032007"/>
                <a:ext cx="1880503" cy="1684408"/>
              </a:xfrm>
              <a:custGeom>
                <a:avLst/>
                <a:gdLst>
                  <a:gd name="T0" fmla="*/ 977844 w 995"/>
                  <a:gd name="T1" fmla="*/ 1576724 h 900"/>
                  <a:gd name="T2" fmla="*/ 1711701 w 995"/>
                  <a:gd name="T3" fmla="*/ 1141896 h 900"/>
                  <a:gd name="T4" fmla="*/ 1571738 w 995"/>
                  <a:gd name="T5" fmla="*/ 746770 h 900"/>
                  <a:gd name="T6" fmla="*/ 278033 w 995"/>
                  <a:gd name="T7" fmla="*/ 49154 h 900"/>
                  <a:gd name="T8" fmla="*/ 5674 w 995"/>
                  <a:gd name="T9" fmla="*/ 181493 h 900"/>
                  <a:gd name="T10" fmla="*/ 17022 w 995"/>
                  <a:gd name="T11" fmla="*/ 1088961 h 900"/>
                  <a:gd name="T12" fmla="*/ 128614 w 995"/>
                  <a:gd name="T13" fmla="*/ 1266673 h 900"/>
                  <a:gd name="T14" fmla="*/ 620373 w 995"/>
                  <a:gd name="T15" fmla="*/ 1520008 h 900"/>
                  <a:gd name="T16" fmla="*/ 977844 w 995"/>
                  <a:gd name="T17" fmla="*/ 1576724 h 9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95" h="900">
                    <a:moveTo>
                      <a:pt x="517" y="834"/>
                    </a:moveTo>
                    <a:cubicBezTo>
                      <a:pt x="579" y="796"/>
                      <a:pt x="905" y="604"/>
                      <a:pt x="905" y="604"/>
                    </a:cubicBezTo>
                    <a:cubicBezTo>
                      <a:pt x="905" y="604"/>
                      <a:pt x="995" y="568"/>
                      <a:pt x="831" y="395"/>
                    </a:cubicBezTo>
                    <a:cubicBezTo>
                      <a:pt x="669" y="223"/>
                      <a:pt x="442" y="70"/>
                      <a:pt x="147" y="26"/>
                    </a:cubicBezTo>
                    <a:cubicBezTo>
                      <a:pt x="108" y="21"/>
                      <a:pt x="0" y="0"/>
                      <a:pt x="3" y="96"/>
                    </a:cubicBezTo>
                    <a:cubicBezTo>
                      <a:pt x="6" y="192"/>
                      <a:pt x="9" y="576"/>
                      <a:pt x="9" y="576"/>
                    </a:cubicBezTo>
                    <a:cubicBezTo>
                      <a:pt x="9" y="576"/>
                      <a:pt x="8" y="649"/>
                      <a:pt x="68" y="670"/>
                    </a:cubicBezTo>
                    <a:cubicBezTo>
                      <a:pt x="128" y="692"/>
                      <a:pt x="253" y="737"/>
                      <a:pt x="328" y="804"/>
                    </a:cubicBezTo>
                    <a:cubicBezTo>
                      <a:pt x="396" y="865"/>
                      <a:pt x="411" y="900"/>
                      <a:pt x="517" y="834"/>
                    </a:cubicBezTo>
                    <a:close/>
                  </a:path>
                </a:pathLst>
              </a:custGeom>
              <a:solidFill>
                <a:srgbClr val="0033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文本框 46"/>
              <p:cNvSpPr txBox="1"/>
              <p:nvPr/>
            </p:nvSpPr>
            <p:spPr>
              <a:xfrm rot="1566660">
                <a:off x="6204572" y="169998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kern="0" dirty="0">
                    <a:solidFill>
                      <a:srgbClr val="F0F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政策解读</a:t>
                </a:r>
              </a:p>
            </p:txBody>
          </p:sp>
        </p:grpSp>
        <p:sp>
          <p:nvSpPr>
            <p:cNvPr id="50" name="文本框 48"/>
            <p:cNvSpPr txBox="1"/>
            <p:nvPr/>
          </p:nvSpPr>
          <p:spPr>
            <a:xfrm rot="20443390">
              <a:off x="4683667" y="1905444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kern="0" dirty="0">
                  <a:solidFill>
                    <a:srgbClr val="F0F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政策法规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6083512" y="3952406"/>
              <a:ext cx="1864961" cy="1693696"/>
              <a:chOff x="5939049" y="3761589"/>
              <a:chExt cx="1864961" cy="1693696"/>
            </a:xfrm>
          </p:grpSpPr>
          <p:sp>
            <p:nvSpPr>
              <p:cNvPr id="55" name="Freeform 7"/>
              <p:cNvSpPr/>
              <p:nvPr/>
            </p:nvSpPr>
            <p:spPr bwMode="auto">
              <a:xfrm>
                <a:off x="5939049" y="3761589"/>
                <a:ext cx="1864961" cy="1693696"/>
              </a:xfrm>
              <a:custGeom>
                <a:avLst/>
                <a:gdLst>
                  <a:gd name="T0" fmla="*/ 7 w 987"/>
                  <a:gd name="T1" fmla="*/ 357 h 905"/>
                  <a:gd name="T2" fmla="*/ 23 w 987"/>
                  <a:gd name="T3" fmla="*/ 808 h 905"/>
                  <a:gd name="T4" fmla="*/ 242 w 987"/>
                  <a:gd name="T5" fmla="*/ 844 h 905"/>
                  <a:gd name="T6" fmla="*/ 894 w 987"/>
                  <a:gd name="T7" fmla="*/ 420 h 905"/>
                  <a:gd name="T8" fmla="*/ 901 w 987"/>
                  <a:gd name="T9" fmla="*/ 261 h 905"/>
                  <a:gd name="T10" fmla="*/ 477 w 987"/>
                  <a:gd name="T11" fmla="*/ 36 h 905"/>
                  <a:gd name="T12" fmla="*/ 366 w 987"/>
                  <a:gd name="T13" fmla="*/ 43 h 905"/>
                  <a:gd name="T14" fmla="*/ 124 w 987"/>
                  <a:gd name="T15" fmla="*/ 206 h 905"/>
                  <a:gd name="T16" fmla="*/ 7 w 987"/>
                  <a:gd name="T17" fmla="*/ 357 h 9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7" h="905">
                    <a:moveTo>
                      <a:pt x="7" y="357"/>
                    </a:moveTo>
                    <a:cubicBezTo>
                      <a:pt x="11" y="430"/>
                      <a:pt x="23" y="808"/>
                      <a:pt x="23" y="808"/>
                    </a:cubicBezTo>
                    <a:cubicBezTo>
                      <a:pt x="23" y="808"/>
                      <a:pt x="11" y="905"/>
                      <a:pt x="242" y="844"/>
                    </a:cubicBezTo>
                    <a:cubicBezTo>
                      <a:pt x="470" y="783"/>
                      <a:pt x="714" y="658"/>
                      <a:pt x="894" y="420"/>
                    </a:cubicBezTo>
                    <a:cubicBezTo>
                      <a:pt x="917" y="389"/>
                      <a:pt x="987" y="304"/>
                      <a:pt x="901" y="261"/>
                    </a:cubicBezTo>
                    <a:cubicBezTo>
                      <a:pt x="815" y="217"/>
                      <a:pt x="477" y="36"/>
                      <a:pt x="477" y="36"/>
                    </a:cubicBezTo>
                    <a:cubicBezTo>
                      <a:pt x="477" y="36"/>
                      <a:pt x="413" y="0"/>
                      <a:pt x="366" y="43"/>
                    </a:cubicBezTo>
                    <a:cubicBezTo>
                      <a:pt x="318" y="85"/>
                      <a:pt x="219" y="173"/>
                      <a:pt x="124" y="206"/>
                    </a:cubicBezTo>
                    <a:cubicBezTo>
                      <a:pt x="38" y="237"/>
                      <a:pt x="0" y="232"/>
                      <a:pt x="7" y="357"/>
                    </a:cubicBez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文本框 49"/>
              <p:cNvSpPr txBox="1"/>
              <p:nvPr/>
            </p:nvSpPr>
            <p:spPr>
              <a:xfrm rot="20180075">
                <a:off x="6093879" y="4308546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kern="0" dirty="0">
                    <a:solidFill>
                      <a:srgbClr val="F0F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回应关切</a:t>
                </a: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4123082" y="3937108"/>
              <a:ext cx="1887163" cy="1679491"/>
              <a:chOff x="3978619" y="3746291"/>
              <a:chExt cx="1887163" cy="1679491"/>
            </a:xfrm>
          </p:grpSpPr>
          <p:sp>
            <p:nvSpPr>
              <p:cNvPr id="53" name="Freeform 8"/>
              <p:cNvSpPr/>
              <p:nvPr/>
            </p:nvSpPr>
            <p:spPr bwMode="auto">
              <a:xfrm>
                <a:off x="3978619" y="3746291"/>
                <a:ext cx="1887163" cy="1679491"/>
              </a:xfrm>
              <a:custGeom>
                <a:avLst/>
                <a:gdLst>
                  <a:gd name="T0" fmla="*/ 477 w 998"/>
                  <a:gd name="T1" fmla="*/ 67 h 898"/>
                  <a:gd name="T2" fmla="*/ 90 w 998"/>
                  <a:gd name="T3" fmla="*/ 299 h 898"/>
                  <a:gd name="T4" fmla="*/ 165 w 998"/>
                  <a:gd name="T5" fmla="*/ 508 h 898"/>
                  <a:gd name="T6" fmla="*/ 851 w 998"/>
                  <a:gd name="T7" fmla="*/ 873 h 898"/>
                  <a:gd name="T8" fmla="*/ 995 w 998"/>
                  <a:gd name="T9" fmla="*/ 802 h 898"/>
                  <a:gd name="T10" fmla="*/ 986 w 998"/>
                  <a:gd name="T11" fmla="*/ 323 h 898"/>
                  <a:gd name="T12" fmla="*/ 926 w 998"/>
                  <a:gd name="T13" fmla="*/ 229 h 898"/>
                  <a:gd name="T14" fmla="*/ 666 w 998"/>
                  <a:gd name="T15" fmla="*/ 96 h 898"/>
                  <a:gd name="T16" fmla="*/ 477 w 998"/>
                  <a:gd name="T17" fmla="*/ 67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8" h="898">
                    <a:moveTo>
                      <a:pt x="477" y="67"/>
                    </a:moveTo>
                    <a:cubicBezTo>
                      <a:pt x="415" y="106"/>
                      <a:pt x="90" y="299"/>
                      <a:pt x="90" y="299"/>
                    </a:cubicBezTo>
                    <a:cubicBezTo>
                      <a:pt x="90" y="299"/>
                      <a:pt x="0" y="336"/>
                      <a:pt x="165" y="508"/>
                    </a:cubicBezTo>
                    <a:cubicBezTo>
                      <a:pt x="328" y="679"/>
                      <a:pt x="556" y="831"/>
                      <a:pt x="851" y="873"/>
                    </a:cubicBezTo>
                    <a:cubicBezTo>
                      <a:pt x="890" y="878"/>
                      <a:pt x="998" y="898"/>
                      <a:pt x="995" y="802"/>
                    </a:cubicBezTo>
                    <a:cubicBezTo>
                      <a:pt x="991" y="706"/>
                      <a:pt x="986" y="323"/>
                      <a:pt x="986" y="323"/>
                    </a:cubicBezTo>
                    <a:cubicBezTo>
                      <a:pt x="986" y="323"/>
                      <a:pt x="986" y="250"/>
                      <a:pt x="926" y="229"/>
                    </a:cubicBezTo>
                    <a:cubicBezTo>
                      <a:pt x="866" y="208"/>
                      <a:pt x="741" y="163"/>
                      <a:pt x="666" y="96"/>
                    </a:cubicBezTo>
                    <a:cubicBezTo>
                      <a:pt x="597" y="36"/>
                      <a:pt x="582" y="0"/>
                      <a:pt x="477" y="67"/>
                    </a:cubicBezTo>
                    <a:close/>
                  </a:path>
                </a:pathLst>
              </a:custGeom>
              <a:solidFill>
                <a:srgbClr val="FF5A0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文本框 50"/>
              <p:cNvSpPr txBox="1"/>
              <p:nvPr/>
            </p:nvSpPr>
            <p:spPr>
              <a:xfrm rot="1780832">
                <a:off x="4504057" y="4328866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kern="0" dirty="0">
                    <a:solidFill>
                      <a:srgbClr val="F0F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热点问题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81729" y="377785"/>
            <a:ext cx="5294403" cy="54938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模型训练流程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832174" y="1571840"/>
            <a:ext cx="1840670" cy="1674084"/>
            <a:chOff x="1246060" y="1515389"/>
            <a:chExt cx="1985265" cy="1805593"/>
          </a:xfrm>
        </p:grpSpPr>
        <p:sp>
          <p:nvSpPr>
            <p:cNvPr id="4" name="椭圆 3"/>
            <p:cNvSpPr/>
            <p:nvPr/>
          </p:nvSpPr>
          <p:spPr>
            <a:xfrm>
              <a:off x="1381729" y="1648345"/>
              <a:ext cx="1571105" cy="1539683"/>
            </a:xfrm>
            <a:prstGeom prst="ellipse">
              <a:avLst/>
            </a:prstGeom>
            <a:solidFill>
              <a:srgbClr val="037D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 rot="19373371">
              <a:off x="1246060" y="1515389"/>
              <a:ext cx="1842442" cy="1805593"/>
            </a:xfrm>
            <a:prstGeom prst="ellipse">
              <a:avLst/>
            </a:prstGeom>
            <a:noFill/>
            <a:ln w="19050">
              <a:gradFill>
                <a:gsLst>
                  <a:gs pos="0">
                    <a:schemeClr val="bg1">
                      <a:lumMod val="75000"/>
                    </a:schemeClr>
                  </a:gs>
                  <a:gs pos="4600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 rot="2441465" flipH="1">
              <a:off x="2167726" y="1834341"/>
              <a:ext cx="1063599" cy="1101371"/>
            </a:xfrm>
            <a:custGeom>
              <a:avLst/>
              <a:gdLst>
                <a:gd name="connsiteX0" fmla="*/ 1000632 w 1000632"/>
                <a:gd name="connsiteY0" fmla="*/ 3929 h 1238544"/>
                <a:gd name="connsiteX1" fmla="*/ 66545 w 1000632"/>
                <a:gd name="connsiteY1" fmla="*/ 1238544 h 1238544"/>
                <a:gd name="connsiteX2" fmla="*/ 41416 w 1000632"/>
                <a:gd name="connsiteY2" fmla="*/ 1171261 h 1238544"/>
                <a:gd name="connsiteX3" fmla="*/ 0 w 1000632"/>
                <a:gd name="connsiteY3" fmla="*/ 902797 h 1238544"/>
                <a:gd name="connsiteX4" fmla="*/ 921221 w 1000632"/>
                <a:gd name="connsiteY4" fmla="*/ 0 h 1238544"/>
                <a:gd name="connsiteX5" fmla="*/ 1000632 w 1000632"/>
                <a:gd name="connsiteY5" fmla="*/ 3929 h 1238544"/>
                <a:gd name="connsiteX0-1" fmla="*/ 1000632 w 1000632"/>
                <a:gd name="connsiteY0-2" fmla="*/ 3929 h 1171261"/>
                <a:gd name="connsiteX1-3" fmla="*/ 41416 w 1000632"/>
                <a:gd name="connsiteY1-4" fmla="*/ 1171261 h 1171261"/>
                <a:gd name="connsiteX2-5" fmla="*/ 0 w 1000632"/>
                <a:gd name="connsiteY2-6" fmla="*/ 902797 h 1171261"/>
                <a:gd name="connsiteX3-7" fmla="*/ 921221 w 1000632"/>
                <a:gd name="connsiteY3-8" fmla="*/ 0 h 1171261"/>
                <a:gd name="connsiteX4-9" fmla="*/ 1000632 w 1000632"/>
                <a:gd name="connsiteY4-10" fmla="*/ 3929 h 1171261"/>
                <a:gd name="connsiteX0-11" fmla="*/ 921221 w 921221"/>
                <a:gd name="connsiteY0-12" fmla="*/ 0 h 1171261"/>
                <a:gd name="connsiteX1-13" fmla="*/ 41416 w 921221"/>
                <a:gd name="connsiteY1-14" fmla="*/ 1171261 h 1171261"/>
                <a:gd name="connsiteX2-15" fmla="*/ 0 w 921221"/>
                <a:gd name="connsiteY2-16" fmla="*/ 902797 h 1171261"/>
                <a:gd name="connsiteX3-17" fmla="*/ 921221 w 921221"/>
                <a:gd name="connsiteY3-18" fmla="*/ 0 h 1171261"/>
                <a:gd name="connsiteX0-19" fmla="*/ 41416 w 1012661"/>
                <a:gd name="connsiteY0-20" fmla="*/ 1092808 h 1092808"/>
                <a:gd name="connsiteX1-21" fmla="*/ 0 w 1012661"/>
                <a:gd name="connsiteY1-22" fmla="*/ 824344 h 1092808"/>
                <a:gd name="connsiteX2-23" fmla="*/ 1012661 w 1012661"/>
                <a:gd name="connsiteY2-24" fmla="*/ 12987 h 1092808"/>
                <a:gd name="connsiteX0-25" fmla="*/ 27984 w 1012661"/>
                <a:gd name="connsiteY0-26" fmla="*/ 1093806 h 1093806"/>
                <a:gd name="connsiteX1-27" fmla="*/ 0 w 1012661"/>
                <a:gd name="connsiteY1-28" fmla="*/ 824344 h 1093806"/>
                <a:gd name="connsiteX2-29" fmla="*/ 1012661 w 1012661"/>
                <a:gd name="connsiteY2-30" fmla="*/ 12987 h 1093806"/>
                <a:gd name="connsiteX0-31" fmla="*/ 42428 w 1027105"/>
                <a:gd name="connsiteY0-32" fmla="*/ 1094129 h 1094129"/>
                <a:gd name="connsiteX1-33" fmla="*/ 0 w 1027105"/>
                <a:gd name="connsiteY1-34" fmla="*/ 812413 h 1094129"/>
                <a:gd name="connsiteX2-35" fmla="*/ 1027105 w 1027105"/>
                <a:gd name="connsiteY2-36" fmla="*/ 13310 h 1094129"/>
                <a:gd name="connsiteX0-37" fmla="*/ 20584 w 1027981"/>
                <a:gd name="connsiteY0-38" fmla="*/ 1086958 h 1086958"/>
                <a:gd name="connsiteX1-39" fmla="*/ 876 w 1027981"/>
                <a:gd name="connsiteY1-40" fmla="*/ 812413 h 1086958"/>
                <a:gd name="connsiteX2-41" fmla="*/ 1027981 w 1027981"/>
                <a:gd name="connsiteY2-42" fmla="*/ 13310 h 1086958"/>
                <a:gd name="connsiteX0-43" fmla="*/ 26824 w 1034221"/>
                <a:gd name="connsiteY0-44" fmla="*/ 1087127 h 1087127"/>
                <a:gd name="connsiteX1-45" fmla="*/ 0 w 1034221"/>
                <a:gd name="connsiteY1-46" fmla="*/ 806454 h 1087127"/>
                <a:gd name="connsiteX2-47" fmla="*/ 1034221 w 1034221"/>
                <a:gd name="connsiteY2-48" fmla="*/ 13479 h 1087127"/>
                <a:gd name="connsiteX0-49" fmla="*/ 18994 w 1026391"/>
                <a:gd name="connsiteY0-50" fmla="*/ 1086904 h 1086904"/>
                <a:gd name="connsiteX1-51" fmla="*/ 1656 w 1026391"/>
                <a:gd name="connsiteY1-52" fmla="*/ 814400 h 1086904"/>
                <a:gd name="connsiteX2-53" fmla="*/ 1026391 w 1026391"/>
                <a:gd name="connsiteY2-54" fmla="*/ 13256 h 1086904"/>
                <a:gd name="connsiteX0-55" fmla="*/ 18994 w 1026391"/>
                <a:gd name="connsiteY0-56" fmla="*/ 1086619 h 1086619"/>
                <a:gd name="connsiteX1-57" fmla="*/ 1656 w 1026391"/>
                <a:gd name="connsiteY1-58" fmla="*/ 814115 h 1086619"/>
                <a:gd name="connsiteX2-59" fmla="*/ 1026391 w 1026391"/>
                <a:gd name="connsiteY2-60" fmla="*/ 12971 h 1086619"/>
                <a:gd name="connsiteX0-61" fmla="*/ 18994 w 1026391"/>
                <a:gd name="connsiteY0-62" fmla="*/ 1085746 h 1085746"/>
                <a:gd name="connsiteX1-63" fmla="*/ 1656 w 1026391"/>
                <a:gd name="connsiteY1-64" fmla="*/ 813242 h 1085746"/>
                <a:gd name="connsiteX2-65" fmla="*/ 1026391 w 1026391"/>
                <a:gd name="connsiteY2-66" fmla="*/ 12098 h 1085746"/>
                <a:gd name="connsiteX0-67" fmla="*/ 19067 w 1026464"/>
                <a:gd name="connsiteY0-68" fmla="*/ 1085746 h 1085746"/>
                <a:gd name="connsiteX1-69" fmla="*/ 1729 w 1026464"/>
                <a:gd name="connsiteY1-70" fmla="*/ 813242 h 1085746"/>
                <a:gd name="connsiteX2-71" fmla="*/ 1026464 w 1026464"/>
                <a:gd name="connsiteY2-72" fmla="*/ 12098 h 1085746"/>
                <a:gd name="connsiteX0-73" fmla="*/ 25444 w 1032841"/>
                <a:gd name="connsiteY0-74" fmla="*/ 1085885 h 1085885"/>
                <a:gd name="connsiteX1-75" fmla="*/ 992 w 1032841"/>
                <a:gd name="connsiteY1-76" fmla="*/ 807254 h 1085885"/>
                <a:gd name="connsiteX2-77" fmla="*/ 1032841 w 1032841"/>
                <a:gd name="connsiteY2-78" fmla="*/ 12237 h 1085885"/>
                <a:gd name="connsiteX0-79" fmla="*/ 15867 w 1036496"/>
                <a:gd name="connsiteY0-80" fmla="*/ 1086883 h 1086883"/>
                <a:gd name="connsiteX1-81" fmla="*/ 4647 w 1036496"/>
                <a:gd name="connsiteY1-82" fmla="*/ 807254 h 1086883"/>
                <a:gd name="connsiteX2-83" fmla="*/ 1036496 w 1036496"/>
                <a:gd name="connsiteY2-84" fmla="*/ 12237 h 1086883"/>
                <a:gd name="connsiteX0-85" fmla="*/ 12580 w 1033209"/>
                <a:gd name="connsiteY0-86" fmla="*/ 1086883 h 1086883"/>
                <a:gd name="connsiteX1-87" fmla="*/ 1360 w 1033209"/>
                <a:gd name="connsiteY1-88" fmla="*/ 807254 h 1086883"/>
                <a:gd name="connsiteX2-89" fmla="*/ 1033209 w 1033209"/>
                <a:gd name="connsiteY2-90" fmla="*/ 12237 h 1086883"/>
                <a:gd name="connsiteX0-91" fmla="*/ 34887 w 1055516"/>
                <a:gd name="connsiteY0-92" fmla="*/ 1087051 h 1087051"/>
                <a:gd name="connsiteX1-93" fmla="*/ 948 w 1055516"/>
                <a:gd name="connsiteY1-94" fmla="*/ 800252 h 1087051"/>
                <a:gd name="connsiteX2-95" fmla="*/ 1055516 w 1055516"/>
                <a:gd name="connsiteY2-96" fmla="*/ 12405 h 1087051"/>
                <a:gd name="connsiteX0-97" fmla="*/ 33947 w 1054576"/>
                <a:gd name="connsiteY0-98" fmla="*/ 1086791 h 1086791"/>
                <a:gd name="connsiteX1-99" fmla="*/ 8 w 1054576"/>
                <a:gd name="connsiteY1-100" fmla="*/ 799992 h 1086791"/>
                <a:gd name="connsiteX2-101" fmla="*/ 1054576 w 1054576"/>
                <a:gd name="connsiteY2-102" fmla="*/ 12145 h 1086791"/>
                <a:gd name="connsiteX0-103" fmla="*/ 33939 w 1054568"/>
                <a:gd name="connsiteY0-104" fmla="*/ 1086716 h 1086716"/>
                <a:gd name="connsiteX1-105" fmla="*/ 0 w 1054568"/>
                <a:gd name="connsiteY1-106" fmla="*/ 799917 h 1086716"/>
                <a:gd name="connsiteX2-107" fmla="*/ 1054568 w 1054568"/>
                <a:gd name="connsiteY2-108" fmla="*/ 12070 h 1086716"/>
                <a:gd name="connsiteX0-109" fmla="*/ 36028 w 1056657"/>
                <a:gd name="connsiteY0-110" fmla="*/ 1086716 h 1086716"/>
                <a:gd name="connsiteX1-111" fmla="*/ 2089 w 1056657"/>
                <a:gd name="connsiteY1-112" fmla="*/ 799917 h 1086716"/>
                <a:gd name="connsiteX2-113" fmla="*/ 1056657 w 1056657"/>
                <a:gd name="connsiteY2-114" fmla="*/ 12070 h 1086716"/>
                <a:gd name="connsiteX0-115" fmla="*/ 33939 w 1054568"/>
                <a:gd name="connsiteY0-116" fmla="*/ 1086716 h 1086716"/>
                <a:gd name="connsiteX1-117" fmla="*/ 0 w 1054568"/>
                <a:gd name="connsiteY1-118" fmla="*/ 799917 h 1086716"/>
                <a:gd name="connsiteX2-119" fmla="*/ 1054568 w 1054568"/>
                <a:gd name="connsiteY2-120" fmla="*/ 12070 h 1086716"/>
                <a:gd name="connsiteX0-121" fmla="*/ 33939 w 1054568"/>
                <a:gd name="connsiteY0-122" fmla="*/ 1086716 h 1086716"/>
                <a:gd name="connsiteX1-123" fmla="*/ 0 w 1054568"/>
                <a:gd name="connsiteY1-124" fmla="*/ 799917 h 1086716"/>
                <a:gd name="connsiteX2-125" fmla="*/ 1054568 w 1054568"/>
                <a:gd name="connsiteY2-126" fmla="*/ 12070 h 1086716"/>
                <a:gd name="connsiteX0-127" fmla="*/ 33939 w 1054568"/>
                <a:gd name="connsiteY0-128" fmla="*/ 1086716 h 1086716"/>
                <a:gd name="connsiteX1-129" fmla="*/ 0 w 1054568"/>
                <a:gd name="connsiteY1-130" fmla="*/ 799917 h 1086716"/>
                <a:gd name="connsiteX2-131" fmla="*/ 1054568 w 1054568"/>
                <a:gd name="connsiteY2-132" fmla="*/ 12070 h 1086716"/>
                <a:gd name="connsiteX0-133" fmla="*/ 33939 w 1054568"/>
                <a:gd name="connsiteY0-134" fmla="*/ 1086716 h 1086716"/>
                <a:gd name="connsiteX1-135" fmla="*/ 0 w 1054568"/>
                <a:gd name="connsiteY1-136" fmla="*/ 799917 h 1086716"/>
                <a:gd name="connsiteX2-137" fmla="*/ 1054568 w 1054568"/>
                <a:gd name="connsiteY2-138" fmla="*/ 12070 h 1086716"/>
                <a:gd name="connsiteX0-139" fmla="*/ 27157 w 1047786"/>
                <a:gd name="connsiteY0-140" fmla="*/ 1086677 h 1086677"/>
                <a:gd name="connsiteX1-141" fmla="*/ 0 w 1047786"/>
                <a:gd name="connsiteY1-142" fmla="*/ 801588 h 1086677"/>
                <a:gd name="connsiteX2-143" fmla="*/ 1047786 w 1047786"/>
                <a:gd name="connsiteY2-144" fmla="*/ 12031 h 1086677"/>
                <a:gd name="connsiteX0-145" fmla="*/ 27157 w 1047786"/>
                <a:gd name="connsiteY0-146" fmla="*/ 1086677 h 1086677"/>
                <a:gd name="connsiteX1-147" fmla="*/ 0 w 1047786"/>
                <a:gd name="connsiteY1-148" fmla="*/ 801588 h 1086677"/>
                <a:gd name="connsiteX2-149" fmla="*/ 1047786 w 1047786"/>
                <a:gd name="connsiteY2-150" fmla="*/ 12031 h 1086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47786" h="1086677">
                  <a:moveTo>
                    <a:pt x="27157" y="1086677"/>
                  </a:moveTo>
                  <a:cubicBezTo>
                    <a:pt x="-5078" y="931186"/>
                    <a:pt x="1331" y="912748"/>
                    <a:pt x="0" y="801588"/>
                  </a:cubicBezTo>
                  <a:cubicBezTo>
                    <a:pt x="11435" y="366544"/>
                    <a:pt x="447570" y="-79409"/>
                    <a:pt x="1047786" y="12031"/>
                  </a:cubicBezTo>
                </a:path>
              </a:pathLst>
            </a:custGeom>
            <a:noFill/>
            <a:ln w="47625">
              <a:solidFill>
                <a:srgbClr val="1E8CE6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785721" y="2031031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</a:rPr>
                <a:t>01</a:t>
              </a:r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322761" y="1571840"/>
            <a:ext cx="1840670" cy="1674084"/>
            <a:chOff x="1246060" y="1515389"/>
            <a:chExt cx="1985265" cy="1805593"/>
          </a:xfrm>
        </p:grpSpPr>
        <p:sp>
          <p:nvSpPr>
            <p:cNvPr id="40" name="椭圆 39"/>
            <p:cNvSpPr/>
            <p:nvPr/>
          </p:nvSpPr>
          <p:spPr>
            <a:xfrm>
              <a:off x="1381729" y="1648345"/>
              <a:ext cx="1571105" cy="1539683"/>
            </a:xfrm>
            <a:prstGeom prst="ellipse">
              <a:avLst/>
            </a:prstGeom>
            <a:solidFill>
              <a:srgbClr val="037D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 rot="19373371">
              <a:off x="1246060" y="1515389"/>
              <a:ext cx="1842442" cy="1805593"/>
            </a:xfrm>
            <a:prstGeom prst="ellipse">
              <a:avLst/>
            </a:prstGeom>
            <a:noFill/>
            <a:ln w="19050">
              <a:gradFill>
                <a:gsLst>
                  <a:gs pos="0">
                    <a:schemeClr val="bg1">
                      <a:lumMod val="75000"/>
                    </a:schemeClr>
                  </a:gs>
                  <a:gs pos="4600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 rot="2441465" flipH="1">
              <a:off x="2167726" y="1834341"/>
              <a:ext cx="1063599" cy="1101371"/>
            </a:xfrm>
            <a:custGeom>
              <a:avLst/>
              <a:gdLst>
                <a:gd name="connsiteX0" fmla="*/ 1000632 w 1000632"/>
                <a:gd name="connsiteY0" fmla="*/ 3929 h 1238544"/>
                <a:gd name="connsiteX1" fmla="*/ 66545 w 1000632"/>
                <a:gd name="connsiteY1" fmla="*/ 1238544 h 1238544"/>
                <a:gd name="connsiteX2" fmla="*/ 41416 w 1000632"/>
                <a:gd name="connsiteY2" fmla="*/ 1171261 h 1238544"/>
                <a:gd name="connsiteX3" fmla="*/ 0 w 1000632"/>
                <a:gd name="connsiteY3" fmla="*/ 902797 h 1238544"/>
                <a:gd name="connsiteX4" fmla="*/ 921221 w 1000632"/>
                <a:gd name="connsiteY4" fmla="*/ 0 h 1238544"/>
                <a:gd name="connsiteX5" fmla="*/ 1000632 w 1000632"/>
                <a:gd name="connsiteY5" fmla="*/ 3929 h 1238544"/>
                <a:gd name="connsiteX0-1" fmla="*/ 1000632 w 1000632"/>
                <a:gd name="connsiteY0-2" fmla="*/ 3929 h 1171261"/>
                <a:gd name="connsiteX1-3" fmla="*/ 41416 w 1000632"/>
                <a:gd name="connsiteY1-4" fmla="*/ 1171261 h 1171261"/>
                <a:gd name="connsiteX2-5" fmla="*/ 0 w 1000632"/>
                <a:gd name="connsiteY2-6" fmla="*/ 902797 h 1171261"/>
                <a:gd name="connsiteX3-7" fmla="*/ 921221 w 1000632"/>
                <a:gd name="connsiteY3-8" fmla="*/ 0 h 1171261"/>
                <a:gd name="connsiteX4-9" fmla="*/ 1000632 w 1000632"/>
                <a:gd name="connsiteY4-10" fmla="*/ 3929 h 1171261"/>
                <a:gd name="connsiteX0-11" fmla="*/ 921221 w 921221"/>
                <a:gd name="connsiteY0-12" fmla="*/ 0 h 1171261"/>
                <a:gd name="connsiteX1-13" fmla="*/ 41416 w 921221"/>
                <a:gd name="connsiteY1-14" fmla="*/ 1171261 h 1171261"/>
                <a:gd name="connsiteX2-15" fmla="*/ 0 w 921221"/>
                <a:gd name="connsiteY2-16" fmla="*/ 902797 h 1171261"/>
                <a:gd name="connsiteX3-17" fmla="*/ 921221 w 921221"/>
                <a:gd name="connsiteY3-18" fmla="*/ 0 h 1171261"/>
                <a:gd name="connsiteX0-19" fmla="*/ 41416 w 1012661"/>
                <a:gd name="connsiteY0-20" fmla="*/ 1092808 h 1092808"/>
                <a:gd name="connsiteX1-21" fmla="*/ 0 w 1012661"/>
                <a:gd name="connsiteY1-22" fmla="*/ 824344 h 1092808"/>
                <a:gd name="connsiteX2-23" fmla="*/ 1012661 w 1012661"/>
                <a:gd name="connsiteY2-24" fmla="*/ 12987 h 1092808"/>
                <a:gd name="connsiteX0-25" fmla="*/ 27984 w 1012661"/>
                <a:gd name="connsiteY0-26" fmla="*/ 1093806 h 1093806"/>
                <a:gd name="connsiteX1-27" fmla="*/ 0 w 1012661"/>
                <a:gd name="connsiteY1-28" fmla="*/ 824344 h 1093806"/>
                <a:gd name="connsiteX2-29" fmla="*/ 1012661 w 1012661"/>
                <a:gd name="connsiteY2-30" fmla="*/ 12987 h 1093806"/>
                <a:gd name="connsiteX0-31" fmla="*/ 42428 w 1027105"/>
                <a:gd name="connsiteY0-32" fmla="*/ 1094129 h 1094129"/>
                <a:gd name="connsiteX1-33" fmla="*/ 0 w 1027105"/>
                <a:gd name="connsiteY1-34" fmla="*/ 812413 h 1094129"/>
                <a:gd name="connsiteX2-35" fmla="*/ 1027105 w 1027105"/>
                <a:gd name="connsiteY2-36" fmla="*/ 13310 h 1094129"/>
                <a:gd name="connsiteX0-37" fmla="*/ 20584 w 1027981"/>
                <a:gd name="connsiteY0-38" fmla="*/ 1086958 h 1086958"/>
                <a:gd name="connsiteX1-39" fmla="*/ 876 w 1027981"/>
                <a:gd name="connsiteY1-40" fmla="*/ 812413 h 1086958"/>
                <a:gd name="connsiteX2-41" fmla="*/ 1027981 w 1027981"/>
                <a:gd name="connsiteY2-42" fmla="*/ 13310 h 1086958"/>
                <a:gd name="connsiteX0-43" fmla="*/ 26824 w 1034221"/>
                <a:gd name="connsiteY0-44" fmla="*/ 1087127 h 1087127"/>
                <a:gd name="connsiteX1-45" fmla="*/ 0 w 1034221"/>
                <a:gd name="connsiteY1-46" fmla="*/ 806454 h 1087127"/>
                <a:gd name="connsiteX2-47" fmla="*/ 1034221 w 1034221"/>
                <a:gd name="connsiteY2-48" fmla="*/ 13479 h 1087127"/>
                <a:gd name="connsiteX0-49" fmla="*/ 18994 w 1026391"/>
                <a:gd name="connsiteY0-50" fmla="*/ 1086904 h 1086904"/>
                <a:gd name="connsiteX1-51" fmla="*/ 1656 w 1026391"/>
                <a:gd name="connsiteY1-52" fmla="*/ 814400 h 1086904"/>
                <a:gd name="connsiteX2-53" fmla="*/ 1026391 w 1026391"/>
                <a:gd name="connsiteY2-54" fmla="*/ 13256 h 1086904"/>
                <a:gd name="connsiteX0-55" fmla="*/ 18994 w 1026391"/>
                <a:gd name="connsiteY0-56" fmla="*/ 1086619 h 1086619"/>
                <a:gd name="connsiteX1-57" fmla="*/ 1656 w 1026391"/>
                <a:gd name="connsiteY1-58" fmla="*/ 814115 h 1086619"/>
                <a:gd name="connsiteX2-59" fmla="*/ 1026391 w 1026391"/>
                <a:gd name="connsiteY2-60" fmla="*/ 12971 h 1086619"/>
                <a:gd name="connsiteX0-61" fmla="*/ 18994 w 1026391"/>
                <a:gd name="connsiteY0-62" fmla="*/ 1085746 h 1085746"/>
                <a:gd name="connsiteX1-63" fmla="*/ 1656 w 1026391"/>
                <a:gd name="connsiteY1-64" fmla="*/ 813242 h 1085746"/>
                <a:gd name="connsiteX2-65" fmla="*/ 1026391 w 1026391"/>
                <a:gd name="connsiteY2-66" fmla="*/ 12098 h 1085746"/>
                <a:gd name="connsiteX0-67" fmla="*/ 19067 w 1026464"/>
                <a:gd name="connsiteY0-68" fmla="*/ 1085746 h 1085746"/>
                <a:gd name="connsiteX1-69" fmla="*/ 1729 w 1026464"/>
                <a:gd name="connsiteY1-70" fmla="*/ 813242 h 1085746"/>
                <a:gd name="connsiteX2-71" fmla="*/ 1026464 w 1026464"/>
                <a:gd name="connsiteY2-72" fmla="*/ 12098 h 1085746"/>
                <a:gd name="connsiteX0-73" fmla="*/ 25444 w 1032841"/>
                <a:gd name="connsiteY0-74" fmla="*/ 1085885 h 1085885"/>
                <a:gd name="connsiteX1-75" fmla="*/ 992 w 1032841"/>
                <a:gd name="connsiteY1-76" fmla="*/ 807254 h 1085885"/>
                <a:gd name="connsiteX2-77" fmla="*/ 1032841 w 1032841"/>
                <a:gd name="connsiteY2-78" fmla="*/ 12237 h 1085885"/>
                <a:gd name="connsiteX0-79" fmla="*/ 15867 w 1036496"/>
                <a:gd name="connsiteY0-80" fmla="*/ 1086883 h 1086883"/>
                <a:gd name="connsiteX1-81" fmla="*/ 4647 w 1036496"/>
                <a:gd name="connsiteY1-82" fmla="*/ 807254 h 1086883"/>
                <a:gd name="connsiteX2-83" fmla="*/ 1036496 w 1036496"/>
                <a:gd name="connsiteY2-84" fmla="*/ 12237 h 1086883"/>
                <a:gd name="connsiteX0-85" fmla="*/ 12580 w 1033209"/>
                <a:gd name="connsiteY0-86" fmla="*/ 1086883 h 1086883"/>
                <a:gd name="connsiteX1-87" fmla="*/ 1360 w 1033209"/>
                <a:gd name="connsiteY1-88" fmla="*/ 807254 h 1086883"/>
                <a:gd name="connsiteX2-89" fmla="*/ 1033209 w 1033209"/>
                <a:gd name="connsiteY2-90" fmla="*/ 12237 h 1086883"/>
                <a:gd name="connsiteX0-91" fmla="*/ 34887 w 1055516"/>
                <a:gd name="connsiteY0-92" fmla="*/ 1087051 h 1087051"/>
                <a:gd name="connsiteX1-93" fmla="*/ 948 w 1055516"/>
                <a:gd name="connsiteY1-94" fmla="*/ 800252 h 1087051"/>
                <a:gd name="connsiteX2-95" fmla="*/ 1055516 w 1055516"/>
                <a:gd name="connsiteY2-96" fmla="*/ 12405 h 1087051"/>
                <a:gd name="connsiteX0-97" fmla="*/ 33947 w 1054576"/>
                <a:gd name="connsiteY0-98" fmla="*/ 1086791 h 1086791"/>
                <a:gd name="connsiteX1-99" fmla="*/ 8 w 1054576"/>
                <a:gd name="connsiteY1-100" fmla="*/ 799992 h 1086791"/>
                <a:gd name="connsiteX2-101" fmla="*/ 1054576 w 1054576"/>
                <a:gd name="connsiteY2-102" fmla="*/ 12145 h 1086791"/>
                <a:gd name="connsiteX0-103" fmla="*/ 33939 w 1054568"/>
                <a:gd name="connsiteY0-104" fmla="*/ 1086716 h 1086716"/>
                <a:gd name="connsiteX1-105" fmla="*/ 0 w 1054568"/>
                <a:gd name="connsiteY1-106" fmla="*/ 799917 h 1086716"/>
                <a:gd name="connsiteX2-107" fmla="*/ 1054568 w 1054568"/>
                <a:gd name="connsiteY2-108" fmla="*/ 12070 h 1086716"/>
                <a:gd name="connsiteX0-109" fmla="*/ 36028 w 1056657"/>
                <a:gd name="connsiteY0-110" fmla="*/ 1086716 h 1086716"/>
                <a:gd name="connsiteX1-111" fmla="*/ 2089 w 1056657"/>
                <a:gd name="connsiteY1-112" fmla="*/ 799917 h 1086716"/>
                <a:gd name="connsiteX2-113" fmla="*/ 1056657 w 1056657"/>
                <a:gd name="connsiteY2-114" fmla="*/ 12070 h 1086716"/>
                <a:gd name="connsiteX0-115" fmla="*/ 33939 w 1054568"/>
                <a:gd name="connsiteY0-116" fmla="*/ 1086716 h 1086716"/>
                <a:gd name="connsiteX1-117" fmla="*/ 0 w 1054568"/>
                <a:gd name="connsiteY1-118" fmla="*/ 799917 h 1086716"/>
                <a:gd name="connsiteX2-119" fmla="*/ 1054568 w 1054568"/>
                <a:gd name="connsiteY2-120" fmla="*/ 12070 h 1086716"/>
                <a:gd name="connsiteX0-121" fmla="*/ 33939 w 1054568"/>
                <a:gd name="connsiteY0-122" fmla="*/ 1086716 h 1086716"/>
                <a:gd name="connsiteX1-123" fmla="*/ 0 w 1054568"/>
                <a:gd name="connsiteY1-124" fmla="*/ 799917 h 1086716"/>
                <a:gd name="connsiteX2-125" fmla="*/ 1054568 w 1054568"/>
                <a:gd name="connsiteY2-126" fmla="*/ 12070 h 1086716"/>
                <a:gd name="connsiteX0-127" fmla="*/ 33939 w 1054568"/>
                <a:gd name="connsiteY0-128" fmla="*/ 1086716 h 1086716"/>
                <a:gd name="connsiteX1-129" fmla="*/ 0 w 1054568"/>
                <a:gd name="connsiteY1-130" fmla="*/ 799917 h 1086716"/>
                <a:gd name="connsiteX2-131" fmla="*/ 1054568 w 1054568"/>
                <a:gd name="connsiteY2-132" fmla="*/ 12070 h 1086716"/>
                <a:gd name="connsiteX0-133" fmla="*/ 33939 w 1054568"/>
                <a:gd name="connsiteY0-134" fmla="*/ 1086716 h 1086716"/>
                <a:gd name="connsiteX1-135" fmla="*/ 0 w 1054568"/>
                <a:gd name="connsiteY1-136" fmla="*/ 799917 h 1086716"/>
                <a:gd name="connsiteX2-137" fmla="*/ 1054568 w 1054568"/>
                <a:gd name="connsiteY2-138" fmla="*/ 12070 h 1086716"/>
                <a:gd name="connsiteX0-139" fmla="*/ 27157 w 1047786"/>
                <a:gd name="connsiteY0-140" fmla="*/ 1086677 h 1086677"/>
                <a:gd name="connsiteX1-141" fmla="*/ 0 w 1047786"/>
                <a:gd name="connsiteY1-142" fmla="*/ 801588 h 1086677"/>
                <a:gd name="connsiteX2-143" fmla="*/ 1047786 w 1047786"/>
                <a:gd name="connsiteY2-144" fmla="*/ 12031 h 1086677"/>
                <a:gd name="connsiteX0-145" fmla="*/ 27157 w 1047786"/>
                <a:gd name="connsiteY0-146" fmla="*/ 1086677 h 1086677"/>
                <a:gd name="connsiteX1-147" fmla="*/ 0 w 1047786"/>
                <a:gd name="connsiteY1-148" fmla="*/ 801588 h 1086677"/>
                <a:gd name="connsiteX2-149" fmla="*/ 1047786 w 1047786"/>
                <a:gd name="connsiteY2-150" fmla="*/ 12031 h 1086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47786" h="1086677">
                  <a:moveTo>
                    <a:pt x="27157" y="1086677"/>
                  </a:moveTo>
                  <a:cubicBezTo>
                    <a:pt x="-5078" y="931186"/>
                    <a:pt x="1331" y="912748"/>
                    <a:pt x="0" y="801588"/>
                  </a:cubicBezTo>
                  <a:cubicBezTo>
                    <a:pt x="11435" y="366544"/>
                    <a:pt x="447570" y="-79409"/>
                    <a:pt x="1047786" y="12031"/>
                  </a:cubicBezTo>
                </a:path>
              </a:pathLst>
            </a:custGeom>
            <a:noFill/>
            <a:ln w="47625">
              <a:solidFill>
                <a:srgbClr val="1E8CE6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754576" y="2038863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</a:rPr>
                <a:t>02</a:t>
              </a:r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9621108" y="1572664"/>
            <a:ext cx="1827199" cy="1708249"/>
            <a:chOff x="1099341" y="1496965"/>
            <a:chExt cx="1970736" cy="1842442"/>
          </a:xfrm>
        </p:grpSpPr>
        <p:sp>
          <p:nvSpPr>
            <p:cNvPr id="45" name="椭圆 44"/>
            <p:cNvSpPr/>
            <p:nvPr/>
          </p:nvSpPr>
          <p:spPr>
            <a:xfrm>
              <a:off x="1381729" y="1648345"/>
              <a:ext cx="1571105" cy="1539683"/>
            </a:xfrm>
            <a:prstGeom prst="ellipse">
              <a:avLst/>
            </a:prstGeom>
            <a:solidFill>
              <a:srgbClr val="037D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 rot="4419012">
              <a:off x="1246060" y="1515389"/>
              <a:ext cx="1842442" cy="1805593"/>
            </a:xfrm>
            <a:prstGeom prst="ellipse">
              <a:avLst/>
            </a:prstGeom>
            <a:noFill/>
            <a:ln w="19050">
              <a:gradFill>
                <a:gsLst>
                  <a:gs pos="0">
                    <a:schemeClr val="bg1">
                      <a:lumMod val="75000"/>
                    </a:schemeClr>
                  </a:gs>
                  <a:gs pos="4600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 rot="19158535">
              <a:off x="1099341" y="1834341"/>
              <a:ext cx="1063599" cy="1101371"/>
            </a:xfrm>
            <a:custGeom>
              <a:avLst/>
              <a:gdLst>
                <a:gd name="connsiteX0" fmla="*/ 1000632 w 1000632"/>
                <a:gd name="connsiteY0" fmla="*/ 3929 h 1238544"/>
                <a:gd name="connsiteX1" fmla="*/ 66545 w 1000632"/>
                <a:gd name="connsiteY1" fmla="*/ 1238544 h 1238544"/>
                <a:gd name="connsiteX2" fmla="*/ 41416 w 1000632"/>
                <a:gd name="connsiteY2" fmla="*/ 1171261 h 1238544"/>
                <a:gd name="connsiteX3" fmla="*/ 0 w 1000632"/>
                <a:gd name="connsiteY3" fmla="*/ 902797 h 1238544"/>
                <a:gd name="connsiteX4" fmla="*/ 921221 w 1000632"/>
                <a:gd name="connsiteY4" fmla="*/ 0 h 1238544"/>
                <a:gd name="connsiteX5" fmla="*/ 1000632 w 1000632"/>
                <a:gd name="connsiteY5" fmla="*/ 3929 h 1238544"/>
                <a:gd name="connsiteX0-1" fmla="*/ 1000632 w 1000632"/>
                <a:gd name="connsiteY0-2" fmla="*/ 3929 h 1171261"/>
                <a:gd name="connsiteX1-3" fmla="*/ 41416 w 1000632"/>
                <a:gd name="connsiteY1-4" fmla="*/ 1171261 h 1171261"/>
                <a:gd name="connsiteX2-5" fmla="*/ 0 w 1000632"/>
                <a:gd name="connsiteY2-6" fmla="*/ 902797 h 1171261"/>
                <a:gd name="connsiteX3-7" fmla="*/ 921221 w 1000632"/>
                <a:gd name="connsiteY3-8" fmla="*/ 0 h 1171261"/>
                <a:gd name="connsiteX4-9" fmla="*/ 1000632 w 1000632"/>
                <a:gd name="connsiteY4-10" fmla="*/ 3929 h 1171261"/>
                <a:gd name="connsiteX0-11" fmla="*/ 921221 w 921221"/>
                <a:gd name="connsiteY0-12" fmla="*/ 0 h 1171261"/>
                <a:gd name="connsiteX1-13" fmla="*/ 41416 w 921221"/>
                <a:gd name="connsiteY1-14" fmla="*/ 1171261 h 1171261"/>
                <a:gd name="connsiteX2-15" fmla="*/ 0 w 921221"/>
                <a:gd name="connsiteY2-16" fmla="*/ 902797 h 1171261"/>
                <a:gd name="connsiteX3-17" fmla="*/ 921221 w 921221"/>
                <a:gd name="connsiteY3-18" fmla="*/ 0 h 1171261"/>
                <a:gd name="connsiteX0-19" fmla="*/ 41416 w 1012661"/>
                <a:gd name="connsiteY0-20" fmla="*/ 1092808 h 1092808"/>
                <a:gd name="connsiteX1-21" fmla="*/ 0 w 1012661"/>
                <a:gd name="connsiteY1-22" fmla="*/ 824344 h 1092808"/>
                <a:gd name="connsiteX2-23" fmla="*/ 1012661 w 1012661"/>
                <a:gd name="connsiteY2-24" fmla="*/ 12987 h 1092808"/>
                <a:gd name="connsiteX0-25" fmla="*/ 27984 w 1012661"/>
                <a:gd name="connsiteY0-26" fmla="*/ 1093806 h 1093806"/>
                <a:gd name="connsiteX1-27" fmla="*/ 0 w 1012661"/>
                <a:gd name="connsiteY1-28" fmla="*/ 824344 h 1093806"/>
                <a:gd name="connsiteX2-29" fmla="*/ 1012661 w 1012661"/>
                <a:gd name="connsiteY2-30" fmla="*/ 12987 h 1093806"/>
                <a:gd name="connsiteX0-31" fmla="*/ 42428 w 1027105"/>
                <a:gd name="connsiteY0-32" fmla="*/ 1094129 h 1094129"/>
                <a:gd name="connsiteX1-33" fmla="*/ 0 w 1027105"/>
                <a:gd name="connsiteY1-34" fmla="*/ 812413 h 1094129"/>
                <a:gd name="connsiteX2-35" fmla="*/ 1027105 w 1027105"/>
                <a:gd name="connsiteY2-36" fmla="*/ 13310 h 1094129"/>
                <a:gd name="connsiteX0-37" fmla="*/ 20584 w 1027981"/>
                <a:gd name="connsiteY0-38" fmla="*/ 1086958 h 1086958"/>
                <a:gd name="connsiteX1-39" fmla="*/ 876 w 1027981"/>
                <a:gd name="connsiteY1-40" fmla="*/ 812413 h 1086958"/>
                <a:gd name="connsiteX2-41" fmla="*/ 1027981 w 1027981"/>
                <a:gd name="connsiteY2-42" fmla="*/ 13310 h 1086958"/>
                <a:gd name="connsiteX0-43" fmla="*/ 26824 w 1034221"/>
                <a:gd name="connsiteY0-44" fmla="*/ 1087127 h 1087127"/>
                <a:gd name="connsiteX1-45" fmla="*/ 0 w 1034221"/>
                <a:gd name="connsiteY1-46" fmla="*/ 806454 h 1087127"/>
                <a:gd name="connsiteX2-47" fmla="*/ 1034221 w 1034221"/>
                <a:gd name="connsiteY2-48" fmla="*/ 13479 h 1087127"/>
                <a:gd name="connsiteX0-49" fmla="*/ 18994 w 1026391"/>
                <a:gd name="connsiteY0-50" fmla="*/ 1086904 h 1086904"/>
                <a:gd name="connsiteX1-51" fmla="*/ 1656 w 1026391"/>
                <a:gd name="connsiteY1-52" fmla="*/ 814400 h 1086904"/>
                <a:gd name="connsiteX2-53" fmla="*/ 1026391 w 1026391"/>
                <a:gd name="connsiteY2-54" fmla="*/ 13256 h 1086904"/>
                <a:gd name="connsiteX0-55" fmla="*/ 18994 w 1026391"/>
                <a:gd name="connsiteY0-56" fmla="*/ 1086619 h 1086619"/>
                <a:gd name="connsiteX1-57" fmla="*/ 1656 w 1026391"/>
                <a:gd name="connsiteY1-58" fmla="*/ 814115 h 1086619"/>
                <a:gd name="connsiteX2-59" fmla="*/ 1026391 w 1026391"/>
                <a:gd name="connsiteY2-60" fmla="*/ 12971 h 1086619"/>
                <a:gd name="connsiteX0-61" fmla="*/ 18994 w 1026391"/>
                <a:gd name="connsiteY0-62" fmla="*/ 1085746 h 1085746"/>
                <a:gd name="connsiteX1-63" fmla="*/ 1656 w 1026391"/>
                <a:gd name="connsiteY1-64" fmla="*/ 813242 h 1085746"/>
                <a:gd name="connsiteX2-65" fmla="*/ 1026391 w 1026391"/>
                <a:gd name="connsiteY2-66" fmla="*/ 12098 h 1085746"/>
                <a:gd name="connsiteX0-67" fmla="*/ 19067 w 1026464"/>
                <a:gd name="connsiteY0-68" fmla="*/ 1085746 h 1085746"/>
                <a:gd name="connsiteX1-69" fmla="*/ 1729 w 1026464"/>
                <a:gd name="connsiteY1-70" fmla="*/ 813242 h 1085746"/>
                <a:gd name="connsiteX2-71" fmla="*/ 1026464 w 1026464"/>
                <a:gd name="connsiteY2-72" fmla="*/ 12098 h 1085746"/>
                <a:gd name="connsiteX0-73" fmla="*/ 25444 w 1032841"/>
                <a:gd name="connsiteY0-74" fmla="*/ 1085885 h 1085885"/>
                <a:gd name="connsiteX1-75" fmla="*/ 992 w 1032841"/>
                <a:gd name="connsiteY1-76" fmla="*/ 807254 h 1085885"/>
                <a:gd name="connsiteX2-77" fmla="*/ 1032841 w 1032841"/>
                <a:gd name="connsiteY2-78" fmla="*/ 12237 h 1085885"/>
                <a:gd name="connsiteX0-79" fmla="*/ 15867 w 1036496"/>
                <a:gd name="connsiteY0-80" fmla="*/ 1086883 h 1086883"/>
                <a:gd name="connsiteX1-81" fmla="*/ 4647 w 1036496"/>
                <a:gd name="connsiteY1-82" fmla="*/ 807254 h 1086883"/>
                <a:gd name="connsiteX2-83" fmla="*/ 1036496 w 1036496"/>
                <a:gd name="connsiteY2-84" fmla="*/ 12237 h 1086883"/>
                <a:gd name="connsiteX0-85" fmla="*/ 12580 w 1033209"/>
                <a:gd name="connsiteY0-86" fmla="*/ 1086883 h 1086883"/>
                <a:gd name="connsiteX1-87" fmla="*/ 1360 w 1033209"/>
                <a:gd name="connsiteY1-88" fmla="*/ 807254 h 1086883"/>
                <a:gd name="connsiteX2-89" fmla="*/ 1033209 w 1033209"/>
                <a:gd name="connsiteY2-90" fmla="*/ 12237 h 1086883"/>
                <a:gd name="connsiteX0-91" fmla="*/ 34887 w 1055516"/>
                <a:gd name="connsiteY0-92" fmla="*/ 1087051 h 1087051"/>
                <a:gd name="connsiteX1-93" fmla="*/ 948 w 1055516"/>
                <a:gd name="connsiteY1-94" fmla="*/ 800252 h 1087051"/>
                <a:gd name="connsiteX2-95" fmla="*/ 1055516 w 1055516"/>
                <a:gd name="connsiteY2-96" fmla="*/ 12405 h 1087051"/>
                <a:gd name="connsiteX0-97" fmla="*/ 33947 w 1054576"/>
                <a:gd name="connsiteY0-98" fmla="*/ 1086791 h 1086791"/>
                <a:gd name="connsiteX1-99" fmla="*/ 8 w 1054576"/>
                <a:gd name="connsiteY1-100" fmla="*/ 799992 h 1086791"/>
                <a:gd name="connsiteX2-101" fmla="*/ 1054576 w 1054576"/>
                <a:gd name="connsiteY2-102" fmla="*/ 12145 h 1086791"/>
                <a:gd name="connsiteX0-103" fmla="*/ 33939 w 1054568"/>
                <a:gd name="connsiteY0-104" fmla="*/ 1086716 h 1086716"/>
                <a:gd name="connsiteX1-105" fmla="*/ 0 w 1054568"/>
                <a:gd name="connsiteY1-106" fmla="*/ 799917 h 1086716"/>
                <a:gd name="connsiteX2-107" fmla="*/ 1054568 w 1054568"/>
                <a:gd name="connsiteY2-108" fmla="*/ 12070 h 1086716"/>
                <a:gd name="connsiteX0-109" fmla="*/ 36028 w 1056657"/>
                <a:gd name="connsiteY0-110" fmla="*/ 1086716 h 1086716"/>
                <a:gd name="connsiteX1-111" fmla="*/ 2089 w 1056657"/>
                <a:gd name="connsiteY1-112" fmla="*/ 799917 h 1086716"/>
                <a:gd name="connsiteX2-113" fmla="*/ 1056657 w 1056657"/>
                <a:gd name="connsiteY2-114" fmla="*/ 12070 h 1086716"/>
                <a:gd name="connsiteX0-115" fmla="*/ 33939 w 1054568"/>
                <a:gd name="connsiteY0-116" fmla="*/ 1086716 h 1086716"/>
                <a:gd name="connsiteX1-117" fmla="*/ 0 w 1054568"/>
                <a:gd name="connsiteY1-118" fmla="*/ 799917 h 1086716"/>
                <a:gd name="connsiteX2-119" fmla="*/ 1054568 w 1054568"/>
                <a:gd name="connsiteY2-120" fmla="*/ 12070 h 1086716"/>
                <a:gd name="connsiteX0-121" fmla="*/ 33939 w 1054568"/>
                <a:gd name="connsiteY0-122" fmla="*/ 1086716 h 1086716"/>
                <a:gd name="connsiteX1-123" fmla="*/ 0 w 1054568"/>
                <a:gd name="connsiteY1-124" fmla="*/ 799917 h 1086716"/>
                <a:gd name="connsiteX2-125" fmla="*/ 1054568 w 1054568"/>
                <a:gd name="connsiteY2-126" fmla="*/ 12070 h 1086716"/>
                <a:gd name="connsiteX0-127" fmla="*/ 33939 w 1054568"/>
                <a:gd name="connsiteY0-128" fmla="*/ 1086716 h 1086716"/>
                <a:gd name="connsiteX1-129" fmla="*/ 0 w 1054568"/>
                <a:gd name="connsiteY1-130" fmla="*/ 799917 h 1086716"/>
                <a:gd name="connsiteX2-131" fmla="*/ 1054568 w 1054568"/>
                <a:gd name="connsiteY2-132" fmla="*/ 12070 h 1086716"/>
                <a:gd name="connsiteX0-133" fmla="*/ 33939 w 1054568"/>
                <a:gd name="connsiteY0-134" fmla="*/ 1086716 h 1086716"/>
                <a:gd name="connsiteX1-135" fmla="*/ 0 w 1054568"/>
                <a:gd name="connsiteY1-136" fmla="*/ 799917 h 1086716"/>
                <a:gd name="connsiteX2-137" fmla="*/ 1054568 w 1054568"/>
                <a:gd name="connsiteY2-138" fmla="*/ 12070 h 1086716"/>
                <a:gd name="connsiteX0-139" fmla="*/ 27157 w 1047786"/>
                <a:gd name="connsiteY0-140" fmla="*/ 1086677 h 1086677"/>
                <a:gd name="connsiteX1-141" fmla="*/ 0 w 1047786"/>
                <a:gd name="connsiteY1-142" fmla="*/ 801588 h 1086677"/>
                <a:gd name="connsiteX2-143" fmla="*/ 1047786 w 1047786"/>
                <a:gd name="connsiteY2-144" fmla="*/ 12031 h 1086677"/>
                <a:gd name="connsiteX0-145" fmla="*/ 27157 w 1047786"/>
                <a:gd name="connsiteY0-146" fmla="*/ 1086677 h 1086677"/>
                <a:gd name="connsiteX1-147" fmla="*/ 0 w 1047786"/>
                <a:gd name="connsiteY1-148" fmla="*/ 801588 h 1086677"/>
                <a:gd name="connsiteX2-149" fmla="*/ 1047786 w 1047786"/>
                <a:gd name="connsiteY2-150" fmla="*/ 12031 h 1086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47786" h="1086677">
                  <a:moveTo>
                    <a:pt x="27157" y="1086677"/>
                  </a:moveTo>
                  <a:cubicBezTo>
                    <a:pt x="-5078" y="931186"/>
                    <a:pt x="1331" y="912748"/>
                    <a:pt x="0" y="801588"/>
                  </a:cubicBezTo>
                  <a:cubicBezTo>
                    <a:pt x="11435" y="366544"/>
                    <a:pt x="447570" y="-79409"/>
                    <a:pt x="1047786" y="12031"/>
                  </a:cubicBezTo>
                </a:path>
              </a:pathLst>
            </a:custGeom>
            <a:noFill/>
            <a:ln w="47625">
              <a:solidFill>
                <a:srgbClr val="1E8CE6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781521" y="2032532"/>
              <a:ext cx="7008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</a:rPr>
                <a:t>03</a:t>
              </a:r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0" name="直接连接符 49"/>
          <p:cNvCxnSpPr>
            <a:endCxn id="51" idx="2"/>
          </p:cNvCxnSpPr>
          <p:nvPr/>
        </p:nvCxnSpPr>
        <p:spPr>
          <a:xfrm flipV="1">
            <a:off x="2550695" y="2470057"/>
            <a:ext cx="2718609" cy="4578"/>
          </a:xfrm>
          <a:prstGeom prst="line">
            <a:avLst/>
          </a:prstGeom>
          <a:ln w="28575">
            <a:solidFill>
              <a:srgbClr val="1E8C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/>
          <p:cNvSpPr/>
          <p:nvPr/>
        </p:nvSpPr>
        <p:spPr>
          <a:xfrm>
            <a:off x="5269304" y="2411787"/>
            <a:ext cx="116539" cy="116539"/>
          </a:xfrm>
          <a:prstGeom prst="ellipse">
            <a:avLst/>
          </a:prstGeom>
          <a:solidFill>
            <a:srgbClr val="026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6995581" y="2411787"/>
            <a:ext cx="116539" cy="116539"/>
          </a:xfrm>
          <a:prstGeom prst="ellipse">
            <a:avLst/>
          </a:prstGeom>
          <a:solidFill>
            <a:srgbClr val="026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连接符 53"/>
          <p:cNvCxnSpPr>
            <a:stCxn id="53" idx="6"/>
          </p:cNvCxnSpPr>
          <p:nvPr/>
        </p:nvCxnSpPr>
        <p:spPr>
          <a:xfrm>
            <a:off x="7112120" y="2470057"/>
            <a:ext cx="2626695" cy="0"/>
          </a:xfrm>
          <a:prstGeom prst="line">
            <a:avLst/>
          </a:prstGeom>
          <a:ln w="28575">
            <a:solidFill>
              <a:srgbClr val="1E8C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55281" y="3363831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创建目标任务</a:t>
            </a:r>
          </a:p>
        </p:txBody>
      </p:sp>
      <p:sp>
        <p:nvSpPr>
          <p:cNvPr id="56" name="矩形 55"/>
          <p:cNvSpPr/>
          <p:nvPr/>
        </p:nvSpPr>
        <p:spPr>
          <a:xfrm rot="18859424">
            <a:off x="507287" y="3421339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99204" y="3663780"/>
            <a:ext cx="3642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定义任务</a:t>
            </a:r>
            <a:r>
              <a:rPr lang="en-US" altLang="zh-CN" sz="1400" dirty="0"/>
              <a:t>Prompt</a:t>
            </a:r>
            <a:r>
              <a:rPr lang="zh-CN" altLang="en-US" sz="1400" dirty="0"/>
              <a:t>，定义模型输入输出，评测不同的大模型在该任务的表现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55281" y="4230926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快速收集数据</a:t>
            </a:r>
          </a:p>
        </p:txBody>
      </p:sp>
      <p:sp>
        <p:nvSpPr>
          <p:cNvPr id="63" name="矩形 62"/>
          <p:cNvSpPr/>
          <p:nvPr/>
        </p:nvSpPr>
        <p:spPr>
          <a:xfrm rot="18859424">
            <a:off x="507287" y="4288434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399204" y="4530875"/>
            <a:ext cx="3642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利用数据收录系统。大模型快速生成训练数据集，节省时间成本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55281" y="5111108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数据在线管理</a:t>
            </a:r>
          </a:p>
        </p:txBody>
      </p:sp>
      <p:sp>
        <p:nvSpPr>
          <p:cNvPr id="66" name="矩形 65"/>
          <p:cNvSpPr/>
          <p:nvPr/>
        </p:nvSpPr>
        <p:spPr>
          <a:xfrm rot="18859424">
            <a:off x="507287" y="5178241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399204" y="5420682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实时监控、清洗和管理训练数据集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939893" y="1132111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1E8CE6"/>
                </a:solidFill>
              </a:rPr>
              <a:t>模型准备阶段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5310301" y="1132111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1E8CE6"/>
                </a:solidFill>
              </a:rPr>
              <a:t>模型训练阶段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9680709" y="1132111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1E8CE6"/>
                </a:solidFill>
              </a:rPr>
              <a:t>模型调优阶段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5327028" y="3354206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创建训练模型</a:t>
            </a:r>
          </a:p>
        </p:txBody>
      </p:sp>
      <p:sp>
        <p:nvSpPr>
          <p:cNvPr id="82" name="矩形 81"/>
          <p:cNvSpPr/>
          <p:nvPr/>
        </p:nvSpPr>
        <p:spPr>
          <a:xfrm rot="18859424">
            <a:off x="5079034" y="3421339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4970951" y="3663780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设计模型架构与参数，准备训练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5327028" y="399029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选择适配模型</a:t>
            </a:r>
          </a:p>
        </p:txBody>
      </p:sp>
      <p:sp>
        <p:nvSpPr>
          <p:cNvPr id="85" name="矩形 84"/>
          <p:cNvSpPr/>
          <p:nvPr/>
        </p:nvSpPr>
        <p:spPr>
          <a:xfrm rot="18859424">
            <a:off x="5079034" y="4057428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4970951" y="4299869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根据需求选择最佳模型架构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5327028" y="4649094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发起训练任务</a:t>
            </a:r>
          </a:p>
        </p:txBody>
      </p:sp>
      <p:sp>
        <p:nvSpPr>
          <p:cNvPr id="88" name="矩形 87"/>
          <p:cNvSpPr/>
          <p:nvPr/>
        </p:nvSpPr>
        <p:spPr>
          <a:xfrm rot="18859424">
            <a:off x="5079034" y="4706602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4970951" y="4949043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一键启动训练，实时监控训练状态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5327028" y="5288643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模型效果评估</a:t>
            </a:r>
          </a:p>
        </p:txBody>
      </p:sp>
      <p:sp>
        <p:nvSpPr>
          <p:cNvPr id="91" name="矩形 90"/>
          <p:cNvSpPr/>
          <p:nvPr/>
        </p:nvSpPr>
        <p:spPr>
          <a:xfrm rot="18859424">
            <a:off x="5088659" y="5346151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4970951" y="5598217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利用测试集全面评估模型性能和表现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5327028" y="5937817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模型一键部署</a:t>
            </a:r>
          </a:p>
        </p:txBody>
      </p:sp>
      <p:sp>
        <p:nvSpPr>
          <p:cNvPr id="94" name="矩形 93"/>
          <p:cNvSpPr/>
          <p:nvPr/>
        </p:nvSpPr>
        <p:spPr>
          <a:xfrm rot="18859424">
            <a:off x="5079034" y="6004950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/>
        </p:nvSpPr>
        <p:spPr>
          <a:xfrm>
            <a:off x="4970951" y="6247391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快速实现模型上线并生成</a:t>
            </a:r>
            <a:r>
              <a:rPr lang="en-US" altLang="zh-CN" sz="1400" dirty="0"/>
              <a:t>API</a:t>
            </a:r>
            <a:r>
              <a:rPr lang="zh-CN" altLang="en-US" sz="1400" dirty="0"/>
              <a:t>接口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9358391" y="3363831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任务运行监控</a:t>
            </a:r>
          </a:p>
        </p:txBody>
      </p:sp>
      <p:sp>
        <p:nvSpPr>
          <p:cNvPr id="112" name="矩形 111"/>
          <p:cNvSpPr/>
          <p:nvPr/>
        </p:nvSpPr>
        <p:spPr>
          <a:xfrm rot="18859424">
            <a:off x="9110397" y="3421339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9002314" y="3663780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跟踪模型运行日志，监控性能和资源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9358391" y="3999920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服务智能质检</a:t>
            </a:r>
          </a:p>
        </p:txBody>
      </p:sp>
      <p:sp>
        <p:nvSpPr>
          <p:cNvPr id="115" name="矩形 114"/>
          <p:cNvSpPr/>
          <p:nvPr/>
        </p:nvSpPr>
        <p:spPr>
          <a:xfrm rot="18859424">
            <a:off x="9110397" y="4057428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/>
          <p:cNvSpPr txBox="1"/>
          <p:nvPr/>
        </p:nvSpPr>
        <p:spPr>
          <a:xfrm>
            <a:off x="9002314" y="4299869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机器审核模型输出，调优不良数据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9358391" y="4649094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模型增量训练</a:t>
            </a:r>
          </a:p>
        </p:txBody>
      </p:sp>
      <p:sp>
        <p:nvSpPr>
          <p:cNvPr id="118" name="矩形 117"/>
          <p:cNvSpPr/>
          <p:nvPr/>
        </p:nvSpPr>
        <p:spPr>
          <a:xfrm rot="18859424">
            <a:off x="9110397" y="4706602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文本框 118"/>
          <p:cNvSpPr txBox="1"/>
          <p:nvPr/>
        </p:nvSpPr>
        <p:spPr>
          <a:xfrm>
            <a:off x="9002314" y="4949043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利用新数据持续优化模型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9358391" y="5288643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1E8CE6"/>
                </a:solidFill>
              </a:rPr>
              <a:t>模型版本管理</a:t>
            </a:r>
          </a:p>
        </p:txBody>
      </p:sp>
      <p:sp>
        <p:nvSpPr>
          <p:cNvPr id="121" name="矩形 120"/>
          <p:cNvSpPr/>
          <p:nvPr/>
        </p:nvSpPr>
        <p:spPr>
          <a:xfrm rot="18859424">
            <a:off x="9110397" y="5355776"/>
            <a:ext cx="184574" cy="184574"/>
          </a:xfrm>
          <a:prstGeom prst="rect">
            <a:avLst/>
          </a:prstGeom>
          <a:solidFill>
            <a:srgbClr val="03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9002314" y="5598217"/>
            <a:ext cx="364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管理模型版本，快速更新迭代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58229"/>
            <a:ext cx="5294403" cy="5884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咨询能力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" name="ï$ľïḍé"/>
          <p:cNvGrpSpPr/>
          <p:nvPr/>
        </p:nvGrpSpPr>
        <p:grpSpPr>
          <a:xfrm>
            <a:off x="656722" y="1280628"/>
            <a:ext cx="621665" cy="621665"/>
            <a:chOff x="10321922" y="1786326"/>
            <a:chExt cx="720000" cy="720000"/>
          </a:xfrm>
        </p:grpSpPr>
        <p:sp>
          <p:nvSpPr>
            <p:cNvPr id="33" name="îś1iďê"/>
            <p:cNvSpPr/>
            <p:nvPr/>
          </p:nvSpPr>
          <p:spPr>
            <a:xfrm flipH="1">
              <a:off x="10321922" y="1786326"/>
              <a:ext cx="720000" cy="720000"/>
            </a:xfrm>
            <a:prstGeom prst="ellipse">
              <a:avLst/>
            </a:prstGeom>
            <a:solidFill>
              <a:srgbClr val="14B4EB"/>
            </a:solidFill>
            <a:ln w="190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ïṣ1iḋe"/>
            <p:cNvSpPr/>
            <p:nvPr/>
          </p:nvSpPr>
          <p:spPr>
            <a:xfrm>
              <a:off x="10495565" y="1959969"/>
              <a:ext cx="372716" cy="372716"/>
            </a:xfrm>
            <a:custGeom>
              <a:avLst/>
              <a:gdLst>
                <a:gd name="connsiteX0" fmla="*/ 343764 w 533400"/>
                <a:gd name="connsiteY0" fmla="*/ 621 h 533400"/>
                <a:gd name="connsiteX1" fmla="*/ 381864 w 533400"/>
                <a:gd name="connsiteY1" fmla="*/ 38721 h 533400"/>
                <a:gd name="connsiteX2" fmla="*/ 381864 w 533400"/>
                <a:gd name="connsiteY2" fmla="*/ 38721 h 533400"/>
                <a:gd name="connsiteX3" fmla="*/ 381864 w 533400"/>
                <a:gd name="connsiteY3" fmla="*/ 114921 h 533400"/>
                <a:gd name="connsiteX4" fmla="*/ 496164 w 533400"/>
                <a:gd name="connsiteY4" fmla="*/ 114921 h 533400"/>
                <a:gd name="connsiteX5" fmla="*/ 534264 w 533400"/>
                <a:gd name="connsiteY5" fmla="*/ 151116 h 533400"/>
                <a:gd name="connsiteX6" fmla="*/ 534264 w 533400"/>
                <a:gd name="connsiteY6" fmla="*/ 153021 h 533400"/>
                <a:gd name="connsiteX7" fmla="*/ 534264 w 533400"/>
                <a:gd name="connsiteY7" fmla="*/ 381621 h 533400"/>
                <a:gd name="connsiteX8" fmla="*/ 498069 w 533400"/>
                <a:gd name="connsiteY8" fmla="*/ 419721 h 533400"/>
                <a:gd name="connsiteX9" fmla="*/ 496164 w 533400"/>
                <a:gd name="connsiteY9" fmla="*/ 419721 h 533400"/>
                <a:gd name="connsiteX10" fmla="*/ 381864 w 533400"/>
                <a:gd name="connsiteY10" fmla="*/ 419721 h 533400"/>
                <a:gd name="connsiteX11" fmla="*/ 381864 w 533400"/>
                <a:gd name="connsiteY11" fmla="*/ 495921 h 533400"/>
                <a:gd name="connsiteX12" fmla="*/ 345669 w 533400"/>
                <a:gd name="connsiteY12" fmla="*/ 534021 h 533400"/>
                <a:gd name="connsiteX13" fmla="*/ 343764 w 533400"/>
                <a:gd name="connsiteY13" fmla="*/ 534021 h 533400"/>
                <a:gd name="connsiteX14" fmla="*/ 191364 w 533400"/>
                <a:gd name="connsiteY14" fmla="*/ 534021 h 533400"/>
                <a:gd name="connsiteX15" fmla="*/ 153264 w 533400"/>
                <a:gd name="connsiteY15" fmla="*/ 495921 h 533400"/>
                <a:gd name="connsiteX16" fmla="*/ 153264 w 533400"/>
                <a:gd name="connsiteY16" fmla="*/ 495921 h 533400"/>
                <a:gd name="connsiteX17" fmla="*/ 153264 w 533400"/>
                <a:gd name="connsiteY17" fmla="*/ 419721 h 533400"/>
                <a:gd name="connsiteX18" fmla="*/ 38964 w 533400"/>
                <a:gd name="connsiteY18" fmla="*/ 419721 h 533400"/>
                <a:gd name="connsiteX19" fmla="*/ 864 w 533400"/>
                <a:gd name="connsiteY19" fmla="*/ 383526 h 533400"/>
                <a:gd name="connsiteX20" fmla="*/ 864 w 533400"/>
                <a:gd name="connsiteY20" fmla="*/ 381621 h 533400"/>
                <a:gd name="connsiteX21" fmla="*/ 864 w 533400"/>
                <a:gd name="connsiteY21" fmla="*/ 197789 h 533400"/>
                <a:gd name="connsiteX22" fmla="*/ 9436 w 533400"/>
                <a:gd name="connsiteY22" fmla="*/ 173976 h 533400"/>
                <a:gd name="connsiteX23" fmla="*/ 11342 w 533400"/>
                <a:gd name="connsiteY23" fmla="*/ 172071 h 533400"/>
                <a:gd name="connsiteX24" fmla="*/ 52299 w 533400"/>
                <a:gd name="connsiteY24" fmla="*/ 127303 h 533400"/>
                <a:gd name="connsiteX25" fmla="*/ 78017 w 533400"/>
                <a:gd name="connsiteY25" fmla="*/ 114921 h 533400"/>
                <a:gd name="connsiteX26" fmla="*/ 79921 w 533400"/>
                <a:gd name="connsiteY26" fmla="*/ 114921 h 533400"/>
                <a:gd name="connsiteX27" fmla="*/ 153264 w 533400"/>
                <a:gd name="connsiteY27" fmla="*/ 114921 h 533400"/>
                <a:gd name="connsiteX28" fmla="*/ 153264 w 533400"/>
                <a:gd name="connsiteY28" fmla="*/ 38721 h 533400"/>
                <a:gd name="connsiteX29" fmla="*/ 189459 w 533400"/>
                <a:gd name="connsiteY29" fmla="*/ 621 h 533400"/>
                <a:gd name="connsiteX30" fmla="*/ 191364 w 533400"/>
                <a:gd name="connsiteY30" fmla="*/ 621 h 533400"/>
                <a:gd name="connsiteX31" fmla="*/ 343764 w 533400"/>
                <a:gd name="connsiteY31" fmla="*/ 621 h 533400"/>
                <a:gd name="connsiteX32" fmla="*/ 343764 w 533400"/>
                <a:gd name="connsiteY32" fmla="*/ 286371 h 533400"/>
                <a:gd name="connsiteX33" fmla="*/ 191364 w 533400"/>
                <a:gd name="connsiteY33" fmla="*/ 286371 h 533400"/>
                <a:gd name="connsiteX34" fmla="*/ 172314 w 533400"/>
                <a:gd name="connsiteY34" fmla="*/ 305421 h 533400"/>
                <a:gd name="connsiteX35" fmla="*/ 172314 w 533400"/>
                <a:gd name="connsiteY35" fmla="*/ 305421 h 533400"/>
                <a:gd name="connsiteX36" fmla="*/ 172314 w 533400"/>
                <a:gd name="connsiteY36" fmla="*/ 495921 h 533400"/>
                <a:gd name="connsiteX37" fmla="*/ 191364 w 533400"/>
                <a:gd name="connsiteY37" fmla="*/ 514971 h 533400"/>
                <a:gd name="connsiteX38" fmla="*/ 191364 w 533400"/>
                <a:gd name="connsiteY38" fmla="*/ 514971 h 533400"/>
                <a:gd name="connsiteX39" fmla="*/ 343764 w 533400"/>
                <a:gd name="connsiteY39" fmla="*/ 514971 h 533400"/>
                <a:gd name="connsiteX40" fmla="*/ 362814 w 533400"/>
                <a:gd name="connsiteY40" fmla="*/ 495921 h 533400"/>
                <a:gd name="connsiteX41" fmla="*/ 362814 w 533400"/>
                <a:gd name="connsiteY41" fmla="*/ 495921 h 533400"/>
                <a:gd name="connsiteX42" fmla="*/ 362814 w 533400"/>
                <a:gd name="connsiteY42" fmla="*/ 305421 h 533400"/>
                <a:gd name="connsiteX43" fmla="*/ 343764 w 533400"/>
                <a:gd name="connsiteY43" fmla="*/ 286371 h 533400"/>
                <a:gd name="connsiteX44" fmla="*/ 343764 w 533400"/>
                <a:gd name="connsiteY44" fmla="*/ 286371 h 533400"/>
                <a:gd name="connsiteX45" fmla="*/ 496164 w 533400"/>
                <a:gd name="connsiteY45" fmla="*/ 133971 h 533400"/>
                <a:gd name="connsiteX46" fmla="*/ 79921 w 533400"/>
                <a:gd name="connsiteY46" fmla="*/ 133971 h 533400"/>
                <a:gd name="connsiteX47" fmla="*/ 67539 w 533400"/>
                <a:gd name="connsiteY47" fmla="*/ 138734 h 533400"/>
                <a:gd name="connsiteX48" fmla="*/ 66586 w 533400"/>
                <a:gd name="connsiteY48" fmla="*/ 139686 h 533400"/>
                <a:gd name="connsiteX49" fmla="*/ 25629 w 533400"/>
                <a:gd name="connsiteY49" fmla="*/ 184453 h 533400"/>
                <a:gd name="connsiteX50" fmla="*/ 19914 w 533400"/>
                <a:gd name="connsiteY50" fmla="*/ 195884 h 533400"/>
                <a:gd name="connsiteX51" fmla="*/ 19914 w 533400"/>
                <a:gd name="connsiteY51" fmla="*/ 197789 h 533400"/>
                <a:gd name="connsiteX52" fmla="*/ 19914 w 533400"/>
                <a:gd name="connsiteY52" fmla="*/ 381621 h 533400"/>
                <a:gd name="connsiteX53" fmla="*/ 38011 w 533400"/>
                <a:gd name="connsiteY53" fmla="*/ 400671 h 533400"/>
                <a:gd name="connsiteX54" fmla="*/ 38964 w 533400"/>
                <a:gd name="connsiteY54" fmla="*/ 400671 h 533400"/>
                <a:gd name="connsiteX55" fmla="*/ 153264 w 533400"/>
                <a:gd name="connsiteY55" fmla="*/ 400671 h 533400"/>
                <a:gd name="connsiteX56" fmla="*/ 153264 w 533400"/>
                <a:gd name="connsiteY56" fmla="*/ 305421 h 533400"/>
                <a:gd name="connsiteX57" fmla="*/ 189459 w 533400"/>
                <a:gd name="connsiteY57" fmla="*/ 267321 h 533400"/>
                <a:gd name="connsiteX58" fmla="*/ 191364 w 533400"/>
                <a:gd name="connsiteY58" fmla="*/ 267321 h 533400"/>
                <a:gd name="connsiteX59" fmla="*/ 343764 w 533400"/>
                <a:gd name="connsiteY59" fmla="*/ 267321 h 533400"/>
                <a:gd name="connsiteX60" fmla="*/ 381864 w 533400"/>
                <a:gd name="connsiteY60" fmla="*/ 305421 h 533400"/>
                <a:gd name="connsiteX61" fmla="*/ 381864 w 533400"/>
                <a:gd name="connsiteY61" fmla="*/ 305421 h 533400"/>
                <a:gd name="connsiteX62" fmla="*/ 381864 w 533400"/>
                <a:gd name="connsiteY62" fmla="*/ 400671 h 533400"/>
                <a:gd name="connsiteX63" fmla="*/ 496164 w 533400"/>
                <a:gd name="connsiteY63" fmla="*/ 400671 h 533400"/>
                <a:gd name="connsiteX64" fmla="*/ 515214 w 533400"/>
                <a:gd name="connsiteY64" fmla="*/ 382573 h 533400"/>
                <a:gd name="connsiteX65" fmla="*/ 515214 w 533400"/>
                <a:gd name="connsiteY65" fmla="*/ 381621 h 533400"/>
                <a:gd name="connsiteX66" fmla="*/ 515214 w 533400"/>
                <a:gd name="connsiteY66" fmla="*/ 153021 h 533400"/>
                <a:gd name="connsiteX67" fmla="*/ 497117 w 533400"/>
                <a:gd name="connsiteY67" fmla="*/ 133971 h 533400"/>
                <a:gd name="connsiteX68" fmla="*/ 496164 w 533400"/>
                <a:gd name="connsiteY68" fmla="*/ 133971 h 533400"/>
                <a:gd name="connsiteX69" fmla="*/ 462827 w 533400"/>
                <a:gd name="connsiteY69" fmla="*/ 172071 h 533400"/>
                <a:gd name="connsiteX70" fmla="*/ 477114 w 533400"/>
                <a:gd name="connsiteY70" fmla="*/ 186359 h 533400"/>
                <a:gd name="connsiteX71" fmla="*/ 462827 w 533400"/>
                <a:gd name="connsiteY71" fmla="*/ 200646 h 533400"/>
                <a:gd name="connsiteX72" fmla="*/ 448539 w 533400"/>
                <a:gd name="connsiteY72" fmla="*/ 186359 h 533400"/>
                <a:gd name="connsiteX73" fmla="*/ 462827 w 533400"/>
                <a:gd name="connsiteY73" fmla="*/ 172071 h 533400"/>
                <a:gd name="connsiteX74" fmla="*/ 343764 w 533400"/>
                <a:gd name="connsiteY74" fmla="*/ 19671 h 533400"/>
                <a:gd name="connsiteX75" fmla="*/ 191364 w 533400"/>
                <a:gd name="connsiteY75" fmla="*/ 19671 h 533400"/>
                <a:gd name="connsiteX76" fmla="*/ 172314 w 533400"/>
                <a:gd name="connsiteY76" fmla="*/ 38721 h 533400"/>
                <a:gd name="connsiteX77" fmla="*/ 172314 w 533400"/>
                <a:gd name="connsiteY77" fmla="*/ 38721 h 533400"/>
                <a:gd name="connsiteX78" fmla="*/ 172314 w 533400"/>
                <a:gd name="connsiteY78" fmla="*/ 114921 h 533400"/>
                <a:gd name="connsiteX79" fmla="*/ 362814 w 533400"/>
                <a:gd name="connsiteY79" fmla="*/ 114921 h 533400"/>
                <a:gd name="connsiteX80" fmla="*/ 362814 w 533400"/>
                <a:gd name="connsiteY80" fmla="*/ 38721 h 533400"/>
                <a:gd name="connsiteX81" fmla="*/ 344717 w 533400"/>
                <a:gd name="connsiteY81" fmla="*/ 19671 h 533400"/>
                <a:gd name="connsiteX82" fmla="*/ 344717 w 533400"/>
                <a:gd name="connsiteY82" fmla="*/ 19671 h 533400"/>
                <a:gd name="connsiteX83" fmla="*/ 343764 w 533400"/>
                <a:gd name="connsiteY83" fmla="*/ 196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533400" h="533400">
                  <a:moveTo>
                    <a:pt x="343764" y="621"/>
                  </a:moveTo>
                  <a:cubicBezTo>
                    <a:pt x="364719" y="621"/>
                    <a:pt x="381864" y="17766"/>
                    <a:pt x="381864" y="38721"/>
                  </a:cubicBezTo>
                  <a:lnTo>
                    <a:pt x="381864" y="38721"/>
                  </a:lnTo>
                  <a:lnTo>
                    <a:pt x="381864" y="114921"/>
                  </a:lnTo>
                  <a:lnTo>
                    <a:pt x="496164" y="114921"/>
                  </a:lnTo>
                  <a:cubicBezTo>
                    <a:pt x="516167" y="114921"/>
                    <a:pt x="533311" y="131114"/>
                    <a:pt x="534264" y="151116"/>
                  </a:cubicBezTo>
                  <a:lnTo>
                    <a:pt x="534264" y="153021"/>
                  </a:lnTo>
                  <a:lnTo>
                    <a:pt x="534264" y="381621"/>
                  </a:lnTo>
                  <a:cubicBezTo>
                    <a:pt x="534264" y="401623"/>
                    <a:pt x="518071" y="418769"/>
                    <a:pt x="498069" y="419721"/>
                  </a:cubicBezTo>
                  <a:lnTo>
                    <a:pt x="496164" y="419721"/>
                  </a:lnTo>
                  <a:lnTo>
                    <a:pt x="381864" y="419721"/>
                  </a:lnTo>
                  <a:lnTo>
                    <a:pt x="381864" y="495921"/>
                  </a:lnTo>
                  <a:cubicBezTo>
                    <a:pt x="381864" y="515923"/>
                    <a:pt x="365671" y="533069"/>
                    <a:pt x="345669" y="534021"/>
                  </a:cubicBezTo>
                  <a:lnTo>
                    <a:pt x="343764" y="534021"/>
                  </a:lnTo>
                  <a:lnTo>
                    <a:pt x="191364" y="534021"/>
                  </a:lnTo>
                  <a:cubicBezTo>
                    <a:pt x="170409" y="534021"/>
                    <a:pt x="153264" y="516876"/>
                    <a:pt x="153264" y="495921"/>
                  </a:cubicBezTo>
                  <a:lnTo>
                    <a:pt x="153264" y="495921"/>
                  </a:lnTo>
                  <a:lnTo>
                    <a:pt x="153264" y="419721"/>
                  </a:lnTo>
                  <a:lnTo>
                    <a:pt x="38964" y="419721"/>
                  </a:lnTo>
                  <a:cubicBezTo>
                    <a:pt x="18961" y="419721"/>
                    <a:pt x="1817" y="403528"/>
                    <a:pt x="864" y="383526"/>
                  </a:cubicBezTo>
                  <a:lnTo>
                    <a:pt x="864" y="381621"/>
                  </a:lnTo>
                  <a:lnTo>
                    <a:pt x="864" y="197789"/>
                  </a:lnTo>
                  <a:cubicBezTo>
                    <a:pt x="864" y="189216"/>
                    <a:pt x="3721" y="180644"/>
                    <a:pt x="9436" y="173976"/>
                  </a:cubicBezTo>
                  <a:lnTo>
                    <a:pt x="11342" y="172071"/>
                  </a:lnTo>
                  <a:lnTo>
                    <a:pt x="52299" y="127303"/>
                  </a:lnTo>
                  <a:cubicBezTo>
                    <a:pt x="58967" y="119684"/>
                    <a:pt x="68492" y="115873"/>
                    <a:pt x="78017" y="114921"/>
                  </a:cubicBezTo>
                  <a:lnTo>
                    <a:pt x="79921" y="114921"/>
                  </a:lnTo>
                  <a:lnTo>
                    <a:pt x="153264" y="114921"/>
                  </a:lnTo>
                  <a:lnTo>
                    <a:pt x="153264" y="38721"/>
                  </a:lnTo>
                  <a:cubicBezTo>
                    <a:pt x="153264" y="18719"/>
                    <a:pt x="169457" y="1573"/>
                    <a:pt x="189459" y="621"/>
                  </a:cubicBezTo>
                  <a:lnTo>
                    <a:pt x="191364" y="621"/>
                  </a:lnTo>
                  <a:lnTo>
                    <a:pt x="343764" y="621"/>
                  </a:lnTo>
                  <a:close/>
                  <a:moveTo>
                    <a:pt x="343764" y="286371"/>
                  </a:moveTo>
                  <a:lnTo>
                    <a:pt x="191364" y="286371"/>
                  </a:lnTo>
                  <a:cubicBezTo>
                    <a:pt x="180886" y="286371"/>
                    <a:pt x="172314" y="294944"/>
                    <a:pt x="172314" y="305421"/>
                  </a:cubicBezTo>
                  <a:lnTo>
                    <a:pt x="172314" y="305421"/>
                  </a:lnTo>
                  <a:lnTo>
                    <a:pt x="172314" y="495921"/>
                  </a:lnTo>
                  <a:cubicBezTo>
                    <a:pt x="172314" y="506398"/>
                    <a:pt x="180886" y="514971"/>
                    <a:pt x="191364" y="514971"/>
                  </a:cubicBezTo>
                  <a:lnTo>
                    <a:pt x="191364" y="514971"/>
                  </a:lnTo>
                  <a:lnTo>
                    <a:pt x="343764" y="514971"/>
                  </a:lnTo>
                  <a:cubicBezTo>
                    <a:pt x="354242" y="514971"/>
                    <a:pt x="362814" y="506398"/>
                    <a:pt x="362814" y="495921"/>
                  </a:cubicBezTo>
                  <a:lnTo>
                    <a:pt x="362814" y="495921"/>
                  </a:lnTo>
                  <a:lnTo>
                    <a:pt x="362814" y="305421"/>
                  </a:lnTo>
                  <a:cubicBezTo>
                    <a:pt x="362814" y="294944"/>
                    <a:pt x="354242" y="286371"/>
                    <a:pt x="343764" y="286371"/>
                  </a:cubicBezTo>
                  <a:lnTo>
                    <a:pt x="343764" y="286371"/>
                  </a:lnTo>
                  <a:close/>
                  <a:moveTo>
                    <a:pt x="496164" y="133971"/>
                  </a:moveTo>
                  <a:lnTo>
                    <a:pt x="79921" y="133971"/>
                  </a:lnTo>
                  <a:cubicBezTo>
                    <a:pt x="75159" y="133971"/>
                    <a:pt x="70396" y="135876"/>
                    <a:pt x="67539" y="138734"/>
                  </a:cubicBezTo>
                  <a:lnTo>
                    <a:pt x="66586" y="139686"/>
                  </a:lnTo>
                  <a:lnTo>
                    <a:pt x="25629" y="184453"/>
                  </a:lnTo>
                  <a:cubicBezTo>
                    <a:pt x="21819" y="187311"/>
                    <a:pt x="19914" y="192073"/>
                    <a:pt x="19914" y="195884"/>
                  </a:cubicBezTo>
                  <a:lnTo>
                    <a:pt x="19914" y="197789"/>
                  </a:lnTo>
                  <a:lnTo>
                    <a:pt x="19914" y="381621"/>
                  </a:lnTo>
                  <a:cubicBezTo>
                    <a:pt x="19914" y="392098"/>
                    <a:pt x="27534" y="399719"/>
                    <a:pt x="38011" y="400671"/>
                  </a:cubicBezTo>
                  <a:lnTo>
                    <a:pt x="38964" y="400671"/>
                  </a:lnTo>
                  <a:lnTo>
                    <a:pt x="153264" y="400671"/>
                  </a:lnTo>
                  <a:lnTo>
                    <a:pt x="153264" y="305421"/>
                  </a:lnTo>
                  <a:cubicBezTo>
                    <a:pt x="153264" y="285419"/>
                    <a:pt x="169457" y="268273"/>
                    <a:pt x="189459" y="267321"/>
                  </a:cubicBezTo>
                  <a:lnTo>
                    <a:pt x="191364" y="267321"/>
                  </a:lnTo>
                  <a:lnTo>
                    <a:pt x="343764" y="267321"/>
                  </a:lnTo>
                  <a:cubicBezTo>
                    <a:pt x="364719" y="267321"/>
                    <a:pt x="381864" y="284466"/>
                    <a:pt x="381864" y="305421"/>
                  </a:cubicBezTo>
                  <a:lnTo>
                    <a:pt x="381864" y="305421"/>
                  </a:lnTo>
                  <a:lnTo>
                    <a:pt x="381864" y="400671"/>
                  </a:lnTo>
                  <a:lnTo>
                    <a:pt x="496164" y="400671"/>
                  </a:lnTo>
                  <a:cubicBezTo>
                    <a:pt x="506642" y="400671"/>
                    <a:pt x="514261" y="393051"/>
                    <a:pt x="515214" y="382573"/>
                  </a:cubicBezTo>
                  <a:lnTo>
                    <a:pt x="515214" y="381621"/>
                  </a:lnTo>
                  <a:lnTo>
                    <a:pt x="515214" y="153021"/>
                  </a:lnTo>
                  <a:cubicBezTo>
                    <a:pt x="515214" y="142544"/>
                    <a:pt x="507594" y="134923"/>
                    <a:pt x="497117" y="133971"/>
                  </a:cubicBezTo>
                  <a:lnTo>
                    <a:pt x="496164" y="133971"/>
                  </a:lnTo>
                  <a:close/>
                  <a:moveTo>
                    <a:pt x="462827" y="172071"/>
                  </a:moveTo>
                  <a:cubicBezTo>
                    <a:pt x="470446" y="172071"/>
                    <a:pt x="477114" y="178739"/>
                    <a:pt x="477114" y="186359"/>
                  </a:cubicBezTo>
                  <a:cubicBezTo>
                    <a:pt x="477114" y="193978"/>
                    <a:pt x="470446" y="200646"/>
                    <a:pt x="462827" y="200646"/>
                  </a:cubicBezTo>
                  <a:cubicBezTo>
                    <a:pt x="455207" y="200646"/>
                    <a:pt x="448539" y="193978"/>
                    <a:pt x="448539" y="186359"/>
                  </a:cubicBezTo>
                  <a:cubicBezTo>
                    <a:pt x="448539" y="178739"/>
                    <a:pt x="455207" y="172071"/>
                    <a:pt x="462827" y="172071"/>
                  </a:cubicBezTo>
                  <a:close/>
                  <a:moveTo>
                    <a:pt x="343764" y="19671"/>
                  </a:moveTo>
                  <a:lnTo>
                    <a:pt x="191364" y="19671"/>
                  </a:lnTo>
                  <a:cubicBezTo>
                    <a:pt x="180886" y="19671"/>
                    <a:pt x="172314" y="28244"/>
                    <a:pt x="172314" y="38721"/>
                  </a:cubicBezTo>
                  <a:lnTo>
                    <a:pt x="172314" y="38721"/>
                  </a:lnTo>
                  <a:lnTo>
                    <a:pt x="172314" y="114921"/>
                  </a:lnTo>
                  <a:lnTo>
                    <a:pt x="362814" y="114921"/>
                  </a:lnTo>
                  <a:lnTo>
                    <a:pt x="362814" y="38721"/>
                  </a:lnTo>
                  <a:cubicBezTo>
                    <a:pt x="362814" y="28244"/>
                    <a:pt x="355194" y="20623"/>
                    <a:pt x="344717" y="19671"/>
                  </a:cubicBezTo>
                  <a:lnTo>
                    <a:pt x="344717" y="19671"/>
                  </a:lnTo>
                  <a:lnTo>
                    <a:pt x="343764" y="1967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/>
            </a:p>
          </p:txBody>
        </p:sp>
      </p:grpSp>
      <p:grpSp>
        <p:nvGrpSpPr>
          <p:cNvPr id="6" name="îśļîḓé"/>
          <p:cNvGrpSpPr/>
          <p:nvPr/>
        </p:nvGrpSpPr>
        <p:grpSpPr>
          <a:xfrm>
            <a:off x="5974212" y="1290788"/>
            <a:ext cx="621665" cy="621665"/>
            <a:chOff x="8273930" y="3356192"/>
            <a:chExt cx="605759" cy="605759"/>
          </a:xfrm>
        </p:grpSpPr>
        <p:sp>
          <p:nvSpPr>
            <p:cNvPr id="31" name="îṥļïḍé"/>
            <p:cNvSpPr/>
            <p:nvPr/>
          </p:nvSpPr>
          <p:spPr>
            <a:xfrm flipH="1">
              <a:off x="8273930" y="3356192"/>
              <a:ext cx="605759" cy="605759"/>
            </a:xfrm>
            <a:prstGeom prst="ellipse">
              <a:avLst/>
            </a:prstGeom>
            <a:solidFill>
              <a:srgbClr val="004EAA"/>
            </a:solidFill>
            <a:ln w="190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ïṡḻïḓê"/>
            <p:cNvSpPr/>
            <p:nvPr/>
          </p:nvSpPr>
          <p:spPr>
            <a:xfrm>
              <a:off x="8459218" y="3502294"/>
              <a:ext cx="235183" cy="313578"/>
            </a:xfrm>
            <a:custGeom>
              <a:avLst/>
              <a:gdLst>
                <a:gd name="connsiteX0" fmla="*/ 267948 w 400050"/>
                <a:gd name="connsiteY0" fmla="*/ 621 h 533400"/>
                <a:gd name="connsiteX1" fmla="*/ 296523 w 400050"/>
                <a:gd name="connsiteY1" fmla="*/ 27291 h 533400"/>
                <a:gd name="connsiteX2" fmla="*/ 296523 w 400050"/>
                <a:gd name="connsiteY2" fmla="*/ 29196 h 533400"/>
                <a:gd name="connsiteX3" fmla="*/ 296523 w 400050"/>
                <a:gd name="connsiteY3" fmla="*/ 38721 h 533400"/>
                <a:gd name="connsiteX4" fmla="*/ 363198 w 400050"/>
                <a:gd name="connsiteY4" fmla="*/ 38721 h 533400"/>
                <a:gd name="connsiteX5" fmla="*/ 401298 w 400050"/>
                <a:gd name="connsiteY5" fmla="*/ 74916 h 533400"/>
                <a:gd name="connsiteX6" fmla="*/ 401298 w 400050"/>
                <a:gd name="connsiteY6" fmla="*/ 76821 h 533400"/>
                <a:gd name="connsiteX7" fmla="*/ 401298 w 400050"/>
                <a:gd name="connsiteY7" fmla="*/ 495921 h 533400"/>
                <a:gd name="connsiteX8" fmla="*/ 365103 w 400050"/>
                <a:gd name="connsiteY8" fmla="*/ 534021 h 533400"/>
                <a:gd name="connsiteX9" fmla="*/ 363198 w 400050"/>
                <a:gd name="connsiteY9" fmla="*/ 534021 h 533400"/>
                <a:gd name="connsiteX10" fmla="*/ 39348 w 400050"/>
                <a:gd name="connsiteY10" fmla="*/ 534021 h 533400"/>
                <a:gd name="connsiteX11" fmla="*/ 1248 w 400050"/>
                <a:gd name="connsiteY11" fmla="*/ 497826 h 533400"/>
                <a:gd name="connsiteX12" fmla="*/ 1248 w 400050"/>
                <a:gd name="connsiteY12" fmla="*/ 495921 h 533400"/>
                <a:gd name="connsiteX13" fmla="*/ 1248 w 400050"/>
                <a:gd name="connsiteY13" fmla="*/ 76821 h 533400"/>
                <a:gd name="connsiteX14" fmla="*/ 37443 w 400050"/>
                <a:gd name="connsiteY14" fmla="*/ 38721 h 533400"/>
                <a:gd name="connsiteX15" fmla="*/ 39348 w 400050"/>
                <a:gd name="connsiteY15" fmla="*/ 38721 h 533400"/>
                <a:gd name="connsiteX16" fmla="*/ 106023 w 400050"/>
                <a:gd name="connsiteY16" fmla="*/ 38721 h 533400"/>
                <a:gd name="connsiteX17" fmla="*/ 106023 w 400050"/>
                <a:gd name="connsiteY17" fmla="*/ 29196 h 533400"/>
                <a:gd name="connsiteX18" fmla="*/ 132693 w 400050"/>
                <a:gd name="connsiteY18" fmla="*/ 621 h 533400"/>
                <a:gd name="connsiteX19" fmla="*/ 134598 w 400050"/>
                <a:gd name="connsiteY19" fmla="*/ 621 h 533400"/>
                <a:gd name="connsiteX20" fmla="*/ 267948 w 400050"/>
                <a:gd name="connsiteY20" fmla="*/ 621 h 533400"/>
                <a:gd name="connsiteX21" fmla="*/ 106023 w 400050"/>
                <a:gd name="connsiteY21" fmla="*/ 57771 h 533400"/>
                <a:gd name="connsiteX22" fmla="*/ 39348 w 400050"/>
                <a:gd name="connsiteY22" fmla="*/ 57771 h 533400"/>
                <a:gd name="connsiteX23" fmla="*/ 20298 w 400050"/>
                <a:gd name="connsiteY23" fmla="*/ 75869 h 533400"/>
                <a:gd name="connsiteX24" fmla="*/ 20298 w 400050"/>
                <a:gd name="connsiteY24" fmla="*/ 76821 h 533400"/>
                <a:gd name="connsiteX25" fmla="*/ 20298 w 400050"/>
                <a:gd name="connsiteY25" fmla="*/ 495921 h 533400"/>
                <a:gd name="connsiteX26" fmla="*/ 38395 w 400050"/>
                <a:gd name="connsiteY26" fmla="*/ 514971 h 533400"/>
                <a:gd name="connsiteX27" fmla="*/ 39348 w 400050"/>
                <a:gd name="connsiteY27" fmla="*/ 514971 h 533400"/>
                <a:gd name="connsiteX28" fmla="*/ 363198 w 400050"/>
                <a:gd name="connsiteY28" fmla="*/ 514971 h 533400"/>
                <a:gd name="connsiteX29" fmla="*/ 382248 w 400050"/>
                <a:gd name="connsiteY29" fmla="*/ 496873 h 533400"/>
                <a:gd name="connsiteX30" fmla="*/ 382248 w 400050"/>
                <a:gd name="connsiteY30" fmla="*/ 495921 h 533400"/>
                <a:gd name="connsiteX31" fmla="*/ 382248 w 400050"/>
                <a:gd name="connsiteY31" fmla="*/ 76821 h 533400"/>
                <a:gd name="connsiteX32" fmla="*/ 364151 w 400050"/>
                <a:gd name="connsiteY32" fmla="*/ 57771 h 533400"/>
                <a:gd name="connsiteX33" fmla="*/ 363198 w 400050"/>
                <a:gd name="connsiteY33" fmla="*/ 57771 h 533400"/>
                <a:gd name="connsiteX34" fmla="*/ 296523 w 400050"/>
                <a:gd name="connsiteY34" fmla="*/ 57771 h 533400"/>
                <a:gd name="connsiteX35" fmla="*/ 296523 w 400050"/>
                <a:gd name="connsiteY35" fmla="*/ 67296 h 533400"/>
                <a:gd name="connsiteX36" fmla="*/ 269853 w 400050"/>
                <a:gd name="connsiteY36" fmla="*/ 95871 h 533400"/>
                <a:gd name="connsiteX37" fmla="*/ 267948 w 400050"/>
                <a:gd name="connsiteY37" fmla="*/ 95871 h 533400"/>
                <a:gd name="connsiteX38" fmla="*/ 134598 w 400050"/>
                <a:gd name="connsiteY38" fmla="*/ 95871 h 533400"/>
                <a:gd name="connsiteX39" fmla="*/ 106023 w 400050"/>
                <a:gd name="connsiteY39" fmla="*/ 69201 h 533400"/>
                <a:gd name="connsiteX40" fmla="*/ 106023 w 400050"/>
                <a:gd name="connsiteY40" fmla="*/ 67296 h 533400"/>
                <a:gd name="connsiteX41" fmla="*/ 106023 w 400050"/>
                <a:gd name="connsiteY41" fmla="*/ 57771 h 533400"/>
                <a:gd name="connsiteX42" fmla="*/ 201273 w 400050"/>
                <a:gd name="connsiteY42" fmla="*/ 343521 h 533400"/>
                <a:gd name="connsiteX43" fmla="*/ 201273 w 400050"/>
                <a:gd name="connsiteY43" fmla="*/ 362571 h 533400"/>
                <a:gd name="connsiteX44" fmla="*/ 86973 w 400050"/>
                <a:gd name="connsiteY44" fmla="*/ 362571 h 533400"/>
                <a:gd name="connsiteX45" fmla="*/ 86973 w 400050"/>
                <a:gd name="connsiteY45" fmla="*/ 343521 h 533400"/>
                <a:gd name="connsiteX46" fmla="*/ 201273 w 400050"/>
                <a:gd name="connsiteY46" fmla="*/ 343521 h 533400"/>
                <a:gd name="connsiteX47" fmla="*/ 315573 w 400050"/>
                <a:gd name="connsiteY47" fmla="*/ 267321 h 533400"/>
                <a:gd name="connsiteX48" fmla="*/ 315573 w 400050"/>
                <a:gd name="connsiteY48" fmla="*/ 286371 h 533400"/>
                <a:gd name="connsiteX49" fmla="*/ 86973 w 400050"/>
                <a:gd name="connsiteY49" fmla="*/ 286371 h 533400"/>
                <a:gd name="connsiteX50" fmla="*/ 86973 w 400050"/>
                <a:gd name="connsiteY50" fmla="*/ 267321 h 533400"/>
                <a:gd name="connsiteX51" fmla="*/ 315573 w 400050"/>
                <a:gd name="connsiteY51" fmla="*/ 267321 h 533400"/>
                <a:gd name="connsiteX52" fmla="*/ 315573 w 400050"/>
                <a:gd name="connsiteY52" fmla="*/ 191121 h 533400"/>
                <a:gd name="connsiteX53" fmla="*/ 315573 w 400050"/>
                <a:gd name="connsiteY53" fmla="*/ 210171 h 533400"/>
                <a:gd name="connsiteX54" fmla="*/ 86973 w 400050"/>
                <a:gd name="connsiteY54" fmla="*/ 210171 h 533400"/>
                <a:gd name="connsiteX55" fmla="*/ 86973 w 400050"/>
                <a:gd name="connsiteY55" fmla="*/ 191121 h 533400"/>
                <a:gd name="connsiteX56" fmla="*/ 315573 w 400050"/>
                <a:gd name="connsiteY56" fmla="*/ 191121 h 533400"/>
                <a:gd name="connsiteX57" fmla="*/ 267948 w 400050"/>
                <a:gd name="connsiteY57" fmla="*/ 19671 h 533400"/>
                <a:gd name="connsiteX58" fmla="*/ 134598 w 400050"/>
                <a:gd name="connsiteY58" fmla="*/ 19671 h 533400"/>
                <a:gd name="connsiteX59" fmla="*/ 125073 w 400050"/>
                <a:gd name="connsiteY59" fmla="*/ 28244 h 533400"/>
                <a:gd name="connsiteX60" fmla="*/ 125073 w 400050"/>
                <a:gd name="connsiteY60" fmla="*/ 29196 h 533400"/>
                <a:gd name="connsiteX61" fmla="*/ 125073 w 400050"/>
                <a:gd name="connsiteY61" fmla="*/ 67296 h 533400"/>
                <a:gd name="connsiteX62" fmla="*/ 133645 w 400050"/>
                <a:gd name="connsiteY62" fmla="*/ 76821 h 533400"/>
                <a:gd name="connsiteX63" fmla="*/ 134598 w 400050"/>
                <a:gd name="connsiteY63" fmla="*/ 76821 h 533400"/>
                <a:gd name="connsiteX64" fmla="*/ 267948 w 400050"/>
                <a:gd name="connsiteY64" fmla="*/ 76821 h 533400"/>
                <a:gd name="connsiteX65" fmla="*/ 277473 w 400050"/>
                <a:gd name="connsiteY65" fmla="*/ 68248 h 533400"/>
                <a:gd name="connsiteX66" fmla="*/ 277473 w 400050"/>
                <a:gd name="connsiteY66" fmla="*/ 67296 h 533400"/>
                <a:gd name="connsiteX67" fmla="*/ 277473 w 400050"/>
                <a:gd name="connsiteY67" fmla="*/ 29196 h 533400"/>
                <a:gd name="connsiteX68" fmla="*/ 267948 w 400050"/>
                <a:gd name="connsiteY68" fmla="*/ 196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00050" h="533400">
                  <a:moveTo>
                    <a:pt x="267948" y="621"/>
                  </a:moveTo>
                  <a:cubicBezTo>
                    <a:pt x="283188" y="621"/>
                    <a:pt x="295570" y="12051"/>
                    <a:pt x="296523" y="27291"/>
                  </a:cubicBezTo>
                  <a:lnTo>
                    <a:pt x="296523" y="29196"/>
                  </a:lnTo>
                  <a:lnTo>
                    <a:pt x="296523" y="38721"/>
                  </a:lnTo>
                  <a:lnTo>
                    <a:pt x="363198" y="38721"/>
                  </a:lnTo>
                  <a:cubicBezTo>
                    <a:pt x="383201" y="38721"/>
                    <a:pt x="400345" y="54914"/>
                    <a:pt x="401298" y="74916"/>
                  </a:cubicBezTo>
                  <a:lnTo>
                    <a:pt x="401298" y="76821"/>
                  </a:lnTo>
                  <a:lnTo>
                    <a:pt x="401298" y="495921"/>
                  </a:lnTo>
                  <a:cubicBezTo>
                    <a:pt x="401298" y="515923"/>
                    <a:pt x="385105" y="533069"/>
                    <a:pt x="365103" y="534021"/>
                  </a:cubicBezTo>
                  <a:lnTo>
                    <a:pt x="363198" y="534021"/>
                  </a:lnTo>
                  <a:lnTo>
                    <a:pt x="39348" y="534021"/>
                  </a:lnTo>
                  <a:cubicBezTo>
                    <a:pt x="19345" y="534021"/>
                    <a:pt x="2201" y="517828"/>
                    <a:pt x="1248" y="497826"/>
                  </a:cubicBezTo>
                  <a:lnTo>
                    <a:pt x="1248" y="495921"/>
                  </a:lnTo>
                  <a:lnTo>
                    <a:pt x="1248" y="76821"/>
                  </a:lnTo>
                  <a:cubicBezTo>
                    <a:pt x="1248" y="56819"/>
                    <a:pt x="17441" y="39673"/>
                    <a:pt x="37443" y="38721"/>
                  </a:cubicBezTo>
                  <a:lnTo>
                    <a:pt x="39348" y="38721"/>
                  </a:lnTo>
                  <a:lnTo>
                    <a:pt x="106023" y="38721"/>
                  </a:lnTo>
                  <a:lnTo>
                    <a:pt x="106023" y="29196"/>
                  </a:lnTo>
                  <a:cubicBezTo>
                    <a:pt x="106023" y="13956"/>
                    <a:pt x="117453" y="1573"/>
                    <a:pt x="132693" y="621"/>
                  </a:cubicBezTo>
                  <a:lnTo>
                    <a:pt x="134598" y="621"/>
                  </a:lnTo>
                  <a:lnTo>
                    <a:pt x="267948" y="621"/>
                  </a:lnTo>
                  <a:close/>
                  <a:moveTo>
                    <a:pt x="106023" y="57771"/>
                  </a:moveTo>
                  <a:lnTo>
                    <a:pt x="39348" y="57771"/>
                  </a:lnTo>
                  <a:cubicBezTo>
                    <a:pt x="28870" y="57771"/>
                    <a:pt x="21251" y="65391"/>
                    <a:pt x="20298" y="75869"/>
                  </a:cubicBezTo>
                  <a:lnTo>
                    <a:pt x="20298" y="76821"/>
                  </a:lnTo>
                  <a:lnTo>
                    <a:pt x="20298" y="495921"/>
                  </a:lnTo>
                  <a:cubicBezTo>
                    <a:pt x="20298" y="506398"/>
                    <a:pt x="27918" y="514019"/>
                    <a:pt x="38395" y="514971"/>
                  </a:cubicBezTo>
                  <a:lnTo>
                    <a:pt x="39348" y="514971"/>
                  </a:lnTo>
                  <a:lnTo>
                    <a:pt x="363198" y="514971"/>
                  </a:lnTo>
                  <a:cubicBezTo>
                    <a:pt x="373676" y="514971"/>
                    <a:pt x="381295" y="507351"/>
                    <a:pt x="382248" y="496873"/>
                  </a:cubicBezTo>
                  <a:lnTo>
                    <a:pt x="382248" y="495921"/>
                  </a:lnTo>
                  <a:lnTo>
                    <a:pt x="382248" y="76821"/>
                  </a:lnTo>
                  <a:cubicBezTo>
                    <a:pt x="382248" y="66344"/>
                    <a:pt x="374628" y="58723"/>
                    <a:pt x="364151" y="57771"/>
                  </a:cubicBezTo>
                  <a:lnTo>
                    <a:pt x="363198" y="57771"/>
                  </a:lnTo>
                  <a:lnTo>
                    <a:pt x="296523" y="57771"/>
                  </a:lnTo>
                  <a:lnTo>
                    <a:pt x="296523" y="67296"/>
                  </a:lnTo>
                  <a:cubicBezTo>
                    <a:pt x="296523" y="82536"/>
                    <a:pt x="285093" y="94919"/>
                    <a:pt x="269853" y="95871"/>
                  </a:cubicBezTo>
                  <a:lnTo>
                    <a:pt x="267948" y="95871"/>
                  </a:lnTo>
                  <a:lnTo>
                    <a:pt x="134598" y="95871"/>
                  </a:lnTo>
                  <a:cubicBezTo>
                    <a:pt x="119358" y="95871"/>
                    <a:pt x="106976" y="84441"/>
                    <a:pt x="106023" y="69201"/>
                  </a:cubicBezTo>
                  <a:lnTo>
                    <a:pt x="106023" y="67296"/>
                  </a:lnTo>
                  <a:lnTo>
                    <a:pt x="106023" y="57771"/>
                  </a:lnTo>
                  <a:close/>
                  <a:moveTo>
                    <a:pt x="201273" y="343521"/>
                  </a:moveTo>
                  <a:lnTo>
                    <a:pt x="201273" y="362571"/>
                  </a:lnTo>
                  <a:lnTo>
                    <a:pt x="86973" y="362571"/>
                  </a:lnTo>
                  <a:lnTo>
                    <a:pt x="86973" y="343521"/>
                  </a:lnTo>
                  <a:lnTo>
                    <a:pt x="201273" y="343521"/>
                  </a:lnTo>
                  <a:close/>
                  <a:moveTo>
                    <a:pt x="315573" y="267321"/>
                  </a:moveTo>
                  <a:lnTo>
                    <a:pt x="315573" y="286371"/>
                  </a:lnTo>
                  <a:lnTo>
                    <a:pt x="86973" y="286371"/>
                  </a:lnTo>
                  <a:lnTo>
                    <a:pt x="86973" y="267321"/>
                  </a:lnTo>
                  <a:lnTo>
                    <a:pt x="315573" y="267321"/>
                  </a:lnTo>
                  <a:close/>
                  <a:moveTo>
                    <a:pt x="315573" y="191121"/>
                  </a:moveTo>
                  <a:lnTo>
                    <a:pt x="315573" y="210171"/>
                  </a:lnTo>
                  <a:lnTo>
                    <a:pt x="86973" y="210171"/>
                  </a:lnTo>
                  <a:lnTo>
                    <a:pt x="86973" y="191121"/>
                  </a:lnTo>
                  <a:lnTo>
                    <a:pt x="315573" y="191121"/>
                  </a:lnTo>
                  <a:close/>
                  <a:moveTo>
                    <a:pt x="267948" y="19671"/>
                  </a:moveTo>
                  <a:lnTo>
                    <a:pt x="134598" y="19671"/>
                  </a:lnTo>
                  <a:cubicBezTo>
                    <a:pt x="129836" y="19671"/>
                    <a:pt x="126026" y="23481"/>
                    <a:pt x="125073" y="28244"/>
                  </a:cubicBezTo>
                  <a:lnTo>
                    <a:pt x="125073" y="29196"/>
                  </a:lnTo>
                  <a:lnTo>
                    <a:pt x="125073" y="67296"/>
                  </a:lnTo>
                  <a:cubicBezTo>
                    <a:pt x="125073" y="72059"/>
                    <a:pt x="128883" y="75869"/>
                    <a:pt x="133645" y="76821"/>
                  </a:cubicBezTo>
                  <a:lnTo>
                    <a:pt x="134598" y="76821"/>
                  </a:lnTo>
                  <a:lnTo>
                    <a:pt x="267948" y="76821"/>
                  </a:lnTo>
                  <a:cubicBezTo>
                    <a:pt x="272711" y="76821"/>
                    <a:pt x="276520" y="73011"/>
                    <a:pt x="277473" y="68248"/>
                  </a:cubicBezTo>
                  <a:lnTo>
                    <a:pt x="277473" y="67296"/>
                  </a:lnTo>
                  <a:lnTo>
                    <a:pt x="277473" y="29196"/>
                  </a:lnTo>
                  <a:cubicBezTo>
                    <a:pt x="277473" y="23481"/>
                    <a:pt x="273663" y="19671"/>
                    <a:pt x="267948" y="1967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/>
            </a:p>
          </p:txBody>
        </p:sp>
      </p:grpSp>
      <p:grpSp>
        <p:nvGrpSpPr>
          <p:cNvPr id="7" name="îṡ1ídê"/>
          <p:cNvGrpSpPr/>
          <p:nvPr/>
        </p:nvGrpSpPr>
        <p:grpSpPr>
          <a:xfrm>
            <a:off x="658627" y="2447758"/>
            <a:ext cx="5926268" cy="849617"/>
            <a:chOff x="1150070" y="2258518"/>
            <a:chExt cx="6863685" cy="984010"/>
          </a:xfrm>
        </p:grpSpPr>
        <p:sp>
          <p:nvSpPr>
            <p:cNvPr id="29" name="íŝḻîḓe"/>
            <p:cNvSpPr/>
            <p:nvPr/>
          </p:nvSpPr>
          <p:spPr>
            <a:xfrm>
              <a:off x="1150070" y="2258518"/>
              <a:ext cx="720000" cy="720000"/>
            </a:xfrm>
            <a:prstGeom prst="ellipse">
              <a:avLst/>
            </a:prstGeom>
            <a:solidFill>
              <a:srgbClr val="FFC365"/>
            </a:solidFill>
            <a:ln w="190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iś1iḍè"/>
            <p:cNvSpPr/>
            <p:nvPr/>
          </p:nvSpPr>
          <p:spPr>
            <a:xfrm>
              <a:off x="7667661" y="2869812"/>
              <a:ext cx="346094" cy="372716"/>
            </a:xfrm>
            <a:custGeom>
              <a:avLst/>
              <a:gdLst>
                <a:gd name="connsiteX0" fmla="*/ 362430 w 495300"/>
                <a:gd name="connsiteY0" fmla="*/ 621 h 533400"/>
                <a:gd name="connsiteX1" fmla="*/ 400530 w 495300"/>
                <a:gd name="connsiteY1" fmla="*/ 38721 h 533400"/>
                <a:gd name="connsiteX2" fmla="*/ 400530 w 495300"/>
                <a:gd name="connsiteY2" fmla="*/ 38721 h 533400"/>
                <a:gd name="connsiteX3" fmla="*/ 400530 w 495300"/>
                <a:gd name="connsiteY3" fmla="*/ 124446 h 533400"/>
                <a:gd name="connsiteX4" fmla="*/ 362430 w 495300"/>
                <a:gd name="connsiteY4" fmla="*/ 162546 h 533400"/>
                <a:gd name="connsiteX5" fmla="*/ 362430 w 495300"/>
                <a:gd name="connsiteY5" fmla="*/ 162546 h 533400"/>
                <a:gd name="connsiteX6" fmla="*/ 257655 w 495300"/>
                <a:gd name="connsiteY6" fmla="*/ 162546 h 533400"/>
                <a:gd name="connsiteX7" fmla="*/ 257655 w 495300"/>
                <a:gd name="connsiteY7" fmla="*/ 295896 h 533400"/>
                <a:gd name="connsiteX8" fmla="*/ 419580 w 495300"/>
                <a:gd name="connsiteY8" fmla="*/ 295896 h 533400"/>
                <a:gd name="connsiteX9" fmla="*/ 457680 w 495300"/>
                <a:gd name="connsiteY9" fmla="*/ 332091 h 533400"/>
                <a:gd name="connsiteX10" fmla="*/ 457680 w 495300"/>
                <a:gd name="connsiteY10" fmla="*/ 333996 h 533400"/>
                <a:gd name="connsiteX11" fmla="*/ 457680 w 495300"/>
                <a:gd name="connsiteY11" fmla="*/ 438771 h 533400"/>
                <a:gd name="connsiteX12" fmla="*/ 467205 w 495300"/>
                <a:gd name="connsiteY12" fmla="*/ 438771 h 533400"/>
                <a:gd name="connsiteX13" fmla="*/ 495780 w 495300"/>
                <a:gd name="connsiteY13" fmla="*/ 465441 h 533400"/>
                <a:gd name="connsiteX14" fmla="*/ 495780 w 495300"/>
                <a:gd name="connsiteY14" fmla="*/ 467346 h 533400"/>
                <a:gd name="connsiteX15" fmla="*/ 495780 w 495300"/>
                <a:gd name="connsiteY15" fmla="*/ 505446 h 533400"/>
                <a:gd name="connsiteX16" fmla="*/ 467205 w 495300"/>
                <a:gd name="connsiteY16" fmla="*/ 534021 h 533400"/>
                <a:gd name="connsiteX17" fmla="*/ 467205 w 495300"/>
                <a:gd name="connsiteY17" fmla="*/ 534021 h 533400"/>
                <a:gd name="connsiteX18" fmla="*/ 429105 w 495300"/>
                <a:gd name="connsiteY18" fmla="*/ 534021 h 533400"/>
                <a:gd name="connsiteX19" fmla="*/ 400530 w 495300"/>
                <a:gd name="connsiteY19" fmla="*/ 505446 h 533400"/>
                <a:gd name="connsiteX20" fmla="*/ 400530 w 495300"/>
                <a:gd name="connsiteY20" fmla="*/ 505446 h 533400"/>
                <a:gd name="connsiteX21" fmla="*/ 400530 w 495300"/>
                <a:gd name="connsiteY21" fmla="*/ 467346 h 533400"/>
                <a:gd name="connsiteX22" fmla="*/ 429105 w 495300"/>
                <a:gd name="connsiteY22" fmla="*/ 438771 h 533400"/>
                <a:gd name="connsiteX23" fmla="*/ 429105 w 495300"/>
                <a:gd name="connsiteY23" fmla="*/ 438771 h 533400"/>
                <a:gd name="connsiteX24" fmla="*/ 438630 w 495300"/>
                <a:gd name="connsiteY24" fmla="*/ 438771 h 533400"/>
                <a:gd name="connsiteX25" fmla="*/ 438630 w 495300"/>
                <a:gd name="connsiteY25" fmla="*/ 333996 h 533400"/>
                <a:gd name="connsiteX26" fmla="*/ 420533 w 495300"/>
                <a:gd name="connsiteY26" fmla="*/ 314946 h 533400"/>
                <a:gd name="connsiteX27" fmla="*/ 419580 w 495300"/>
                <a:gd name="connsiteY27" fmla="*/ 314946 h 533400"/>
                <a:gd name="connsiteX28" fmla="*/ 257655 w 495300"/>
                <a:gd name="connsiteY28" fmla="*/ 314946 h 533400"/>
                <a:gd name="connsiteX29" fmla="*/ 257655 w 495300"/>
                <a:gd name="connsiteY29" fmla="*/ 438771 h 533400"/>
                <a:gd name="connsiteX30" fmla="*/ 267180 w 495300"/>
                <a:gd name="connsiteY30" fmla="*/ 438771 h 533400"/>
                <a:gd name="connsiteX31" fmla="*/ 295755 w 495300"/>
                <a:gd name="connsiteY31" fmla="*/ 465441 h 533400"/>
                <a:gd name="connsiteX32" fmla="*/ 295755 w 495300"/>
                <a:gd name="connsiteY32" fmla="*/ 467346 h 533400"/>
                <a:gd name="connsiteX33" fmla="*/ 295755 w 495300"/>
                <a:gd name="connsiteY33" fmla="*/ 505446 h 533400"/>
                <a:gd name="connsiteX34" fmla="*/ 267180 w 495300"/>
                <a:gd name="connsiteY34" fmla="*/ 534021 h 533400"/>
                <a:gd name="connsiteX35" fmla="*/ 267180 w 495300"/>
                <a:gd name="connsiteY35" fmla="*/ 534021 h 533400"/>
                <a:gd name="connsiteX36" fmla="*/ 229080 w 495300"/>
                <a:gd name="connsiteY36" fmla="*/ 534021 h 533400"/>
                <a:gd name="connsiteX37" fmla="*/ 200505 w 495300"/>
                <a:gd name="connsiteY37" fmla="*/ 505446 h 533400"/>
                <a:gd name="connsiteX38" fmla="*/ 200505 w 495300"/>
                <a:gd name="connsiteY38" fmla="*/ 505446 h 533400"/>
                <a:gd name="connsiteX39" fmla="*/ 200505 w 495300"/>
                <a:gd name="connsiteY39" fmla="*/ 467346 h 533400"/>
                <a:gd name="connsiteX40" fmla="*/ 229080 w 495300"/>
                <a:gd name="connsiteY40" fmla="*/ 438771 h 533400"/>
                <a:gd name="connsiteX41" fmla="*/ 229080 w 495300"/>
                <a:gd name="connsiteY41" fmla="*/ 438771 h 533400"/>
                <a:gd name="connsiteX42" fmla="*/ 238605 w 495300"/>
                <a:gd name="connsiteY42" fmla="*/ 438771 h 533400"/>
                <a:gd name="connsiteX43" fmla="*/ 238605 w 495300"/>
                <a:gd name="connsiteY43" fmla="*/ 314946 h 533400"/>
                <a:gd name="connsiteX44" fmla="*/ 76680 w 495300"/>
                <a:gd name="connsiteY44" fmla="*/ 314946 h 533400"/>
                <a:gd name="connsiteX45" fmla="*/ 57630 w 495300"/>
                <a:gd name="connsiteY45" fmla="*/ 333044 h 533400"/>
                <a:gd name="connsiteX46" fmla="*/ 57630 w 495300"/>
                <a:gd name="connsiteY46" fmla="*/ 333996 h 533400"/>
                <a:gd name="connsiteX47" fmla="*/ 57630 w 495300"/>
                <a:gd name="connsiteY47" fmla="*/ 438771 h 533400"/>
                <a:gd name="connsiteX48" fmla="*/ 67155 w 495300"/>
                <a:gd name="connsiteY48" fmla="*/ 438771 h 533400"/>
                <a:gd name="connsiteX49" fmla="*/ 95730 w 495300"/>
                <a:gd name="connsiteY49" fmla="*/ 465441 h 533400"/>
                <a:gd name="connsiteX50" fmla="*/ 95730 w 495300"/>
                <a:gd name="connsiteY50" fmla="*/ 467346 h 533400"/>
                <a:gd name="connsiteX51" fmla="*/ 95730 w 495300"/>
                <a:gd name="connsiteY51" fmla="*/ 505446 h 533400"/>
                <a:gd name="connsiteX52" fmla="*/ 67155 w 495300"/>
                <a:gd name="connsiteY52" fmla="*/ 534021 h 533400"/>
                <a:gd name="connsiteX53" fmla="*/ 67155 w 495300"/>
                <a:gd name="connsiteY53" fmla="*/ 534021 h 533400"/>
                <a:gd name="connsiteX54" fmla="*/ 29055 w 495300"/>
                <a:gd name="connsiteY54" fmla="*/ 534021 h 533400"/>
                <a:gd name="connsiteX55" fmla="*/ 480 w 495300"/>
                <a:gd name="connsiteY55" fmla="*/ 505446 h 533400"/>
                <a:gd name="connsiteX56" fmla="*/ 480 w 495300"/>
                <a:gd name="connsiteY56" fmla="*/ 505446 h 533400"/>
                <a:gd name="connsiteX57" fmla="*/ 480 w 495300"/>
                <a:gd name="connsiteY57" fmla="*/ 467346 h 533400"/>
                <a:gd name="connsiteX58" fmla="*/ 29055 w 495300"/>
                <a:gd name="connsiteY58" fmla="*/ 438771 h 533400"/>
                <a:gd name="connsiteX59" fmla="*/ 29055 w 495300"/>
                <a:gd name="connsiteY59" fmla="*/ 438771 h 533400"/>
                <a:gd name="connsiteX60" fmla="*/ 38580 w 495300"/>
                <a:gd name="connsiteY60" fmla="*/ 438771 h 533400"/>
                <a:gd name="connsiteX61" fmla="*/ 38580 w 495300"/>
                <a:gd name="connsiteY61" fmla="*/ 333996 h 533400"/>
                <a:gd name="connsiteX62" fmla="*/ 74775 w 495300"/>
                <a:gd name="connsiteY62" fmla="*/ 295896 h 533400"/>
                <a:gd name="connsiteX63" fmla="*/ 76680 w 495300"/>
                <a:gd name="connsiteY63" fmla="*/ 295896 h 533400"/>
                <a:gd name="connsiteX64" fmla="*/ 238605 w 495300"/>
                <a:gd name="connsiteY64" fmla="*/ 295896 h 533400"/>
                <a:gd name="connsiteX65" fmla="*/ 238605 w 495300"/>
                <a:gd name="connsiteY65" fmla="*/ 162546 h 533400"/>
                <a:gd name="connsiteX66" fmla="*/ 133830 w 495300"/>
                <a:gd name="connsiteY66" fmla="*/ 162546 h 533400"/>
                <a:gd name="connsiteX67" fmla="*/ 95730 w 495300"/>
                <a:gd name="connsiteY67" fmla="*/ 126351 h 533400"/>
                <a:gd name="connsiteX68" fmla="*/ 95730 w 495300"/>
                <a:gd name="connsiteY68" fmla="*/ 124446 h 533400"/>
                <a:gd name="connsiteX69" fmla="*/ 95730 w 495300"/>
                <a:gd name="connsiteY69" fmla="*/ 38721 h 533400"/>
                <a:gd name="connsiteX70" fmla="*/ 133830 w 495300"/>
                <a:gd name="connsiteY70" fmla="*/ 621 h 533400"/>
                <a:gd name="connsiteX71" fmla="*/ 133830 w 495300"/>
                <a:gd name="connsiteY71" fmla="*/ 621 h 533400"/>
                <a:gd name="connsiteX72" fmla="*/ 362430 w 495300"/>
                <a:gd name="connsiteY72" fmla="*/ 621 h 533400"/>
                <a:gd name="connsiteX73" fmla="*/ 67155 w 495300"/>
                <a:gd name="connsiteY73" fmla="*/ 457821 h 533400"/>
                <a:gd name="connsiteX74" fmla="*/ 29055 w 495300"/>
                <a:gd name="connsiteY74" fmla="*/ 457821 h 533400"/>
                <a:gd name="connsiteX75" fmla="*/ 19530 w 495300"/>
                <a:gd name="connsiteY75" fmla="*/ 467346 h 533400"/>
                <a:gd name="connsiteX76" fmla="*/ 19530 w 495300"/>
                <a:gd name="connsiteY76" fmla="*/ 467346 h 533400"/>
                <a:gd name="connsiteX77" fmla="*/ 19530 w 495300"/>
                <a:gd name="connsiteY77" fmla="*/ 505446 h 533400"/>
                <a:gd name="connsiteX78" fmla="*/ 29055 w 495300"/>
                <a:gd name="connsiteY78" fmla="*/ 514971 h 533400"/>
                <a:gd name="connsiteX79" fmla="*/ 29055 w 495300"/>
                <a:gd name="connsiteY79" fmla="*/ 514971 h 533400"/>
                <a:gd name="connsiteX80" fmla="*/ 67155 w 495300"/>
                <a:gd name="connsiteY80" fmla="*/ 514971 h 533400"/>
                <a:gd name="connsiteX81" fmla="*/ 76680 w 495300"/>
                <a:gd name="connsiteY81" fmla="*/ 505446 h 533400"/>
                <a:gd name="connsiteX82" fmla="*/ 76680 w 495300"/>
                <a:gd name="connsiteY82" fmla="*/ 505446 h 533400"/>
                <a:gd name="connsiteX83" fmla="*/ 76680 w 495300"/>
                <a:gd name="connsiteY83" fmla="*/ 467346 h 533400"/>
                <a:gd name="connsiteX84" fmla="*/ 67155 w 495300"/>
                <a:gd name="connsiteY84" fmla="*/ 457821 h 533400"/>
                <a:gd name="connsiteX85" fmla="*/ 67155 w 495300"/>
                <a:gd name="connsiteY85" fmla="*/ 457821 h 533400"/>
                <a:gd name="connsiteX86" fmla="*/ 267180 w 495300"/>
                <a:gd name="connsiteY86" fmla="*/ 457821 h 533400"/>
                <a:gd name="connsiteX87" fmla="*/ 229080 w 495300"/>
                <a:gd name="connsiteY87" fmla="*/ 457821 h 533400"/>
                <a:gd name="connsiteX88" fmla="*/ 219555 w 495300"/>
                <a:gd name="connsiteY88" fmla="*/ 467346 h 533400"/>
                <a:gd name="connsiteX89" fmla="*/ 219555 w 495300"/>
                <a:gd name="connsiteY89" fmla="*/ 467346 h 533400"/>
                <a:gd name="connsiteX90" fmla="*/ 219555 w 495300"/>
                <a:gd name="connsiteY90" fmla="*/ 505446 h 533400"/>
                <a:gd name="connsiteX91" fmla="*/ 229080 w 495300"/>
                <a:gd name="connsiteY91" fmla="*/ 514971 h 533400"/>
                <a:gd name="connsiteX92" fmla="*/ 229080 w 495300"/>
                <a:gd name="connsiteY92" fmla="*/ 514971 h 533400"/>
                <a:gd name="connsiteX93" fmla="*/ 267180 w 495300"/>
                <a:gd name="connsiteY93" fmla="*/ 514971 h 533400"/>
                <a:gd name="connsiteX94" fmla="*/ 276705 w 495300"/>
                <a:gd name="connsiteY94" fmla="*/ 505446 h 533400"/>
                <a:gd name="connsiteX95" fmla="*/ 276705 w 495300"/>
                <a:gd name="connsiteY95" fmla="*/ 505446 h 533400"/>
                <a:gd name="connsiteX96" fmla="*/ 276705 w 495300"/>
                <a:gd name="connsiteY96" fmla="*/ 467346 h 533400"/>
                <a:gd name="connsiteX97" fmla="*/ 267180 w 495300"/>
                <a:gd name="connsiteY97" fmla="*/ 457821 h 533400"/>
                <a:gd name="connsiteX98" fmla="*/ 267180 w 495300"/>
                <a:gd name="connsiteY98" fmla="*/ 457821 h 533400"/>
                <a:gd name="connsiteX99" fmla="*/ 467205 w 495300"/>
                <a:gd name="connsiteY99" fmla="*/ 457821 h 533400"/>
                <a:gd name="connsiteX100" fmla="*/ 429105 w 495300"/>
                <a:gd name="connsiteY100" fmla="*/ 457821 h 533400"/>
                <a:gd name="connsiteX101" fmla="*/ 419580 w 495300"/>
                <a:gd name="connsiteY101" fmla="*/ 467346 h 533400"/>
                <a:gd name="connsiteX102" fmla="*/ 419580 w 495300"/>
                <a:gd name="connsiteY102" fmla="*/ 467346 h 533400"/>
                <a:gd name="connsiteX103" fmla="*/ 419580 w 495300"/>
                <a:gd name="connsiteY103" fmla="*/ 505446 h 533400"/>
                <a:gd name="connsiteX104" fmla="*/ 429105 w 495300"/>
                <a:gd name="connsiteY104" fmla="*/ 514971 h 533400"/>
                <a:gd name="connsiteX105" fmla="*/ 429105 w 495300"/>
                <a:gd name="connsiteY105" fmla="*/ 514971 h 533400"/>
                <a:gd name="connsiteX106" fmla="*/ 467205 w 495300"/>
                <a:gd name="connsiteY106" fmla="*/ 514971 h 533400"/>
                <a:gd name="connsiteX107" fmla="*/ 476730 w 495300"/>
                <a:gd name="connsiteY107" fmla="*/ 505446 h 533400"/>
                <a:gd name="connsiteX108" fmla="*/ 476730 w 495300"/>
                <a:gd name="connsiteY108" fmla="*/ 505446 h 533400"/>
                <a:gd name="connsiteX109" fmla="*/ 476730 w 495300"/>
                <a:gd name="connsiteY109" fmla="*/ 467346 h 533400"/>
                <a:gd name="connsiteX110" fmla="*/ 467205 w 495300"/>
                <a:gd name="connsiteY110" fmla="*/ 457821 h 533400"/>
                <a:gd name="connsiteX111" fmla="*/ 467205 w 495300"/>
                <a:gd name="connsiteY111" fmla="*/ 457821 h 533400"/>
                <a:gd name="connsiteX112" fmla="*/ 362430 w 495300"/>
                <a:gd name="connsiteY112" fmla="*/ 19671 h 533400"/>
                <a:gd name="connsiteX113" fmla="*/ 133830 w 495300"/>
                <a:gd name="connsiteY113" fmla="*/ 19671 h 533400"/>
                <a:gd name="connsiteX114" fmla="*/ 114780 w 495300"/>
                <a:gd name="connsiteY114" fmla="*/ 38721 h 533400"/>
                <a:gd name="connsiteX115" fmla="*/ 114780 w 495300"/>
                <a:gd name="connsiteY115" fmla="*/ 38721 h 533400"/>
                <a:gd name="connsiteX116" fmla="*/ 114780 w 495300"/>
                <a:gd name="connsiteY116" fmla="*/ 124446 h 533400"/>
                <a:gd name="connsiteX117" fmla="*/ 133830 w 495300"/>
                <a:gd name="connsiteY117" fmla="*/ 143496 h 533400"/>
                <a:gd name="connsiteX118" fmla="*/ 133830 w 495300"/>
                <a:gd name="connsiteY118" fmla="*/ 143496 h 533400"/>
                <a:gd name="connsiteX119" fmla="*/ 362430 w 495300"/>
                <a:gd name="connsiteY119" fmla="*/ 143496 h 533400"/>
                <a:gd name="connsiteX120" fmla="*/ 381480 w 495300"/>
                <a:gd name="connsiteY120" fmla="*/ 124446 h 533400"/>
                <a:gd name="connsiteX121" fmla="*/ 381480 w 495300"/>
                <a:gd name="connsiteY121" fmla="*/ 124446 h 533400"/>
                <a:gd name="connsiteX122" fmla="*/ 381480 w 495300"/>
                <a:gd name="connsiteY122" fmla="*/ 38721 h 533400"/>
                <a:gd name="connsiteX123" fmla="*/ 362430 w 495300"/>
                <a:gd name="connsiteY123" fmla="*/ 19671 h 533400"/>
                <a:gd name="connsiteX124" fmla="*/ 362430 w 495300"/>
                <a:gd name="connsiteY124" fmla="*/ 19671 h 533400"/>
                <a:gd name="connsiteX125" fmla="*/ 157643 w 495300"/>
                <a:gd name="connsiteY125" fmla="*/ 86346 h 533400"/>
                <a:gd name="connsiteX126" fmla="*/ 171930 w 495300"/>
                <a:gd name="connsiteY126" fmla="*/ 100634 h 533400"/>
                <a:gd name="connsiteX127" fmla="*/ 157643 w 495300"/>
                <a:gd name="connsiteY127" fmla="*/ 114921 h 533400"/>
                <a:gd name="connsiteX128" fmla="*/ 143355 w 495300"/>
                <a:gd name="connsiteY128" fmla="*/ 100634 h 533400"/>
                <a:gd name="connsiteX129" fmla="*/ 157643 w 495300"/>
                <a:gd name="connsiteY129" fmla="*/ 8634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95300" h="533400">
                  <a:moveTo>
                    <a:pt x="362430" y="621"/>
                  </a:moveTo>
                  <a:cubicBezTo>
                    <a:pt x="383385" y="621"/>
                    <a:pt x="400530" y="17766"/>
                    <a:pt x="400530" y="38721"/>
                  </a:cubicBezTo>
                  <a:lnTo>
                    <a:pt x="400530" y="38721"/>
                  </a:lnTo>
                  <a:lnTo>
                    <a:pt x="400530" y="124446"/>
                  </a:lnTo>
                  <a:cubicBezTo>
                    <a:pt x="400530" y="145401"/>
                    <a:pt x="383385" y="162546"/>
                    <a:pt x="362430" y="162546"/>
                  </a:cubicBezTo>
                  <a:lnTo>
                    <a:pt x="362430" y="162546"/>
                  </a:lnTo>
                  <a:lnTo>
                    <a:pt x="257655" y="162546"/>
                  </a:lnTo>
                  <a:lnTo>
                    <a:pt x="257655" y="295896"/>
                  </a:lnTo>
                  <a:lnTo>
                    <a:pt x="419580" y="295896"/>
                  </a:lnTo>
                  <a:cubicBezTo>
                    <a:pt x="439583" y="295896"/>
                    <a:pt x="456727" y="312089"/>
                    <a:pt x="457680" y="332091"/>
                  </a:cubicBezTo>
                  <a:lnTo>
                    <a:pt x="457680" y="333996"/>
                  </a:lnTo>
                  <a:lnTo>
                    <a:pt x="457680" y="438771"/>
                  </a:lnTo>
                  <a:lnTo>
                    <a:pt x="467205" y="438771"/>
                  </a:lnTo>
                  <a:cubicBezTo>
                    <a:pt x="482445" y="438771"/>
                    <a:pt x="494827" y="450201"/>
                    <a:pt x="495780" y="465441"/>
                  </a:cubicBezTo>
                  <a:lnTo>
                    <a:pt x="495780" y="467346"/>
                  </a:lnTo>
                  <a:lnTo>
                    <a:pt x="495780" y="505446"/>
                  </a:lnTo>
                  <a:cubicBezTo>
                    <a:pt x="495780" y="521639"/>
                    <a:pt x="483398" y="534021"/>
                    <a:pt x="467205" y="534021"/>
                  </a:cubicBezTo>
                  <a:lnTo>
                    <a:pt x="467205" y="534021"/>
                  </a:lnTo>
                  <a:lnTo>
                    <a:pt x="429105" y="534021"/>
                  </a:lnTo>
                  <a:cubicBezTo>
                    <a:pt x="412912" y="534021"/>
                    <a:pt x="400530" y="521639"/>
                    <a:pt x="400530" y="505446"/>
                  </a:cubicBezTo>
                  <a:lnTo>
                    <a:pt x="400530" y="505446"/>
                  </a:lnTo>
                  <a:lnTo>
                    <a:pt x="400530" y="467346"/>
                  </a:lnTo>
                  <a:cubicBezTo>
                    <a:pt x="400530" y="451153"/>
                    <a:pt x="412912" y="438771"/>
                    <a:pt x="429105" y="438771"/>
                  </a:cubicBezTo>
                  <a:lnTo>
                    <a:pt x="429105" y="438771"/>
                  </a:lnTo>
                  <a:lnTo>
                    <a:pt x="438630" y="438771"/>
                  </a:lnTo>
                  <a:lnTo>
                    <a:pt x="438630" y="333996"/>
                  </a:lnTo>
                  <a:cubicBezTo>
                    <a:pt x="438630" y="323519"/>
                    <a:pt x="431010" y="315898"/>
                    <a:pt x="420533" y="314946"/>
                  </a:cubicBezTo>
                  <a:lnTo>
                    <a:pt x="419580" y="314946"/>
                  </a:lnTo>
                  <a:lnTo>
                    <a:pt x="257655" y="314946"/>
                  </a:lnTo>
                  <a:lnTo>
                    <a:pt x="257655" y="438771"/>
                  </a:lnTo>
                  <a:lnTo>
                    <a:pt x="267180" y="438771"/>
                  </a:lnTo>
                  <a:cubicBezTo>
                    <a:pt x="282420" y="438771"/>
                    <a:pt x="294802" y="450201"/>
                    <a:pt x="295755" y="465441"/>
                  </a:cubicBezTo>
                  <a:lnTo>
                    <a:pt x="295755" y="467346"/>
                  </a:lnTo>
                  <a:lnTo>
                    <a:pt x="295755" y="505446"/>
                  </a:lnTo>
                  <a:cubicBezTo>
                    <a:pt x="295755" y="521639"/>
                    <a:pt x="283373" y="534021"/>
                    <a:pt x="267180" y="534021"/>
                  </a:cubicBezTo>
                  <a:lnTo>
                    <a:pt x="267180" y="534021"/>
                  </a:lnTo>
                  <a:lnTo>
                    <a:pt x="229080" y="534021"/>
                  </a:lnTo>
                  <a:cubicBezTo>
                    <a:pt x="212887" y="534021"/>
                    <a:pt x="200505" y="521639"/>
                    <a:pt x="200505" y="505446"/>
                  </a:cubicBezTo>
                  <a:lnTo>
                    <a:pt x="200505" y="505446"/>
                  </a:lnTo>
                  <a:lnTo>
                    <a:pt x="200505" y="467346"/>
                  </a:lnTo>
                  <a:cubicBezTo>
                    <a:pt x="200505" y="451153"/>
                    <a:pt x="212887" y="438771"/>
                    <a:pt x="229080" y="438771"/>
                  </a:cubicBezTo>
                  <a:lnTo>
                    <a:pt x="229080" y="438771"/>
                  </a:lnTo>
                  <a:lnTo>
                    <a:pt x="238605" y="438771"/>
                  </a:lnTo>
                  <a:lnTo>
                    <a:pt x="238605" y="314946"/>
                  </a:lnTo>
                  <a:lnTo>
                    <a:pt x="76680" y="314946"/>
                  </a:lnTo>
                  <a:cubicBezTo>
                    <a:pt x="66202" y="314946"/>
                    <a:pt x="58583" y="322566"/>
                    <a:pt x="57630" y="333044"/>
                  </a:cubicBezTo>
                  <a:lnTo>
                    <a:pt x="57630" y="333996"/>
                  </a:lnTo>
                  <a:lnTo>
                    <a:pt x="57630" y="438771"/>
                  </a:lnTo>
                  <a:lnTo>
                    <a:pt x="67155" y="438771"/>
                  </a:lnTo>
                  <a:cubicBezTo>
                    <a:pt x="82395" y="438771"/>
                    <a:pt x="94777" y="450201"/>
                    <a:pt x="95730" y="465441"/>
                  </a:cubicBezTo>
                  <a:lnTo>
                    <a:pt x="95730" y="467346"/>
                  </a:lnTo>
                  <a:lnTo>
                    <a:pt x="95730" y="505446"/>
                  </a:lnTo>
                  <a:cubicBezTo>
                    <a:pt x="95730" y="521639"/>
                    <a:pt x="83348" y="534021"/>
                    <a:pt x="67155" y="534021"/>
                  </a:cubicBezTo>
                  <a:lnTo>
                    <a:pt x="67155" y="534021"/>
                  </a:lnTo>
                  <a:lnTo>
                    <a:pt x="29055" y="534021"/>
                  </a:lnTo>
                  <a:cubicBezTo>
                    <a:pt x="12862" y="534021"/>
                    <a:pt x="480" y="521639"/>
                    <a:pt x="480" y="505446"/>
                  </a:cubicBezTo>
                  <a:lnTo>
                    <a:pt x="480" y="505446"/>
                  </a:lnTo>
                  <a:lnTo>
                    <a:pt x="480" y="467346"/>
                  </a:lnTo>
                  <a:cubicBezTo>
                    <a:pt x="480" y="451153"/>
                    <a:pt x="12862" y="438771"/>
                    <a:pt x="29055" y="438771"/>
                  </a:cubicBezTo>
                  <a:lnTo>
                    <a:pt x="29055" y="438771"/>
                  </a:lnTo>
                  <a:lnTo>
                    <a:pt x="38580" y="438771"/>
                  </a:lnTo>
                  <a:lnTo>
                    <a:pt x="38580" y="333996"/>
                  </a:lnTo>
                  <a:cubicBezTo>
                    <a:pt x="38580" y="313994"/>
                    <a:pt x="54773" y="296848"/>
                    <a:pt x="74775" y="295896"/>
                  </a:cubicBezTo>
                  <a:lnTo>
                    <a:pt x="76680" y="295896"/>
                  </a:lnTo>
                  <a:lnTo>
                    <a:pt x="238605" y="295896"/>
                  </a:lnTo>
                  <a:lnTo>
                    <a:pt x="238605" y="162546"/>
                  </a:lnTo>
                  <a:lnTo>
                    <a:pt x="133830" y="162546"/>
                  </a:lnTo>
                  <a:cubicBezTo>
                    <a:pt x="113827" y="162546"/>
                    <a:pt x="96683" y="146353"/>
                    <a:pt x="95730" y="126351"/>
                  </a:cubicBezTo>
                  <a:lnTo>
                    <a:pt x="95730" y="124446"/>
                  </a:lnTo>
                  <a:lnTo>
                    <a:pt x="95730" y="38721"/>
                  </a:lnTo>
                  <a:cubicBezTo>
                    <a:pt x="95730" y="17766"/>
                    <a:pt x="112875" y="621"/>
                    <a:pt x="133830" y="621"/>
                  </a:cubicBezTo>
                  <a:lnTo>
                    <a:pt x="133830" y="621"/>
                  </a:lnTo>
                  <a:lnTo>
                    <a:pt x="362430" y="621"/>
                  </a:lnTo>
                  <a:close/>
                  <a:moveTo>
                    <a:pt x="67155" y="457821"/>
                  </a:moveTo>
                  <a:lnTo>
                    <a:pt x="29055" y="457821"/>
                  </a:lnTo>
                  <a:cubicBezTo>
                    <a:pt x="23340" y="457821"/>
                    <a:pt x="19530" y="461631"/>
                    <a:pt x="19530" y="467346"/>
                  </a:cubicBezTo>
                  <a:lnTo>
                    <a:pt x="19530" y="467346"/>
                  </a:lnTo>
                  <a:lnTo>
                    <a:pt x="19530" y="505446"/>
                  </a:lnTo>
                  <a:cubicBezTo>
                    <a:pt x="19530" y="511161"/>
                    <a:pt x="23340" y="514971"/>
                    <a:pt x="29055" y="514971"/>
                  </a:cubicBezTo>
                  <a:lnTo>
                    <a:pt x="29055" y="514971"/>
                  </a:lnTo>
                  <a:lnTo>
                    <a:pt x="67155" y="514971"/>
                  </a:lnTo>
                  <a:cubicBezTo>
                    <a:pt x="72870" y="514971"/>
                    <a:pt x="76680" y="511161"/>
                    <a:pt x="76680" y="505446"/>
                  </a:cubicBezTo>
                  <a:lnTo>
                    <a:pt x="76680" y="505446"/>
                  </a:lnTo>
                  <a:lnTo>
                    <a:pt x="76680" y="467346"/>
                  </a:lnTo>
                  <a:cubicBezTo>
                    <a:pt x="76680" y="461631"/>
                    <a:pt x="72870" y="457821"/>
                    <a:pt x="67155" y="457821"/>
                  </a:cubicBezTo>
                  <a:lnTo>
                    <a:pt x="67155" y="457821"/>
                  </a:lnTo>
                  <a:close/>
                  <a:moveTo>
                    <a:pt x="267180" y="457821"/>
                  </a:moveTo>
                  <a:lnTo>
                    <a:pt x="229080" y="457821"/>
                  </a:lnTo>
                  <a:cubicBezTo>
                    <a:pt x="223365" y="457821"/>
                    <a:pt x="219555" y="461631"/>
                    <a:pt x="219555" y="467346"/>
                  </a:cubicBezTo>
                  <a:lnTo>
                    <a:pt x="219555" y="467346"/>
                  </a:lnTo>
                  <a:lnTo>
                    <a:pt x="219555" y="505446"/>
                  </a:lnTo>
                  <a:cubicBezTo>
                    <a:pt x="219555" y="511161"/>
                    <a:pt x="223365" y="514971"/>
                    <a:pt x="229080" y="514971"/>
                  </a:cubicBezTo>
                  <a:lnTo>
                    <a:pt x="229080" y="514971"/>
                  </a:lnTo>
                  <a:lnTo>
                    <a:pt x="267180" y="514971"/>
                  </a:lnTo>
                  <a:cubicBezTo>
                    <a:pt x="272895" y="514971"/>
                    <a:pt x="276705" y="511161"/>
                    <a:pt x="276705" y="505446"/>
                  </a:cubicBezTo>
                  <a:lnTo>
                    <a:pt x="276705" y="505446"/>
                  </a:lnTo>
                  <a:lnTo>
                    <a:pt x="276705" y="467346"/>
                  </a:lnTo>
                  <a:cubicBezTo>
                    <a:pt x="276705" y="461631"/>
                    <a:pt x="272895" y="457821"/>
                    <a:pt x="267180" y="457821"/>
                  </a:cubicBezTo>
                  <a:lnTo>
                    <a:pt x="267180" y="457821"/>
                  </a:lnTo>
                  <a:close/>
                  <a:moveTo>
                    <a:pt x="467205" y="457821"/>
                  </a:moveTo>
                  <a:lnTo>
                    <a:pt x="429105" y="457821"/>
                  </a:lnTo>
                  <a:cubicBezTo>
                    <a:pt x="423390" y="457821"/>
                    <a:pt x="419580" y="461631"/>
                    <a:pt x="419580" y="467346"/>
                  </a:cubicBezTo>
                  <a:lnTo>
                    <a:pt x="419580" y="467346"/>
                  </a:lnTo>
                  <a:lnTo>
                    <a:pt x="419580" y="505446"/>
                  </a:lnTo>
                  <a:cubicBezTo>
                    <a:pt x="419580" y="511161"/>
                    <a:pt x="423390" y="514971"/>
                    <a:pt x="429105" y="514971"/>
                  </a:cubicBezTo>
                  <a:lnTo>
                    <a:pt x="429105" y="514971"/>
                  </a:lnTo>
                  <a:lnTo>
                    <a:pt x="467205" y="514971"/>
                  </a:lnTo>
                  <a:cubicBezTo>
                    <a:pt x="472920" y="514971"/>
                    <a:pt x="476730" y="511161"/>
                    <a:pt x="476730" y="505446"/>
                  </a:cubicBezTo>
                  <a:lnTo>
                    <a:pt x="476730" y="505446"/>
                  </a:lnTo>
                  <a:lnTo>
                    <a:pt x="476730" y="467346"/>
                  </a:lnTo>
                  <a:cubicBezTo>
                    <a:pt x="476730" y="461631"/>
                    <a:pt x="472920" y="457821"/>
                    <a:pt x="467205" y="457821"/>
                  </a:cubicBezTo>
                  <a:lnTo>
                    <a:pt x="467205" y="457821"/>
                  </a:lnTo>
                  <a:close/>
                  <a:moveTo>
                    <a:pt x="362430" y="19671"/>
                  </a:moveTo>
                  <a:lnTo>
                    <a:pt x="133830" y="19671"/>
                  </a:lnTo>
                  <a:cubicBezTo>
                    <a:pt x="123352" y="19671"/>
                    <a:pt x="114780" y="28244"/>
                    <a:pt x="114780" y="38721"/>
                  </a:cubicBezTo>
                  <a:lnTo>
                    <a:pt x="114780" y="38721"/>
                  </a:lnTo>
                  <a:lnTo>
                    <a:pt x="114780" y="124446"/>
                  </a:lnTo>
                  <a:cubicBezTo>
                    <a:pt x="114780" y="134923"/>
                    <a:pt x="123352" y="143496"/>
                    <a:pt x="133830" y="143496"/>
                  </a:cubicBezTo>
                  <a:lnTo>
                    <a:pt x="133830" y="143496"/>
                  </a:lnTo>
                  <a:lnTo>
                    <a:pt x="362430" y="143496"/>
                  </a:lnTo>
                  <a:cubicBezTo>
                    <a:pt x="372908" y="143496"/>
                    <a:pt x="381480" y="134923"/>
                    <a:pt x="381480" y="124446"/>
                  </a:cubicBezTo>
                  <a:lnTo>
                    <a:pt x="381480" y="124446"/>
                  </a:lnTo>
                  <a:lnTo>
                    <a:pt x="381480" y="38721"/>
                  </a:lnTo>
                  <a:cubicBezTo>
                    <a:pt x="381480" y="28244"/>
                    <a:pt x="372908" y="19671"/>
                    <a:pt x="362430" y="19671"/>
                  </a:cubicBezTo>
                  <a:lnTo>
                    <a:pt x="362430" y="19671"/>
                  </a:lnTo>
                  <a:close/>
                  <a:moveTo>
                    <a:pt x="157643" y="86346"/>
                  </a:moveTo>
                  <a:cubicBezTo>
                    <a:pt x="165262" y="86346"/>
                    <a:pt x="171930" y="93014"/>
                    <a:pt x="171930" y="100634"/>
                  </a:cubicBezTo>
                  <a:cubicBezTo>
                    <a:pt x="171930" y="108253"/>
                    <a:pt x="165262" y="114921"/>
                    <a:pt x="157643" y="114921"/>
                  </a:cubicBezTo>
                  <a:cubicBezTo>
                    <a:pt x="150023" y="114921"/>
                    <a:pt x="143355" y="108253"/>
                    <a:pt x="143355" y="100634"/>
                  </a:cubicBezTo>
                  <a:cubicBezTo>
                    <a:pt x="143355" y="93014"/>
                    <a:pt x="150023" y="86346"/>
                    <a:pt x="157643" y="8634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/>
            </a:p>
          </p:txBody>
        </p:sp>
      </p:grpSp>
      <p:sp>
        <p:nvSpPr>
          <p:cNvPr id="8" name="íŝḻîḓe"/>
          <p:cNvSpPr/>
          <p:nvPr/>
        </p:nvSpPr>
        <p:spPr>
          <a:xfrm>
            <a:off x="6010473" y="2479508"/>
            <a:ext cx="621665" cy="621665"/>
          </a:xfrm>
          <a:prstGeom prst="ellipse">
            <a:avLst/>
          </a:prstGeom>
          <a:solidFill>
            <a:srgbClr val="F99A05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任意多边形 7"/>
          <p:cNvSpPr/>
          <p:nvPr/>
        </p:nvSpPr>
        <p:spPr>
          <a:xfrm>
            <a:off x="815472" y="2602063"/>
            <a:ext cx="304165" cy="292735"/>
          </a:xfrm>
          <a:custGeom>
            <a:avLst/>
            <a:gdLst>
              <a:gd name="T0" fmla="*/ 3750 w 10465"/>
              <a:gd name="T1" fmla="*/ 7230 h 10045"/>
              <a:gd name="T2" fmla="*/ 1875 w 10465"/>
              <a:gd name="T3" fmla="*/ 9105 h 10045"/>
              <a:gd name="T4" fmla="*/ 0 w 10465"/>
              <a:gd name="T5" fmla="*/ 7230 h 10045"/>
              <a:gd name="T6" fmla="*/ 1875 w 10465"/>
              <a:gd name="T7" fmla="*/ 5355 h 10045"/>
              <a:gd name="T8" fmla="*/ 3750 w 10465"/>
              <a:gd name="T9" fmla="*/ 7230 h 10045"/>
              <a:gd name="T10" fmla="*/ 1875 w 10465"/>
              <a:gd name="T11" fmla="*/ 8205 h 10045"/>
              <a:gd name="T12" fmla="*/ 2850 w 10465"/>
              <a:gd name="T13" fmla="*/ 7230 h 10045"/>
              <a:gd name="T14" fmla="*/ 1875 w 10465"/>
              <a:gd name="T15" fmla="*/ 6255 h 10045"/>
              <a:gd name="T16" fmla="*/ 900 w 10465"/>
              <a:gd name="T17" fmla="*/ 7230 h 10045"/>
              <a:gd name="T18" fmla="*/ 1875 w 10465"/>
              <a:gd name="T19" fmla="*/ 8205 h 10045"/>
              <a:gd name="T20" fmla="*/ 5215 w 10465"/>
              <a:gd name="T21" fmla="*/ 3750 h 10045"/>
              <a:gd name="T22" fmla="*/ 3340 w 10465"/>
              <a:gd name="T23" fmla="*/ 1875 h 10045"/>
              <a:gd name="T24" fmla="*/ 5215 w 10465"/>
              <a:gd name="T25" fmla="*/ 0 h 10045"/>
              <a:gd name="T26" fmla="*/ 7090 w 10465"/>
              <a:gd name="T27" fmla="*/ 1875 h 10045"/>
              <a:gd name="T28" fmla="*/ 5215 w 10465"/>
              <a:gd name="T29" fmla="*/ 3750 h 10045"/>
              <a:gd name="T30" fmla="*/ 5215 w 10465"/>
              <a:gd name="T31" fmla="*/ 900 h 10045"/>
              <a:gd name="T32" fmla="*/ 4240 w 10465"/>
              <a:gd name="T33" fmla="*/ 1875 h 10045"/>
              <a:gd name="T34" fmla="*/ 5215 w 10465"/>
              <a:gd name="T35" fmla="*/ 2850 h 10045"/>
              <a:gd name="T36" fmla="*/ 6190 w 10465"/>
              <a:gd name="T37" fmla="*/ 1875 h 10045"/>
              <a:gd name="T38" fmla="*/ 5215 w 10465"/>
              <a:gd name="T39" fmla="*/ 900 h 10045"/>
              <a:gd name="T40" fmla="*/ 8590 w 10465"/>
              <a:gd name="T41" fmla="*/ 5355 h 10045"/>
              <a:gd name="T42" fmla="*/ 10465 w 10465"/>
              <a:gd name="T43" fmla="*/ 7230 h 10045"/>
              <a:gd name="T44" fmla="*/ 8590 w 10465"/>
              <a:gd name="T45" fmla="*/ 9105 h 10045"/>
              <a:gd name="T46" fmla="*/ 6715 w 10465"/>
              <a:gd name="T47" fmla="*/ 7230 h 10045"/>
              <a:gd name="T48" fmla="*/ 8590 w 10465"/>
              <a:gd name="T49" fmla="*/ 5355 h 10045"/>
              <a:gd name="T50" fmla="*/ 8590 w 10465"/>
              <a:gd name="T51" fmla="*/ 8205 h 10045"/>
              <a:gd name="T52" fmla="*/ 9565 w 10465"/>
              <a:gd name="T53" fmla="*/ 7230 h 10045"/>
              <a:gd name="T54" fmla="*/ 8590 w 10465"/>
              <a:gd name="T55" fmla="*/ 6255 h 10045"/>
              <a:gd name="T56" fmla="*/ 7615 w 10465"/>
              <a:gd name="T57" fmla="*/ 7230 h 10045"/>
              <a:gd name="T58" fmla="*/ 8590 w 10465"/>
              <a:gd name="T59" fmla="*/ 8205 h 10045"/>
              <a:gd name="T60" fmla="*/ 8740 w 10465"/>
              <a:gd name="T61" fmla="*/ 5065 h 10045"/>
              <a:gd name="T62" fmla="*/ 7241 w 10465"/>
              <a:gd name="T63" fmla="*/ 2651 h 10045"/>
              <a:gd name="T64" fmla="*/ 7385 w 10465"/>
              <a:gd name="T65" fmla="*/ 1874 h 10045"/>
              <a:gd name="T66" fmla="*/ 7376 w 10465"/>
              <a:gd name="T67" fmla="*/ 1676 h 10045"/>
              <a:gd name="T68" fmla="*/ 9671 w 10465"/>
              <a:gd name="T69" fmla="*/ 5348 h 10045"/>
              <a:gd name="T70" fmla="*/ 8740 w 10465"/>
              <a:gd name="T71" fmla="*/ 5065 h 10045"/>
              <a:gd name="T72" fmla="*/ 6974 w 10465"/>
              <a:gd name="T73" fmla="*/ 8680 h 10045"/>
              <a:gd name="T74" fmla="*/ 7771 w 10465"/>
              <a:gd name="T75" fmla="*/ 9240 h 10045"/>
              <a:gd name="T76" fmla="*/ 5215 w 10465"/>
              <a:gd name="T77" fmla="*/ 10045 h 10045"/>
              <a:gd name="T78" fmla="*/ 2671 w 10465"/>
              <a:gd name="T79" fmla="*/ 9250 h 10045"/>
              <a:gd name="T80" fmla="*/ 3477 w 10465"/>
              <a:gd name="T81" fmla="*/ 8694 h 10045"/>
              <a:gd name="T82" fmla="*/ 5215 w 10465"/>
              <a:gd name="T83" fmla="*/ 9145 h 10045"/>
              <a:gd name="T84" fmla="*/ 6974 w 10465"/>
              <a:gd name="T85" fmla="*/ 8680 h 10045"/>
              <a:gd name="T86" fmla="*/ 3188 w 10465"/>
              <a:gd name="T87" fmla="*/ 2653 h 10045"/>
              <a:gd name="T88" fmla="*/ 1689 w 10465"/>
              <a:gd name="T89" fmla="*/ 5069 h 10045"/>
              <a:gd name="T90" fmla="*/ 757 w 10465"/>
              <a:gd name="T91" fmla="*/ 5370 h 10045"/>
              <a:gd name="T92" fmla="*/ 3053 w 10465"/>
              <a:gd name="T93" fmla="*/ 1678 h 10045"/>
              <a:gd name="T94" fmla="*/ 3045 w 10465"/>
              <a:gd name="T95" fmla="*/ 1875 h 10045"/>
              <a:gd name="T96" fmla="*/ 3188 w 10465"/>
              <a:gd name="T97" fmla="*/ 2653 h 10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465" h="10045">
                <a:moveTo>
                  <a:pt x="3750" y="7230"/>
                </a:moveTo>
                <a:cubicBezTo>
                  <a:pt x="3750" y="8266"/>
                  <a:pt x="2910" y="9105"/>
                  <a:pt x="1875" y="9105"/>
                </a:cubicBezTo>
                <a:cubicBezTo>
                  <a:pt x="840" y="9105"/>
                  <a:pt x="0" y="8265"/>
                  <a:pt x="0" y="7230"/>
                </a:cubicBezTo>
                <a:cubicBezTo>
                  <a:pt x="0" y="6195"/>
                  <a:pt x="840" y="5355"/>
                  <a:pt x="1875" y="5355"/>
                </a:cubicBezTo>
                <a:cubicBezTo>
                  <a:pt x="2910" y="5355"/>
                  <a:pt x="3750" y="6195"/>
                  <a:pt x="3750" y="7230"/>
                </a:cubicBezTo>
                <a:close/>
                <a:moveTo>
                  <a:pt x="1875" y="8205"/>
                </a:moveTo>
                <a:cubicBezTo>
                  <a:pt x="2413" y="8205"/>
                  <a:pt x="2850" y="7769"/>
                  <a:pt x="2850" y="7230"/>
                </a:cubicBezTo>
                <a:cubicBezTo>
                  <a:pt x="2850" y="6691"/>
                  <a:pt x="2413" y="6255"/>
                  <a:pt x="1875" y="6255"/>
                </a:cubicBezTo>
                <a:cubicBezTo>
                  <a:pt x="1336" y="6255"/>
                  <a:pt x="900" y="6691"/>
                  <a:pt x="900" y="7230"/>
                </a:cubicBezTo>
                <a:cubicBezTo>
                  <a:pt x="900" y="7769"/>
                  <a:pt x="1336" y="8205"/>
                  <a:pt x="1875" y="8205"/>
                </a:cubicBezTo>
                <a:close/>
                <a:moveTo>
                  <a:pt x="5215" y="3750"/>
                </a:moveTo>
                <a:cubicBezTo>
                  <a:pt x="4180" y="3750"/>
                  <a:pt x="3340" y="2910"/>
                  <a:pt x="3340" y="1875"/>
                </a:cubicBezTo>
                <a:cubicBezTo>
                  <a:pt x="3340" y="840"/>
                  <a:pt x="4180" y="0"/>
                  <a:pt x="5215" y="0"/>
                </a:cubicBezTo>
                <a:cubicBezTo>
                  <a:pt x="6249" y="0"/>
                  <a:pt x="7090" y="840"/>
                  <a:pt x="7090" y="1875"/>
                </a:cubicBezTo>
                <a:cubicBezTo>
                  <a:pt x="7090" y="2910"/>
                  <a:pt x="6249" y="3750"/>
                  <a:pt x="5215" y="3750"/>
                </a:cubicBezTo>
                <a:close/>
                <a:moveTo>
                  <a:pt x="5215" y="900"/>
                </a:moveTo>
                <a:cubicBezTo>
                  <a:pt x="4676" y="900"/>
                  <a:pt x="4240" y="1336"/>
                  <a:pt x="4240" y="1875"/>
                </a:cubicBezTo>
                <a:cubicBezTo>
                  <a:pt x="4240" y="2414"/>
                  <a:pt x="4676" y="2850"/>
                  <a:pt x="5215" y="2850"/>
                </a:cubicBezTo>
                <a:cubicBezTo>
                  <a:pt x="5753" y="2850"/>
                  <a:pt x="6190" y="2414"/>
                  <a:pt x="6190" y="1875"/>
                </a:cubicBezTo>
                <a:cubicBezTo>
                  <a:pt x="6190" y="1336"/>
                  <a:pt x="5753" y="900"/>
                  <a:pt x="5215" y="900"/>
                </a:cubicBezTo>
                <a:close/>
                <a:moveTo>
                  <a:pt x="8590" y="5355"/>
                </a:moveTo>
                <a:cubicBezTo>
                  <a:pt x="9626" y="5355"/>
                  <a:pt x="10465" y="6195"/>
                  <a:pt x="10465" y="7230"/>
                </a:cubicBezTo>
                <a:cubicBezTo>
                  <a:pt x="10465" y="8265"/>
                  <a:pt x="9625" y="9105"/>
                  <a:pt x="8590" y="9105"/>
                </a:cubicBezTo>
                <a:cubicBezTo>
                  <a:pt x="7555" y="9105"/>
                  <a:pt x="6715" y="8265"/>
                  <a:pt x="6715" y="7230"/>
                </a:cubicBezTo>
                <a:cubicBezTo>
                  <a:pt x="6715" y="6195"/>
                  <a:pt x="7555" y="5355"/>
                  <a:pt x="8590" y="5355"/>
                </a:cubicBezTo>
                <a:close/>
                <a:moveTo>
                  <a:pt x="8590" y="8205"/>
                </a:moveTo>
                <a:cubicBezTo>
                  <a:pt x="9128" y="8205"/>
                  <a:pt x="9565" y="7769"/>
                  <a:pt x="9565" y="7230"/>
                </a:cubicBezTo>
                <a:cubicBezTo>
                  <a:pt x="9565" y="6691"/>
                  <a:pt x="9128" y="6255"/>
                  <a:pt x="8590" y="6255"/>
                </a:cubicBezTo>
                <a:cubicBezTo>
                  <a:pt x="8051" y="6255"/>
                  <a:pt x="7615" y="6691"/>
                  <a:pt x="7615" y="7230"/>
                </a:cubicBezTo>
                <a:cubicBezTo>
                  <a:pt x="7615" y="7769"/>
                  <a:pt x="8051" y="8205"/>
                  <a:pt x="8590" y="8205"/>
                </a:cubicBezTo>
                <a:close/>
                <a:moveTo>
                  <a:pt x="8740" y="5065"/>
                </a:moveTo>
                <a:cubicBezTo>
                  <a:pt x="8595" y="4066"/>
                  <a:pt x="8035" y="3202"/>
                  <a:pt x="7241" y="2651"/>
                </a:cubicBezTo>
                <a:cubicBezTo>
                  <a:pt x="7333" y="2410"/>
                  <a:pt x="7385" y="2147"/>
                  <a:pt x="7385" y="1874"/>
                </a:cubicBezTo>
                <a:cubicBezTo>
                  <a:pt x="7385" y="1807"/>
                  <a:pt x="7382" y="1741"/>
                  <a:pt x="7376" y="1676"/>
                </a:cubicBezTo>
                <a:cubicBezTo>
                  <a:pt x="8683" y="2403"/>
                  <a:pt x="9590" y="3766"/>
                  <a:pt x="9671" y="5348"/>
                </a:cubicBezTo>
                <a:cubicBezTo>
                  <a:pt x="9393" y="5188"/>
                  <a:pt x="9077" y="5088"/>
                  <a:pt x="8740" y="5065"/>
                </a:cubicBezTo>
                <a:close/>
                <a:moveTo>
                  <a:pt x="6974" y="8680"/>
                </a:moveTo>
                <a:cubicBezTo>
                  <a:pt x="7193" y="8923"/>
                  <a:pt x="7465" y="9115"/>
                  <a:pt x="7771" y="9240"/>
                </a:cubicBezTo>
                <a:cubicBezTo>
                  <a:pt x="7047" y="9748"/>
                  <a:pt x="6166" y="10045"/>
                  <a:pt x="5215" y="10045"/>
                </a:cubicBezTo>
                <a:cubicBezTo>
                  <a:pt x="4270" y="10045"/>
                  <a:pt x="3393" y="9751"/>
                  <a:pt x="2671" y="9250"/>
                </a:cubicBezTo>
                <a:cubicBezTo>
                  <a:pt x="2981" y="9128"/>
                  <a:pt x="3256" y="8936"/>
                  <a:pt x="3477" y="8694"/>
                </a:cubicBezTo>
                <a:cubicBezTo>
                  <a:pt x="3992" y="8981"/>
                  <a:pt x="4583" y="9145"/>
                  <a:pt x="5215" y="9145"/>
                </a:cubicBezTo>
                <a:cubicBezTo>
                  <a:pt x="5855" y="9145"/>
                  <a:pt x="6456" y="8976"/>
                  <a:pt x="6974" y="8680"/>
                </a:cubicBezTo>
                <a:close/>
                <a:moveTo>
                  <a:pt x="3188" y="2653"/>
                </a:moveTo>
                <a:cubicBezTo>
                  <a:pt x="2393" y="3203"/>
                  <a:pt x="1833" y="4069"/>
                  <a:pt x="1689" y="5069"/>
                </a:cubicBezTo>
                <a:cubicBezTo>
                  <a:pt x="1351" y="5098"/>
                  <a:pt x="1033" y="5204"/>
                  <a:pt x="757" y="5370"/>
                </a:cubicBezTo>
                <a:cubicBezTo>
                  <a:pt x="832" y="3779"/>
                  <a:pt x="1739" y="2406"/>
                  <a:pt x="3053" y="1678"/>
                </a:cubicBezTo>
                <a:cubicBezTo>
                  <a:pt x="3048" y="1743"/>
                  <a:pt x="3045" y="1809"/>
                  <a:pt x="3045" y="1875"/>
                </a:cubicBezTo>
                <a:cubicBezTo>
                  <a:pt x="3045" y="2149"/>
                  <a:pt x="3096" y="2411"/>
                  <a:pt x="3188" y="2653"/>
                </a:cubicBez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iś1iḍè"/>
          <p:cNvSpPr/>
          <p:nvPr/>
        </p:nvSpPr>
        <p:spPr>
          <a:xfrm>
            <a:off x="6174375" y="2602183"/>
            <a:ext cx="298826" cy="321812"/>
          </a:xfrm>
          <a:custGeom>
            <a:avLst/>
            <a:gdLst>
              <a:gd name="connsiteX0" fmla="*/ 362430 w 495300"/>
              <a:gd name="connsiteY0" fmla="*/ 621 h 533400"/>
              <a:gd name="connsiteX1" fmla="*/ 400530 w 495300"/>
              <a:gd name="connsiteY1" fmla="*/ 38721 h 533400"/>
              <a:gd name="connsiteX2" fmla="*/ 400530 w 495300"/>
              <a:gd name="connsiteY2" fmla="*/ 38721 h 533400"/>
              <a:gd name="connsiteX3" fmla="*/ 400530 w 495300"/>
              <a:gd name="connsiteY3" fmla="*/ 124446 h 533400"/>
              <a:gd name="connsiteX4" fmla="*/ 362430 w 495300"/>
              <a:gd name="connsiteY4" fmla="*/ 162546 h 533400"/>
              <a:gd name="connsiteX5" fmla="*/ 362430 w 495300"/>
              <a:gd name="connsiteY5" fmla="*/ 162546 h 533400"/>
              <a:gd name="connsiteX6" fmla="*/ 257655 w 495300"/>
              <a:gd name="connsiteY6" fmla="*/ 162546 h 533400"/>
              <a:gd name="connsiteX7" fmla="*/ 257655 w 495300"/>
              <a:gd name="connsiteY7" fmla="*/ 295896 h 533400"/>
              <a:gd name="connsiteX8" fmla="*/ 419580 w 495300"/>
              <a:gd name="connsiteY8" fmla="*/ 295896 h 533400"/>
              <a:gd name="connsiteX9" fmla="*/ 457680 w 495300"/>
              <a:gd name="connsiteY9" fmla="*/ 332091 h 533400"/>
              <a:gd name="connsiteX10" fmla="*/ 457680 w 495300"/>
              <a:gd name="connsiteY10" fmla="*/ 333996 h 533400"/>
              <a:gd name="connsiteX11" fmla="*/ 457680 w 495300"/>
              <a:gd name="connsiteY11" fmla="*/ 438771 h 533400"/>
              <a:gd name="connsiteX12" fmla="*/ 467205 w 495300"/>
              <a:gd name="connsiteY12" fmla="*/ 438771 h 533400"/>
              <a:gd name="connsiteX13" fmla="*/ 495780 w 495300"/>
              <a:gd name="connsiteY13" fmla="*/ 465441 h 533400"/>
              <a:gd name="connsiteX14" fmla="*/ 495780 w 495300"/>
              <a:gd name="connsiteY14" fmla="*/ 467346 h 533400"/>
              <a:gd name="connsiteX15" fmla="*/ 495780 w 495300"/>
              <a:gd name="connsiteY15" fmla="*/ 505446 h 533400"/>
              <a:gd name="connsiteX16" fmla="*/ 467205 w 495300"/>
              <a:gd name="connsiteY16" fmla="*/ 534021 h 533400"/>
              <a:gd name="connsiteX17" fmla="*/ 467205 w 495300"/>
              <a:gd name="connsiteY17" fmla="*/ 534021 h 533400"/>
              <a:gd name="connsiteX18" fmla="*/ 429105 w 495300"/>
              <a:gd name="connsiteY18" fmla="*/ 534021 h 533400"/>
              <a:gd name="connsiteX19" fmla="*/ 400530 w 495300"/>
              <a:gd name="connsiteY19" fmla="*/ 505446 h 533400"/>
              <a:gd name="connsiteX20" fmla="*/ 400530 w 495300"/>
              <a:gd name="connsiteY20" fmla="*/ 505446 h 533400"/>
              <a:gd name="connsiteX21" fmla="*/ 400530 w 495300"/>
              <a:gd name="connsiteY21" fmla="*/ 467346 h 533400"/>
              <a:gd name="connsiteX22" fmla="*/ 429105 w 495300"/>
              <a:gd name="connsiteY22" fmla="*/ 438771 h 533400"/>
              <a:gd name="connsiteX23" fmla="*/ 429105 w 495300"/>
              <a:gd name="connsiteY23" fmla="*/ 438771 h 533400"/>
              <a:gd name="connsiteX24" fmla="*/ 438630 w 495300"/>
              <a:gd name="connsiteY24" fmla="*/ 438771 h 533400"/>
              <a:gd name="connsiteX25" fmla="*/ 438630 w 495300"/>
              <a:gd name="connsiteY25" fmla="*/ 333996 h 533400"/>
              <a:gd name="connsiteX26" fmla="*/ 420533 w 495300"/>
              <a:gd name="connsiteY26" fmla="*/ 314946 h 533400"/>
              <a:gd name="connsiteX27" fmla="*/ 419580 w 495300"/>
              <a:gd name="connsiteY27" fmla="*/ 314946 h 533400"/>
              <a:gd name="connsiteX28" fmla="*/ 257655 w 495300"/>
              <a:gd name="connsiteY28" fmla="*/ 314946 h 533400"/>
              <a:gd name="connsiteX29" fmla="*/ 257655 w 495300"/>
              <a:gd name="connsiteY29" fmla="*/ 438771 h 533400"/>
              <a:gd name="connsiteX30" fmla="*/ 267180 w 495300"/>
              <a:gd name="connsiteY30" fmla="*/ 438771 h 533400"/>
              <a:gd name="connsiteX31" fmla="*/ 295755 w 495300"/>
              <a:gd name="connsiteY31" fmla="*/ 465441 h 533400"/>
              <a:gd name="connsiteX32" fmla="*/ 295755 w 495300"/>
              <a:gd name="connsiteY32" fmla="*/ 467346 h 533400"/>
              <a:gd name="connsiteX33" fmla="*/ 295755 w 495300"/>
              <a:gd name="connsiteY33" fmla="*/ 505446 h 533400"/>
              <a:gd name="connsiteX34" fmla="*/ 267180 w 495300"/>
              <a:gd name="connsiteY34" fmla="*/ 534021 h 533400"/>
              <a:gd name="connsiteX35" fmla="*/ 267180 w 495300"/>
              <a:gd name="connsiteY35" fmla="*/ 534021 h 533400"/>
              <a:gd name="connsiteX36" fmla="*/ 229080 w 495300"/>
              <a:gd name="connsiteY36" fmla="*/ 534021 h 533400"/>
              <a:gd name="connsiteX37" fmla="*/ 200505 w 495300"/>
              <a:gd name="connsiteY37" fmla="*/ 505446 h 533400"/>
              <a:gd name="connsiteX38" fmla="*/ 200505 w 495300"/>
              <a:gd name="connsiteY38" fmla="*/ 505446 h 533400"/>
              <a:gd name="connsiteX39" fmla="*/ 200505 w 495300"/>
              <a:gd name="connsiteY39" fmla="*/ 467346 h 533400"/>
              <a:gd name="connsiteX40" fmla="*/ 229080 w 495300"/>
              <a:gd name="connsiteY40" fmla="*/ 438771 h 533400"/>
              <a:gd name="connsiteX41" fmla="*/ 229080 w 495300"/>
              <a:gd name="connsiteY41" fmla="*/ 438771 h 533400"/>
              <a:gd name="connsiteX42" fmla="*/ 238605 w 495300"/>
              <a:gd name="connsiteY42" fmla="*/ 438771 h 533400"/>
              <a:gd name="connsiteX43" fmla="*/ 238605 w 495300"/>
              <a:gd name="connsiteY43" fmla="*/ 314946 h 533400"/>
              <a:gd name="connsiteX44" fmla="*/ 76680 w 495300"/>
              <a:gd name="connsiteY44" fmla="*/ 314946 h 533400"/>
              <a:gd name="connsiteX45" fmla="*/ 57630 w 495300"/>
              <a:gd name="connsiteY45" fmla="*/ 333044 h 533400"/>
              <a:gd name="connsiteX46" fmla="*/ 57630 w 495300"/>
              <a:gd name="connsiteY46" fmla="*/ 333996 h 533400"/>
              <a:gd name="connsiteX47" fmla="*/ 57630 w 495300"/>
              <a:gd name="connsiteY47" fmla="*/ 438771 h 533400"/>
              <a:gd name="connsiteX48" fmla="*/ 67155 w 495300"/>
              <a:gd name="connsiteY48" fmla="*/ 438771 h 533400"/>
              <a:gd name="connsiteX49" fmla="*/ 95730 w 495300"/>
              <a:gd name="connsiteY49" fmla="*/ 465441 h 533400"/>
              <a:gd name="connsiteX50" fmla="*/ 95730 w 495300"/>
              <a:gd name="connsiteY50" fmla="*/ 467346 h 533400"/>
              <a:gd name="connsiteX51" fmla="*/ 95730 w 495300"/>
              <a:gd name="connsiteY51" fmla="*/ 505446 h 533400"/>
              <a:gd name="connsiteX52" fmla="*/ 67155 w 495300"/>
              <a:gd name="connsiteY52" fmla="*/ 534021 h 533400"/>
              <a:gd name="connsiteX53" fmla="*/ 67155 w 495300"/>
              <a:gd name="connsiteY53" fmla="*/ 534021 h 533400"/>
              <a:gd name="connsiteX54" fmla="*/ 29055 w 495300"/>
              <a:gd name="connsiteY54" fmla="*/ 534021 h 533400"/>
              <a:gd name="connsiteX55" fmla="*/ 480 w 495300"/>
              <a:gd name="connsiteY55" fmla="*/ 505446 h 533400"/>
              <a:gd name="connsiteX56" fmla="*/ 480 w 495300"/>
              <a:gd name="connsiteY56" fmla="*/ 505446 h 533400"/>
              <a:gd name="connsiteX57" fmla="*/ 480 w 495300"/>
              <a:gd name="connsiteY57" fmla="*/ 467346 h 533400"/>
              <a:gd name="connsiteX58" fmla="*/ 29055 w 495300"/>
              <a:gd name="connsiteY58" fmla="*/ 438771 h 533400"/>
              <a:gd name="connsiteX59" fmla="*/ 29055 w 495300"/>
              <a:gd name="connsiteY59" fmla="*/ 438771 h 533400"/>
              <a:gd name="connsiteX60" fmla="*/ 38580 w 495300"/>
              <a:gd name="connsiteY60" fmla="*/ 438771 h 533400"/>
              <a:gd name="connsiteX61" fmla="*/ 38580 w 495300"/>
              <a:gd name="connsiteY61" fmla="*/ 333996 h 533400"/>
              <a:gd name="connsiteX62" fmla="*/ 74775 w 495300"/>
              <a:gd name="connsiteY62" fmla="*/ 295896 h 533400"/>
              <a:gd name="connsiteX63" fmla="*/ 76680 w 495300"/>
              <a:gd name="connsiteY63" fmla="*/ 295896 h 533400"/>
              <a:gd name="connsiteX64" fmla="*/ 238605 w 495300"/>
              <a:gd name="connsiteY64" fmla="*/ 295896 h 533400"/>
              <a:gd name="connsiteX65" fmla="*/ 238605 w 495300"/>
              <a:gd name="connsiteY65" fmla="*/ 162546 h 533400"/>
              <a:gd name="connsiteX66" fmla="*/ 133830 w 495300"/>
              <a:gd name="connsiteY66" fmla="*/ 162546 h 533400"/>
              <a:gd name="connsiteX67" fmla="*/ 95730 w 495300"/>
              <a:gd name="connsiteY67" fmla="*/ 126351 h 533400"/>
              <a:gd name="connsiteX68" fmla="*/ 95730 w 495300"/>
              <a:gd name="connsiteY68" fmla="*/ 124446 h 533400"/>
              <a:gd name="connsiteX69" fmla="*/ 95730 w 495300"/>
              <a:gd name="connsiteY69" fmla="*/ 38721 h 533400"/>
              <a:gd name="connsiteX70" fmla="*/ 133830 w 495300"/>
              <a:gd name="connsiteY70" fmla="*/ 621 h 533400"/>
              <a:gd name="connsiteX71" fmla="*/ 133830 w 495300"/>
              <a:gd name="connsiteY71" fmla="*/ 621 h 533400"/>
              <a:gd name="connsiteX72" fmla="*/ 362430 w 495300"/>
              <a:gd name="connsiteY72" fmla="*/ 621 h 533400"/>
              <a:gd name="connsiteX73" fmla="*/ 67155 w 495300"/>
              <a:gd name="connsiteY73" fmla="*/ 457821 h 533400"/>
              <a:gd name="connsiteX74" fmla="*/ 29055 w 495300"/>
              <a:gd name="connsiteY74" fmla="*/ 457821 h 533400"/>
              <a:gd name="connsiteX75" fmla="*/ 19530 w 495300"/>
              <a:gd name="connsiteY75" fmla="*/ 467346 h 533400"/>
              <a:gd name="connsiteX76" fmla="*/ 19530 w 495300"/>
              <a:gd name="connsiteY76" fmla="*/ 467346 h 533400"/>
              <a:gd name="connsiteX77" fmla="*/ 19530 w 495300"/>
              <a:gd name="connsiteY77" fmla="*/ 505446 h 533400"/>
              <a:gd name="connsiteX78" fmla="*/ 29055 w 495300"/>
              <a:gd name="connsiteY78" fmla="*/ 514971 h 533400"/>
              <a:gd name="connsiteX79" fmla="*/ 29055 w 495300"/>
              <a:gd name="connsiteY79" fmla="*/ 514971 h 533400"/>
              <a:gd name="connsiteX80" fmla="*/ 67155 w 495300"/>
              <a:gd name="connsiteY80" fmla="*/ 514971 h 533400"/>
              <a:gd name="connsiteX81" fmla="*/ 76680 w 495300"/>
              <a:gd name="connsiteY81" fmla="*/ 505446 h 533400"/>
              <a:gd name="connsiteX82" fmla="*/ 76680 w 495300"/>
              <a:gd name="connsiteY82" fmla="*/ 505446 h 533400"/>
              <a:gd name="connsiteX83" fmla="*/ 76680 w 495300"/>
              <a:gd name="connsiteY83" fmla="*/ 467346 h 533400"/>
              <a:gd name="connsiteX84" fmla="*/ 67155 w 495300"/>
              <a:gd name="connsiteY84" fmla="*/ 457821 h 533400"/>
              <a:gd name="connsiteX85" fmla="*/ 67155 w 495300"/>
              <a:gd name="connsiteY85" fmla="*/ 457821 h 533400"/>
              <a:gd name="connsiteX86" fmla="*/ 267180 w 495300"/>
              <a:gd name="connsiteY86" fmla="*/ 457821 h 533400"/>
              <a:gd name="connsiteX87" fmla="*/ 229080 w 495300"/>
              <a:gd name="connsiteY87" fmla="*/ 457821 h 533400"/>
              <a:gd name="connsiteX88" fmla="*/ 219555 w 495300"/>
              <a:gd name="connsiteY88" fmla="*/ 467346 h 533400"/>
              <a:gd name="connsiteX89" fmla="*/ 219555 w 495300"/>
              <a:gd name="connsiteY89" fmla="*/ 467346 h 533400"/>
              <a:gd name="connsiteX90" fmla="*/ 219555 w 495300"/>
              <a:gd name="connsiteY90" fmla="*/ 505446 h 533400"/>
              <a:gd name="connsiteX91" fmla="*/ 229080 w 495300"/>
              <a:gd name="connsiteY91" fmla="*/ 514971 h 533400"/>
              <a:gd name="connsiteX92" fmla="*/ 229080 w 495300"/>
              <a:gd name="connsiteY92" fmla="*/ 514971 h 533400"/>
              <a:gd name="connsiteX93" fmla="*/ 267180 w 495300"/>
              <a:gd name="connsiteY93" fmla="*/ 514971 h 533400"/>
              <a:gd name="connsiteX94" fmla="*/ 276705 w 495300"/>
              <a:gd name="connsiteY94" fmla="*/ 505446 h 533400"/>
              <a:gd name="connsiteX95" fmla="*/ 276705 w 495300"/>
              <a:gd name="connsiteY95" fmla="*/ 505446 h 533400"/>
              <a:gd name="connsiteX96" fmla="*/ 276705 w 495300"/>
              <a:gd name="connsiteY96" fmla="*/ 467346 h 533400"/>
              <a:gd name="connsiteX97" fmla="*/ 267180 w 495300"/>
              <a:gd name="connsiteY97" fmla="*/ 457821 h 533400"/>
              <a:gd name="connsiteX98" fmla="*/ 267180 w 495300"/>
              <a:gd name="connsiteY98" fmla="*/ 457821 h 533400"/>
              <a:gd name="connsiteX99" fmla="*/ 467205 w 495300"/>
              <a:gd name="connsiteY99" fmla="*/ 457821 h 533400"/>
              <a:gd name="connsiteX100" fmla="*/ 429105 w 495300"/>
              <a:gd name="connsiteY100" fmla="*/ 457821 h 533400"/>
              <a:gd name="connsiteX101" fmla="*/ 419580 w 495300"/>
              <a:gd name="connsiteY101" fmla="*/ 467346 h 533400"/>
              <a:gd name="connsiteX102" fmla="*/ 419580 w 495300"/>
              <a:gd name="connsiteY102" fmla="*/ 467346 h 533400"/>
              <a:gd name="connsiteX103" fmla="*/ 419580 w 495300"/>
              <a:gd name="connsiteY103" fmla="*/ 505446 h 533400"/>
              <a:gd name="connsiteX104" fmla="*/ 429105 w 495300"/>
              <a:gd name="connsiteY104" fmla="*/ 514971 h 533400"/>
              <a:gd name="connsiteX105" fmla="*/ 429105 w 495300"/>
              <a:gd name="connsiteY105" fmla="*/ 514971 h 533400"/>
              <a:gd name="connsiteX106" fmla="*/ 467205 w 495300"/>
              <a:gd name="connsiteY106" fmla="*/ 514971 h 533400"/>
              <a:gd name="connsiteX107" fmla="*/ 476730 w 495300"/>
              <a:gd name="connsiteY107" fmla="*/ 505446 h 533400"/>
              <a:gd name="connsiteX108" fmla="*/ 476730 w 495300"/>
              <a:gd name="connsiteY108" fmla="*/ 505446 h 533400"/>
              <a:gd name="connsiteX109" fmla="*/ 476730 w 495300"/>
              <a:gd name="connsiteY109" fmla="*/ 467346 h 533400"/>
              <a:gd name="connsiteX110" fmla="*/ 467205 w 495300"/>
              <a:gd name="connsiteY110" fmla="*/ 457821 h 533400"/>
              <a:gd name="connsiteX111" fmla="*/ 467205 w 495300"/>
              <a:gd name="connsiteY111" fmla="*/ 457821 h 533400"/>
              <a:gd name="connsiteX112" fmla="*/ 362430 w 495300"/>
              <a:gd name="connsiteY112" fmla="*/ 19671 h 533400"/>
              <a:gd name="connsiteX113" fmla="*/ 133830 w 495300"/>
              <a:gd name="connsiteY113" fmla="*/ 19671 h 533400"/>
              <a:gd name="connsiteX114" fmla="*/ 114780 w 495300"/>
              <a:gd name="connsiteY114" fmla="*/ 38721 h 533400"/>
              <a:gd name="connsiteX115" fmla="*/ 114780 w 495300"/>
              <a:gd name="connsiteY115" fmla="*/ 38721 h 533400"/>
              <a:gd name="connsiteX116" fmla="*/ 114780 w 495300"/>
              <a:gd name="connsiteY116" fmla="*/ 124446 h 533400"/>
              <a:gd name="connsiteX117" fmla="*/ 133830 w 495300"/>
              <a:gd name="connsiteY117" fmla="*/ 143496 h 533400"/>
              <a:gd name="connsiteX118" fmla="*/ 133830 w 495300"/>
              <a:gd name="connsiteY118" fmla="*/ 143496 h 533400"/>
              <a:gd name="connsiteX119" fmla="*/ 362430 w 495300"/>
              <a:gd name="connsiteY119" fmla="*/ 143496 h 533400"/>
              <a:gd name="connsiteX120" fmla="*/ 381480 w 495300"/>
              <a:gd name="connsiteY120" fmla="*/ 124446 h 533400"/>
              <a:gd name="connsiteX121" fmla="*/ 381480 w 495300"/>
              <a:gd name="connsiteY121" fmla="*/ 124446 h 533400"/>
              <a:gd name="connsiteX122" fmla="*/ 381480 w 495300"/>
              <a:gd name="connsiteY122" fmla="*/ 38721 h 533400"/>
              <a:gd name="connsiteX123" fmla="*/ 362430 w 495300"/>
              <a:gd name="connsiteY123" fmla="*/ 19671 h 533400"/>
              <a:gd name="connsiteX124" fmla="*/ 362430 w 495300"/>
              <a:gd name="connsiteY124" fmla="*/ 19671 h 533400"/>
              <a:gd name="connsiteX125" fmla="*/ 157643 w 495300"/>
              <a:gd name="connsiteY125" fmla="*/ 86346 h 533400"/>
              <a:gd name="connsiteX126" fmla="*/ 171930 w 495300"/>
              <a:gd name="connsiteY126" fmla="*/ 100634 h 533400"/>
              <a:gd name="connsiteX127" fmla="*/ 157643 w 495300"/>
              <a:gd name="connsiteY127" fmla="*/ 114921 h 533400"/>
              <a:gd name="connsiteX128" fmla="*/ 143355 w 495300"/>
              <a:gd name="connsiteY128" fmla="*/ 100634 h 533400"/>
              <a:gd name="connsiteX129" fmla="*/ 157643 w 495300"/>
              <a:gd name="connsiteY129" fmla="*/ 86346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95300" h="533400">
                <a:moveTo>
                  <a:pt x="362430" y="621"/>
                </a:moveTo>
                <a:cubicBezTo>
                  <a:pt x="383385" y="621"/>
                  <a:pt x="400530" y="17766"/>
                  <a:pt x="400530" y="38721"/>
                </a:cubicBezTo>
                <a:lnTo>
                  <a:pt x="400530" y="38721"/>
                </a:lnTo>
                <a:lnTo>
                  <a:pt x="400530" y="124446"/>
                </a:lnTo>
                <a:cubicBezTo>
                  <a:pt x="400530" y="145401"/>
                  <a:pt x="383385" y="162546"/>
                  <a:pt x="362430" y="162546"/>
                </a:cubicBezTo>
                <a:lnTo>
                  <a:pt x="362430" y="162546"/>
                </a:lnTo>
                <a:lnTo>
                  <a:pt x="257655" y="162546"/>
                </a:lnTo>
                <a:lnTo>
                  <a:pt x="257655" y="295896"/>
                </a:lnTo>
                <a:lnTo>
                  <a:pt x="419580" y="295896"/>
                </a:lnTo>
                <a:cubicBezTo>
                  <a:pt x="439583" y="295896"/>
                  <a:pt x="456727" y="312089"/>
                  <a:pt x="457680" y="332091"/>
                </a:cubicBezTo>
                <a:lnTo>
                  <a:pt x="457680" y="333996"/>
                </a:lnTo>
                <a:lnTo>
                  <a:pt x="457680" y="438771"/>
                </a:lnTo>
                <a:lnTo>
                  <a:pt x="467205" y="438771"/>
                </a:lnTo>
                <a:cubicBezTo>
                  <a:pt x="482445" y="438771"/>
                  <a:pt x="494827" y="450201"/>
                  <a:pt x="495780" y="465441"/>
                </a:cubicBezTo>
                <a:lnTo>
                  <a:pt x="495780" y="467346"/>
                </a:lnTo>
                <a:lnTo>
                  <a:pt x="495780" y="505446"/>
                </a:lnTo>
                <a:cubicBezTo>
                  <a:pt x="495780" y="521639"/>
                  <a:pt x="483398" y="534021"/>
                  <a:pt x="467205" y="534021"/>
                </a:cubicBezTo>
                <a:lnTo>
                  <a:pt x="467205" y="534021"/>
                </a:lnTo>
                <a:lnTo>
                  <a:pt x="429105" y="534021"/>
                </a:lnTo>
                <a:cubicBezTo>
                  <a:pt x="412912" y="534021"/>
                  <a:pt x="400530" y="521639"/>
                  <a:pt x="400530" y="505446"/>
                </a:cubicBezTo>
                <a:lnTo>
                  <a:pt x="400530" y="505446"/>
                </a:lnTo>
                <a:lnTo>
                  <a:pt x="400530" y="467346"/>
                </a:lnTo>
                <a:cubicBezTo>
                  <a:pt x="400530" y="451153"/>
                  <a:pt x="412912" y="438771"/>
                  <a:pt x="429105" y="438771"/>
                </a:cubicBezTo>
                <a:lnTo>
                  <a:pt x="429105" y="438771"/>
                </a:lnTo>
                <a:lnTo>
                  <a:pt x="438630" y="438771"/>
                </a:lnTo>
                <a:lnTo>
                  <a:pt x="438630" y="333996"/>
                </a:lnTo>
                <a:cubicBezTo>
                  <a:pt x="438630" y="323519"/>
                  <a:pt x="431010" y="315898"/>
                  <a:pt x="420533" y="314946"/>
                </a:cubicBezTo>
                <a:lnTo>
                  <a:pt x="419580" y="314946"/>
                </a:lnTo>
                <a:lnTo>
                  <a:pt x="257655" y="314946"/>
                </a:lnTo>
                <a:lnTo>
                  <a:pt x="257655" y="438771"/>
                </a:lnTo>
                <a:lnTo>
                  <a:pt x="267180" y="438771"/>
                </a:lnTo>
                <a:cubicBezTo>
                  <a:pt x="282420" y="438771"/>
                  <a:pt x="294802" y="450201"/>
                  <a:pt x="295755" y="465441"/>
                </a:cubicBezTo>
                <a:lnTo>
                  <a:pt x="295755" y="467346"/>
                </a:lnTo>
                <a:lnTo>
                  <a:pt x="295755" y="505446"/>
                </a:lnTo>
                <a:cubicBezTo>
                  <a:pt x="295755" y="521639"/>
                  <a:pt x="283373" y="534021"/>
                  <a:pt x="267180" y="534021"/>
                </a:cubicBezTo>
                <a:lnTo>
                  <a:pt x="267180" y="534021"/>
                </a:lnTo>
                <a:lnTo>
                  <a:pt x="229080" y="534021"/>
                </a:lnTo>
                <a:cubicBezTo>
                  <a:pt x="212887" y="534021"/>
                  <a:pt x="200505" y="521639"/>
                  <a:pt x="200505" y="505446"/>
                </a:cubicBezTo>
                <a:lnTo>
                  <a:pt x="200505" y="505446"/>
                </a:lnTo>
                <a:lnTo>
                  <a:pt x="200505" y="467346"/>
                </a:lnTo>
                <a:cubicBezTo>
                  <a:pt x="200505" y="451153"/>
                  <a:pt x="212887" y="438771"/>
                  <a:pt x="229080" y="438771"/>
                </a:cubicBezTo>
                <a:lnTo>
                  <a:pt x="229080" y="438771"/>
                </a:lnTo>
                <a:lnTo>
                  <a:pt x="238605" y="438771"/>
                </a:lnTo>
                <a:lnTo>
                  <a:pt x="238605" y="314946"/>
                </a:lnTo>
                <a:lnTo>
                  <a:pt x="76680" y="314946"/>
                </a:lnTo>
                <a:cubicBezTo>
                  <a:pt x="66202" y="314946"/>
                  <a:pt x="58583" y="322566"/>
                  <a:pt x="57630" y="333044"/>
                </a:cubicBezTo>
                <a:lnTo>
                  <a:pt x="57630" y="333996"/>
                </a:lnTo>
                <a:lnTo>
                  <a:pt x="57630" y="438771"/>
                </a:lnTo>
                <a:lnTo>
                  <a:pt x="67155" y="438771"/>
                </a:lnTo>
                <a:cubicBezTo>
                  <a:pt x="82395" y="438771"/>
                  <a:pt x="94777" y="450201"/>
                  <a:pt x="95730" y="465441"/>
                </a:cubicBezTo>
                <a:lnTo>
                  <a:pt x="95730" y="467346"/>
                </a:lnTo>
                <a:lnTo>
                  <a:pt x="95730" y="505446"/>
                </a:lnTo>
                <a:cubicBezTo>
                  <a:pt x="95730" y="521639"/>
                  <a:pt x="83348" y="534021"/>
                  <a:pt x="67155" y="534021"/>
                </a:cubicBezTo>
                <a:lnTo>
                  <a:pt x="67155" y="534021"/>
                </a:lnTo>
                <a:lnTo>
                  <a:pt x="29055" y="534021"/>
                </a:lnTo>
                <a:cubicBezTo>
                  <a:pt x="12862" y="534021"/>
                  <a:pt x="480" y="521639"/>
                  <a:pt x="480" y="505446"/>
                </a:cubicBezTo>
                <a:lnTo>
                  <a:pt x="480" y="505446"/>
                </a:lnTo>
                <a:lnTo>
                  <a:pt x="480" y="467346"/>
                </a:lnTo>
                <a:cubicBezTo>
                  <a:pt x="480" y="451153"/>
                  <a:pt x="12862" y="438771"/>
                  <a:pt x="29055" y="438771"/>
                </a:cubicBezTo>
                <a:lnTo>
                  <a:pt x="29055" y="438771"/>
                </a:lnTo>
                <a:lnTo>
                  <a:pt x="38580" y="438771"/>
                </a:lnTo>
                <a:lnTo>
                  <a:pt x="38580" y="333996"/>
                </a:lnTo>
                <a:cubicBezTo>
                  <a:pt x="38580" y="313994"/>
                  <a:pt x="54773" y="296848"/>
                  <a:pt x="74775" y="295896"/>
                </a:cubicBezTo>
                <a:lnTo>
                  <a:pt x="76680" y="295896"/>
                </a:lnTo>
                <a:lnTo>
                  <a:pt x="238605" y="295896"/>
                </a:lnTo>
                <a:lnTo>
                  <a:pt x="238605" y="162546"/>
                </a:lnTo>
                <a:lnTo>
                  <a:pt x="133830" y="162546"/>
                </a:lnTo>
                <a:cubicBezTo>
                  <a:pt x="113827" y="162546"/>
                  <a:pt x="96683" y="146353"/>
                  <a:pt x="95730" y="126351"/>
                </a:cubicBezTo>
                <a:lnTo>
                  <a:pt x="95730" y="124446"/>
                </a:lnTo>
                <a:lnTo>
                  <a:pt x="95730" y="38721"/>
                </a:lnTo>
                <a:cubicBezTo>
                  <a:pt x="95730" y="17766"/>
                  <a:pt x="112875" y="621"/>
                  <a:pt x="133830" y="621"/>
                </a:cubicBezTo>
                <a:lnTo>
                  <a:pt x="133830" y="621"/>
                </a:lnTo>
                <a:lnTo>
                  <a:pt x="362430" y="621"/>
                </a:lnTo>
                <a:close/>
                <a:moveTo>
                  <a:pt x="67155" y="457821"/>
                </a:moveTo>
                <a:lnTo>
                  <a:pt x="29055" y="457821"/>
                </a:lnTo>
                <a:cubicBezTo>
                  <a:pt x="23340" y="457821"/>
                  <a:pt x="19530" y="461631"/>
                  <a:pt x="19530" y="467346"/>
                </a:cubicBezTo>
                <a:lnTo>
                  <a:pt x="19530" y="467346"/>
                </a:lnTo>
                <a:lnTo>
                  <a:pt x="19530" y="505446"/>
                </a:lnTo>
                <a:cubicBezTo>
                  <a:pt x="19530" y="511161"/>
                  <a:pt x="23340" y="514971"/>
                  <a:pt x="29055" y="514971"/>
                </a:cubicBezTo>
                <a:lnTo>
                  <a:pt x="29055" y="514971"/>
                </a:lnTo>
                <a:lnTo>
                  <a:pt x="67155" y="514971"/>
                </a:lnTo>
                <a:cubicBezTo>
                  <a:pt x="72870" y="514971"/>
                  <a:pt x="76680" y="511161"/>
                  <a:pt x="76680" y="505446"/>
                </a:cubicBezTo>
                <a:lnTo>
                  <a:pt x="76680" y="505446"/>
                </a:lnTo>
                <a:lnTo>
                  <a:pt x="76680" y="467346"/>
                </a:lnTo>
                <a:cubicBezTo>
                  <a:pt x="76680" y="461631"/>
                  <a:pt x="72870" y="457821"/>
                  <a:pt x="67155" y="457821"/>
                </a:cubicBezTo>
                <a:lnTo>
                  <a:pt x="67155" y="457821"/>
                </a:lnTo>
                <a:close/>
                <a:moveTo>
                  <a:pt x="267180" y="457821"/>
                </a:moveTo>
                <a:lnTo>
                  <a:pt x="229080" y="457821"/>
                </a:lnTo>
                <a:cubicBezTo>
                  <a:pt x="223365" y="457821"/>
                  <a:pt x="219555" y="461631"/>
                  <a:pt x="219555" y="467346"/>
                </a:cubicBezTo>
                <a:lnTo>
                  <a:pt x="219555" y="467346"/>
                </a:lnTo>
                <a:lnTo>
                  <a:pt x="219555" y="505446"/>
                </a:lnTo>
                <a:cubicBezTo>
                  <a:pt x="219555" y="511161"/>
                  <a:pt x="223365" y="514971"/>
                  <a:pt x="229080" y="514971"/>
                </a:cubicBezTo>
                <a:lnTo>
                  <a:pt x="229080" y="514971"/>
                </a:lnTo>
                <a:lnTo>
                  <a:pt x="267180" y="514971"/>
                </a:lnTo>
                <a:cubicBezTo>
                  <a:pt x="272895" y="514971"/>
                  <a:pt x="276705" y="511161"/>
                  <a:pt x="276705" y="505446"/>
                </a:cubicBezTo>
                <a:lnTo>
                  <a:pt x="276705" y="505446"/>
                </a:lnTo>
                <a:lnTo>
                  <a:pt x="276705" y="467346"/>
                </a:lnTo>
                <a:cubicBezTo>
                  <a:pt x="276705" y="461631"/>
                  <a:pt x="272895" y="457821"/>
                  <a:pt x="267180" y="457821"/>
                </a:cubicBezTo>
                <a:lnTo>
                  <a:pt x="267180" y="457821"/>
                </a:lnTo>
                <a:close/>
                <a:moveTo>
                  <a:pt x="467205" y="457821"/>
                </a:moveTo>
                <a:lnTo>
                  <a:pt x="429105" y="457821"/>
                </a:lnTo>
                <a:cubicBezTo>
                  <a:pt x="423390" y="457821"/>
                  <a:pt x="419580" y="461631"/>
                  <a:pt x="419580" y="467346"/>
                </a:cubicBezTo>
                <a:lnTo>
                  <a:pt x="419580" y="467346"/>
                </a:lnTo>
                <a:lnTo>
                  <a:pt x="419580" y="505446"/>
                </a:lnTo>
                <a:cubicBezTo>
                  <a:pt x="419580" y="511161"/>
                  <a:pt x="423390" y="514971"/>
                  <a:pt x="429105" y="514971"/>
                </a:cubicBezTo>
                <a:lnTo>
                  <a:pt x="429105" y="514971"/>
                </a:lnTo>
                <a:lnTo>
                  <a:pt x="467205" y="514971"/>
                </a:lnTo>
                <a:cubicBezTo>
                  <a:pt x="472920" y="514971"/>
                  <a:pt x="476730" y="511161"/>
                  <a:pt x="476730" y="505446"/>
                </a:cubicBezTo>
                <a:lnTo>
                  <a:pt x="476730" y="505446"/>
                </a:lnTo>
                <a:lnTo>
                  <a:pt x="476730" y="467346"/>
                </a:lnTo>
                <a:cubicBezTo>
                  <a:pt x="476730" y="461631"/>
                  <a:pt x="472920" y="457821"/>
                  <a:pt x="467205" y="457821"/>
                </a:cubicBezTo>
                <a:lnTo>
                  <a:pt x="467205" y="457821"/>
                </a:lnTo>
                <a:close/>
                <a:moveTo>
                  <a:pt x="362430" y="19671"/>
                </a:moveTo>
                <a:lnTo>
                  <a:pt x="133830" y="19671"/>
                </a:lnTo>
                <a:cubicBezTo>
                  <a:pt x="123352" y="19671"/>
                  <a:pt x="114780" y="28244"/>
                  <a:pt x="114780" y="38721"/>
                </a:cubicBezTo>
                <a:lnTo>
                  <a:pt x="114780" y="38721"/>
                </a:lnTo>
                <a:lnTo>
                  <a:pt x="114780" y="124446"/>
                </a:lnTo>
                <a:cubicBezTo>
                  <a:pt x="114780" y="134923"/>
                  <a:pt x="123352" y="143496"/>
                  <a:pt x="133830" y="143496"/>
                </a:cubicBezTo>
                <a:lnTo>
                  <a:pt x="133830" y="143496"/>
                </a:lnTo>
                <a:lnTo>
                  <a:pt x="362430" y="143496"/>
                </a:lnTo>
                <a:cubicBezTo>
                  <a:pt x="372908" y="143496"/>
                  <a:pt x="381480" y="134923"/>
                  <a:pt x="381480" y="124446"/>
                </a:cubicBezTo>
                <a:lnTo>
                  <a:pt x="381480" y="124446"/>
                </a:lnTo>
                <a:lnTo>
                  <a:pt x="381480" y="38721"/>
                </a:lnTo>
                <a:cubicBezTo>
                  <a:pt x="381480" y="28244"/>
                  <a:pt x="372908" y="19671"/>
                  <a:pt x="362430" y="19671"/>
                </a:cubicBezTo>
                <a:lnTo>
                  <a:pt x="362430" y="19671"/>
                </a:lnTo>
                <a:close/>
                <a:moveTo>
                  <a:pt x="157643" y="86346"/>
                </a:moveTo>
                <a:cubicBezTo>
                  <a:pt x="165262" y="86346"/>
                  <a:pt x="171930" y="93014"/>
                  <a:pt x="171930" y="100634"/>
                </a:cubicBezTo>
                <a:cubicBezTo>
                  <a:pt x="171930" y="108253"/>
                  <a:pt x="165262" y="114921"/>
                  <a:pt x="157643" y="114921"/>
                </a:cubicBezTo>
                <a:cubicBezTo>
                  <a:pt x="150023" y="114921"/>
                  <a:pt x="143355" y="108253"/>
                  <a:pt x="143355" y="100634"/>
                </a:cubicBezTo>
                <a:cubicBezTo>
                  <a:pt x="143355" y="93014"/>
                  <a:pt x="150023" y="86346"/>
                  <a:pt x="157643" y="8634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2000"/>
          </a:p>
        </p:txBody>
      </p:sp>
      <p:grpSp>
        <p:nvGrpSpPr>
          <p:cNvPr id="11" name="îṡ1ídê"/>
          <p:cNvGrpSpPr/>
          <p:nvPr/>
        </p:nvGrpSpPr>
        <p:grpSpPr>
          <a:xfrm>
            <a:off x="658627" y="3885398"/>
            <a:ext cx="5926268" cy="849617"/>
            <a:chOff x="1150070" y="2258518"/>
            <a:chExt cx="6863685" cy="984010"/>
          </a:xfrm>
        </p:grpSpPr>
        <p:sp>
          <p:nvSpPr>
            <p:cNvPr id="27" name="íŝḻîḓe"/>
            <p:cNvSpPr/>
            <p:nvPr/>
          </p:nvSpPr>
          <p:spPr>
            <a:xfrm>
              <a:off x="1150070" y="2258518"/>
              <a:ext cx="720000" cy="72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iś1iḍè"/>
            <p:cNvSpPr/>
            <p:nvPr/>
          </p:nvSpPr>
          <p:spPr>
            <a:xfrm>
              <a:off x="7667661" y="2869812"/>
              <a:ext cx="346094" cy="372716"/>
            </a:xfrm>
            <a:custGeom>
              <a:avLst/>
              <a:gdLst>
                <a:gd name="connsiteX0" fmla="*/ 362430 w 495300"/>
                <a:gd name="connsiteY0" fmla="*/ 621 h 533400"/>
                <a:gd name="connsiteX1" fmla="*/ 400530 w 495300"/>
                <a:gd name="connsiteY1" fmla="*/ 38721 h 533400"/>
                <a:gd name="connsiteX2" fmla="*/ 400530 w 495300"/>
                <a:gd name="connsiteY2" fmla="*/ 38721 h 533400"/>
                <a:gd name="connsiteX3" fmla="*/ 400530 w 495300"/>
                <a:gd name="connsiteY3" fmla="*/ 124446 h 533400"/>
                <a:gd name="connsiteX4" fmla="*/ 362430 w 495300"/>
                <a:gd name="connsiteY4" fmla="*/ 162546 h 533400"/>
                <a:gd name="connsiteX5" fmla="*/ 362430 w 495300"/>
                <a:gd name="connsiteY5" fmla="*/ 162546 h 533400"/>
                <a:gd name="connsiteX6" fmla="*/ 257655 w 495300"/>
                <a:gd name="connsiteY6" fmla="*/ 162546 h 533400"/>
                <a:gd name="connsiteX7" fmla="*/ 257655 w 495300"/>
                <a:gd name="connsiteY7" fmla="*/ 295896 h 533400"/>
                <a:gd name="connsiteX8" fmla="*/ 419580 w 495300"/>
                <a:gd name="connsiteY8" fmla="*/ 295896 h 533400"/>
                <a:gd name="connsiteX9" fmla="*/ 457680 w 495300"/>
                <a:gd name="connsiteY9" fmla="*/ 332091 h 533400"/>
                <a:gd name="connsiteX10" fmla="*/ 457680 w 495300"/>
                <a:gd name="connsiteY10" fmla="*/ 333996 h 533400"/>
                <a:gd name="connsiteX11" fmla="*/ 457680 w 495300"/>
                <a:gd name="connsiteY11" fmla="*/ 438771 h 533400"/>
                <a:gd name="connsiteX12" fmla="*/ 467205 w 495300"/>
                <a:gd name="connsiteY12" fmla="*/ 438771 h 533400"/>
                <a:gd name="connsiteX13" fmla="*/ 495780 w 495300"/>
                <a:gd name="connsiteY13" fmla="*/ 465441 h 533400"/>
                <a:gd name="connsiteX14" fmla="*/ 495780 w 495300"/>
                <a:gd name="connsiteY14" fmla="*/ 467346 h 533400"/>
                <a:gd name="connsiteX15" fmla="*/ 495780 w 495300"/>
                <a:gd name="connsiteY15" fmla="*/ 505446 h 533400"/>
                <a:gd name="connsiteX16" fmla="*/ 467205 w 495300"/>
                <a:gd name="connsiteY16" fmla="*/ 534021 h 533400"/>
                <a:gd name="connsiteX17" fmla="*/ 467205 w 495300"/>
                <a:gd name="connsiteY17" fmla="*/ 534021 h 533400"/>
                <a:gd name="connsiteX18" fmla="*/ 429105 w 495300"/>
                <a:gd name="connsiteY18" fmla="*/ 534021 h 533400"/>
                <a:gd name="connsiteX19" fmla="*/ 400530 w 495300"/>
                <a:gd name="connsiteY19" fmla="*/ 505446 h 533400"/>
                <a:gd name="connsiteX20" fmla="*/ 400530 w 495300"/>
                <a:gd name="connsiteY20" fmla="*/ 505446 h 533400"/>
                <a:gd name="connsiteX21" fmla="*/ 400530 w 495300"/>
                <a:gd name="connsiteY21" fmla="*/ 467346 h 533400"/>
                <a:gd name="connsiteX22" fmla="*/ 429105 w 495300"/>
                <a:gd name="connsiteY22" fmla="*/ 438771 h 533400"/>
                <a:gd name="connsiteX23" fmla="*/ 429105 w 495300"/>
                <a:gd name="connsiteY23" fmla="*/ 438771 h 533400"/>
                <a:gd name="connsiteX24" fmla="*/ 438630 w 495300"/>
                <a:gd name="connsiteY24" fmla="*/ 438771 h 533400"/>
                <a:gd name="connsiteX25" fmla="*/ 438630 w 495300"/>
                <a:gd name="connsiteY25" fmla="*/ 333996 h 533400"/>
                <a:gd name="connsiteX26" fmla="*/ 420533 w 495300"/>
                <a:gd name="connsiteY26" fmla="*/ 314946 h 533400"/>
                <a:gd name="connsiteX27" fmla="*/ 419580 w 495300"/>
                <a:gd name="connsiteY27" fmla="*/ 314946 h 533400"/>
                <a:gd name="connsiteX28" fmla="*/ 257655 w 495300"/>
                <a:gd name="connsiteY28" fmla="*/ 314946 h 533400"/>
                <a:gd name="connsiteX29" fmla="*/ 257655 w 495300"/>
                <a:gd name="connsiteY29" fmla="*/ 438771 h 533400"/>
                <a:gd name="connsiteX30" fmla="*/ 267180 w 495300"/>
                <a:gd name="connsiteY30" fmla="*/ 438771 h 533400"/>
                <a:gd name="connsiteX31" fmla="*/ 295755 w 495300"/>
                <a:gd name="connsiteY31" fmla="*/ 465441 h 533400"/>
                <a:gd name="connsiteX32" fmla="*/ 295755 w 495300"/>
                <a:gd name="connsiteY32" fmla="*/ 467346 h 533400"/>
                <a:gd name="connsiteX33" fmla="*/ 295755 w 495300"/>
                <a:gd name="connsiteY33" fmla="*/ 505446 h 533400"/>
                <a:gd name="connsiteX34" fmla="*/ 267180 w 495300"/>
                <a:gd name="connsiteY34" fmla="*/ 534021 h 533400"/>
                <a:gd name="connsiteX35" fmla="*/ 267180 w 495300"/>
                <a:gd name="connsiteY35" fmla="*/ 534021 h 533400"/>
                <a:gd name="connsiteX36" fmla="*/ 229080 w 495300"/>
                <a:gd name="connsiteY36" fmla="*/ 534021 h 533400"/>
                <a:gd name="connsiteX37" fmla="*/ 200505 w 495300"/>
                <a:gd name="connsiteY37" fmla="*/ 505446 h 533400"/>
                <a:gd name="connsiteX38" fmla="*/ 200505 w 495300"/>
                <a:gd name="connsiteY38" fmla="*/ 505446 h 533400"/>
                <a:gd name="connsiteX39" fmla="*/ 200505 w 495300"/>
                <a:gd name="connsiteY39" fmla="*/ 467346 h 533400"/>
                <a:gd name="connsiteX40" fmla="*/ 229080 w 495300"/>
                <a:gd name="connsiteY40" fmla="*/ 438771 h 533400"/>
                <a:gd name="connsiteX41" fmla="*/ 229080 w 495300"/>
                <a:gd name="connsiteY41" fmla="*/ 438771 h 533400"/>
                <a:gd name="connsiteX42" fmla="*/ 238605 w 495300"/>
                <a:gd name="connsiteY42" fmla="*/ 438771 h 533400"/>
                <a:gd name="connsiteX43" fmla="*/ 238605 w 495300"/>
                <a:gd name="connsiteY43" fmla="*/ 314946 h 533400"/>
                <a:gd name="connsiteX44" fmla="*/ 76680 w 495300"/>
                <a:gd name="connsiteY44" fmla="*/ 314946 h 533400"/>
                <a:gd name="connsiteX45" fmla="*/ 57630 w 495300"/>
                <a:gd name="connsiteY45" fmla="*/ 333044 h 533400"/>
                <a:gd name="connsiteX46" fmla="*/ 57630 w 495300"/>
                <a:gd name="connsiteY46" fmla="*/ 333996 h 533400"/>
                <a:gd name="connsiteX47" fmla="*/ 57630 w 495300"/>
                <a:gd name="connsiteY47" fmla="*/ 438771 h 533400"/>
                <a:gd name="connsiteX48" fmla="*/ 67155 w 495300"/>
                <a:gd name="connsiteY48" fmla="*/ 438771 h 533400"/>
                <a:gd name="connsiteX49" fmla="*/ 95730 w 495300"/>
                <a:gd name="connsiteY49" fmla="*/ 465441 h 533400"/>
                <a:gd name="connsiteX50" fmla="*/ 95730 w 495300"/>
                <a:gd name="connsiteY50" fmla="*/ 467346 h 533400"/>
                <a:gd name="connsiteX51" fmla="*/ 95730 w 495300"/>
                <a:gd name="connsiteY51" fmla="*/ 505446 h 533400"/>
                <a:gd name="connsiteX52" fmla="*/ 67155 w 495300"/>
                <a:gd name="connsiteY52" fmla="*/ 534021 h 533400"/>
                <a:gd name="connsiteX53" fmla="*/ 67155 w 495300"/>
                <a:gd name="connsiteY53" fmla="*/ 534021 h 533400"/>
                <a:gd name="connsiteX54" fmla="*/ 29055 w 495300"/>
                <a:gd name="connsiteY54" fmla="*/ 534021 h 533400"/>
                <a:gd name="connsiteX55" fmla="*/ 480 w 495300"/>
                <a:gd name="connsiteY55" fmla="*/ 505446 h 533400"/>
                <a:gd name="connsiteX56" fmla="*/ 480 w 495300"/>
                <a:gd name="connsiteY56" fmla="*/ 505446 h 533400"/>
                <a:gd name="connsiteX57" fmla="*/ 480 w 495300"/>
                <a:gd name="connsiteY57" fmla="*/ 467346 h 533400"/>
                <a:gd name="connsiteX58" fmla="*/ 29055 w 495300"/>
                <a:gd name="connsiteY58" fmla="*/ 438771 h 533400"/>
                <a:gd name="connsiteX59" fmla="*/ 29055 w 495300"/>
                <a:gd name="connsiteY59" fmla="*/ 438771 h 533400"/>
                <a:gd name="connsiteX60" fmla="*/ 38580 w 495300"/>
                <a:gd name="connsiteY60" fmla="*/ 438771 h 533400"/>
                <a:gd name="connsiteX61" fmla="*/ 38580 w 495300"/>
                <a:gd name="connsiteY61" fmla="*/ 333996 h 533400"/>
                <a:gd name="connsiteX62" fmla="*/ 74775 w 495300"/>
                <a:gd name="connsiteY62" fmla="*/ 295896 h 533400"/>
                <a:gd name="connsiteX63" fmla="*/ 76680 w 495300"/>
                <a:gd name="connsiteY63" fmla="*/ 295896 h 533400"/>
                <a:gd name="connsiteX64" fmla="*/ 238605 w 495300"/>
                <a:gd name="connsiteY64" fmla="*/ 295896 h 533400"/>
                <a:gd name="connsiteX65" fmla="*/ 238605 w 495300"/>
                <a:gd name="connsiteY65" fmla="*/ 162546 h 533400"/>
                <a:gd name="connsiteX66" fmla="*/ 133830 w 495300"/>
                <a:gd name="connsiteY66" fmla="*/ 162546 h 533400"/>
                <a:gd name="connsiteX67" fmla="*/ 95730 w 495300"/>
                <a:gd name="connsiteY67" fmla="*/ 126351 h 533400"/>
                <a:gd name="connsiteX68" fmla="*/ 95730 w 495300"/>
                <a:gd name="connsiteY68" fmla="*/ 124446 h 533400"/>
                <a:gd name="connsiteX69" fmla="*/ 95730 w 495300"/>
                <a:gd name="connsiteY69" fmla="*/ 38721 h 533400"/>
                <a:gd name="connsiteX70" fmla="*/ 133830 w 495300"/>
                <a:gd name="connsiteY70" fmla="*/ 621 h 533400"/>
                <a:gd name="connsiteX71" fmla="*/ 133830 w 495300"/>
                <a:gd name="connsiteY71" fmla="*/ 621 h 533400"/>
                <a:gd name="connsiteX72" fmla="*/ 362430 w 495300"/>
                <a:gd name="connsiteY72" fmla="*/ 621 h 533400"/>
                <a:gd name="connsiteX73" fmla="*/ 67155 w 495300"/>
                <a:gd name="connsiteY73" fmla="*/ 457821 h 533400"/>
                <a:gd name="connsiteX74" fmla="*/ 29055 w 495300"/>
                <a:gd name="connsiteY74" fmla="*/ 457821 h 533400"/>
                <a:gd name="connsiteX75" fmla="*/ 19530 w 495300"/>
                <a:gd name="connsiteY75" fmla="*/ 467346 h 533400"/>
                <a:gd name="connsiteX76" fmla="*/ 19530 w 495300"/>
                <a:gd name="connsiteY76" fmla="*/ 467346 h 533400"/>
                <a:gd name="connsiteX77" fmla="*/ 19530 w 495300"/>
                <a:gd name="connsiteY77" fmla="*/ 505446 h 533400"/>
                <a:gd name="connsiteX78" fmla="*/ 29055 w 495300"/>
                <a:gd name="connsiteY78" fmla="*/ 514971 h 533400"/>
                <a:gd name="connsiteX79" fmla="*/ 29055 w 495300"/>
                <a:gd name="connsiteY79" fmla="*/ 514971 h 533400"/>
                <a:gd name="connsiteX80" fmla="*/ 67155 w 495300"/>
                <a:gd name="connsiteY80" fmla="*/ 514971 h 533400"/>
                <a:gd name="connsiteX81" fmla="*/ 76680 w 495300"/>
                <a:gd name="connsiteY81" fmla="*/ 505446 h 533400"/>
                <a:gd name="connsiteX82" fmla="*/ 76680 w 495300"/>
                <a:gd name="connsiteY82" fmla="*/ 505446 h 533400"/>
                <a:gd name="connsiteX83" fmla="*/ 76680 w 495300"/>
                <a:gd name="connsiteY83" fmla="*/ 467346 h 533400"/>
                <a:gd name="connsiteX84" fmla="*/ 67155 w 495300"/>
                <a:gd name="connsiteY84" fmla="*/ 457821 h 533400"/>
                <a:gd name="connsiteX85" fmla="*/ 67155 w 495300"/>
                <a:gd name="connsiteY85" fmla="*/ 457821 h 533400"/>
                <a:gd name="connsiteX86" fmla="*/ 267180 w 495300"/>
                <a:gd name="connsiteY86" fmla="*/ 457821 h 533400"/>
                <a:gd name="connsiteX87" fmla="*/ 229080 w 495300"/>
                <a:gd name="connsiteY87" fmla="*/ 457821 h 533400"/>
                <a:gd name="connsiteX88" fmla="*/ 219555 w 495300"/>
                <a:gd name="connsiteY88" fmla="*/ 467346 h 533400"/>
                <a:gd name="connsiteX89" fmla="*/ 219555 w 495300"/>
                <a:gd name="connsiteY89" fmla="*/ 467346 h 533400"/>
                <a:gd name="connsiteX90" fmla="*/ 219555 w 495300"/>
                <a:gd name="connsiteY90" fmla="*/ 505446 h 533400"/>
                <a:gd name="connsiteX91" fmla="*/ 229080 w 495300"/>
                <a:gd name="connsiteY91" fmla="*/ 514971 h 533400"/>
                <a:gd name="connsiteX92" fmla="*/ 229080 w 495300"/>
                <a:gd name="connsiteY92" fmla="*/ 514971 h 533400"/>
                <a:gd name="connsiteX93" fmla="*/ 267180 w 495300"/>
                <a:gd name="connsiteY93" fmla="*/ 514971 h 533400"/>
                <a:gd name="connsiteX94" fmla="*/ 276705 w 495300"/>
                <a:gd name="connsiteY94" fmla="*/ 505446 h 533400"/>
                <a:gd name="connsiteX95" fmla="*/ 276705 w 495300"/>
                <a:gd name="connsiteY95" fmla="*/ 505446 h 533400"/>
                <a:gd name="connsiteX96" fmla="*/ 276705 w 495300"/>
                <a:gd name="connsiteY96" fmla="*/ 467346 h 533400"/>
                <a:gd name="connsiteX97" fmla="*/ 267180 w 495300"/>
                <a:gd name="connsiteY97" fmla="*/ 457821 h 533400"/>
                <a:gd name="connsiteX98" fmla="*/ 267180 w 495300"/>
                <a:gd name="connsiteY98" fmla="*/ 457821 h 533400"/>
                <a:gd name="connsiteX99" fmla="*/ 467205 w 495300"/>
                <a:gd name="connsiteY99" fmla="*/ 457821 h 533400"/>
                <a:gd name="connsiteX100" fmla="*/ 429105 w 495300"/>
                <a:gd name="connsiteY100" fmla="*/ 457821 h 533400"/>
                <a:gd name="connsiteX101" fmla="*/ 419580 w 495300"/>
                <a:gd name="connsiteY101" fmla="*/ 467346 h 533400"/>
                <a:gd name="connsiteX102" fmla="*/ 419580 w 495300"/>
                <a:gd name="connsiteY102" fmla="*/ 467346 h 533400"/>
                <a:gd name="connsiteX103" fmla="*/ 419580 w 495300"/>
                <a:gd name="connsiteY103" fmla="*/ 505446 h 533400"/>
                <a:gd name="connsiteX104" fmla="*/ 429105 w 495300"/>
                <a:gd name="connsiteY104" fmla="*/ 514971 h 533400"/>
                <a:gd name="connsiteX105" fmla="*/ 429105 w 495300"/>
                <a:gd name="connsiteY105" fmla="*/ 514971 h 533400"/>
                <a:gd name="connsiteX106" fmla="*/ 467205 w 495300"/>
                <a:gd name="connsiteY106" fmla="*/ 514971 h 533400"/>
                <a:gd name="connsiteX107" fmla="*/ 476730 w 495300"/>
                <a:gd name="connsiteY107" fmla="*/ 505446 h 533400"/>
                <a:gd name="connsiteX108" fmla="*/ 476730 w 495300"/>
                <a:gd name="connsiteY108" fmla="*/ 505446 h 533400"/>
                <a:gd name="connsiteX109" fmla="*/ 476730 w 495300"/>
                <a:gd name="connsiteY109" fmla="*/ 467346 h 533400"/>
                <a:gd name="connsiteX110" fmla="*/ 467205 w 495300"/>
                <a:gd name="connsiteY110" fmla="*/ 457821 h 533400"/>
                <a:gd name="connsiteX111" fmla="*/ 467205 w 495300"/>
                <a:gd name="connsiteY111" fmla="*/ 457821 h 533400"/>
                <a:gd name="connsiteX112" fmla="*/ 362430 w 495300"/>
                <a:gd name="connsiteY112" fmla="*/ 19671 h 533400"/>
                <a:gd name="connsiteX113" fmla="*/ 133830 w 495300"/>
                <a:gd name="connsiteY113" fmla="*/ 19671 h 533400"/>
                <a:gd name="connsiteX114" fmla="*/ 114780 w 495300"/>
                <a:gd name="connsiteY114" fmla="*/ 38721 h 533400"/>
                <a:gd name="connsiteX115" fmla="*/ 114780 w 495300"/>
                <a:gd name="connsiteY115" fmla="*/ 38721 h 533400"/>
                <a:gd name="connsiteX116" fmla="*/ 114780 w 495300"/>
                <a:gd name="connsiteY116" fmla="*/ 124446 h 533400"/>
                <a:gd name="connsiteX117" fmla="*/ 133830 w 495300"/>
                <a:gd name="connsiteY117" fmla="*/ 143496 h 533400"/>
                <a:gd name="connsiteX118" fmla="*/ 133830 w 495300"/>
                <a:gd name="connsiteY118" fmla="*/ 143496 h 533400"/>
                <a:gd name="connsiteX119" fmla="*/ 362430 w 495300"/>
                <a:gd name="connsiteY119" fmla="*/ 143496 h 533400"/>
                <a:gd name="connsiteX120" fmla="*/ 381480 w 495300"/>
                <a:gd name="connsiteY120" fmla="*/ 124446 h 533400"/>
                <a:gd name="connsiteX121" fmla="*/ 381480 w 495300"/>
                <a:gd name="connsiteY121" fmla="*/ 124446 h 533400"/>
                <a:gd name="connsiteX122" fmla="*/ 381480 w 495300"/>
                <a:gd name="connsiteY122" fmla="*/ 38721 h 533400"/>
                <a:gd name="connsiteX123" fmla="*/ 362430 w 495300"/>
                <a:gd name="connsiteY123" fmla="*/ 19671 h 533400"/>
                <a:gd name="connsiteX124" fmla="*/ 362430 w 495300"/>
                <a:gd name="connsiteY124" fmla="*/ 19671 h 533400"/>
                <a:gd name="connsiteX125" fmla="*/ 157643 w 495300"/>
                <a:gd name="connsiteY125" fmla="*/ 86346 h 533400"/>
                <a:gd name="connsiteX126" fmla="*/ 171930 w 495300"/>
                <a:gd name="connsiteY126" fmla="*/ 100634 h 533400"/>
                <a:gd name="connsiteX127" fmla="*/ 157643 w 495300"/>
                <a:gd name="connsiteY127" fmla="*/ 114921 h 533400"/>
                <a:gd name="connsiteX128" fmla="*/ 143355 w 495300"/>
                <a:gd name="connsiteY128" fmla="*/ 100634 h 533400"/>
                <a:gd name="connsiteX129" fmla="*/ 157643 w 495300"/>
                <a:gd name="connsiteY129" fmla="*/ 8634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95300" h="533400">
                  <a:moveTo>
                    <a:pt x="362430" y="621"/>
                  </a:moveTo>
                  <a:cubicBezTo>
                    <a:pt x="383385" y="621"/>
                    <a:pt x="400530" y="17766"/>
                    <a:pt x="400530" y="38721"/>
                  </a:cubicBezTo>
                  <a:lnTo>
                    <a:pt x="400530" y="38721"/>
                  </a:lnTo>
                  <a:lnTo>
                    <a:pt x="400530" y="124446"/>
                  </a:lnTo>
                  <a:cubicBezTo>
                    <a:pt x="400530" y="145401"/>
                    <a:pt x="383385" y="162546"/>
                    <a:pt x="362430" y="162546"/>
                  </a:cubicBezTo>
                  <a:lnTo>
                    <a:pt x="362430" y="162546"/>
                  </a:lnTo>
                  <a:lnTo>
                    <a:pt x="257655" y="162546"/>
                  </a:lnTo>
                  <a:lnTo>
                    <a:pt x="257655" y="295896"/>
                  </a:lnTo>
                  <a:lnTo>
                    <a:pt x="419580" y="295896"/>
                  </a:lnTo>
                  <a:cubicBezTo>
                    <a:pt x="439583" y="295896"/>
                    <a:pt x="456727" y="312089"/>
                    <a:pt x="457680" y="332091"/>
                  </a:cubicBezTo>
                  <a:lnTo>
                    <a:pt x="457680" y="333996"/>
                  </a:lnTo>
                  <a:lnTo>
                    <a:pt x="457680" y="438771"/>
                  </a:lnTo>
                  <a:lnTo>
                    <a:pt x="467205" y="438771"/>
                  </a:lnTo>
                  <a:cubicBezTo>
                    <a:pt x="482445" y="438771"/>
                    <a:pt x="494827" y="450201"/>
                    <a:pt x="495780" y="465441"/>
                  </a:cubicBezTo>
                  <a:lnTo>
                    <a:pt x="495780" y="467346"/>
                  </a:lnTo>
                  <a:lnTo>
                    <a:pt x="495780" y="505446"/>
                  </a:lnTo>
                  <a:cubicBezTo>
                    <a:pt x="495780" y="521639"/>
                    <a:pt x="483398" y="534021"/>
                    <a:pt x="467205" y="534021"/>
                  </a:cubicBezTo>
                  <a:lnTo>
                    <a:pt x="467205" y="534021"/>
                  </a:lnTo>
                  <a:lnTo>
                    <a:pt x="429105" y="534021"/>
                  </a:lnTo>
                  <a:cubicBezTo>
                    <a:pt x="412912" y="534021"/>
                    <a:pt x="400530" y="521639"/>
                    <a:pt x="400530" y="505446"/>
                  </a:cubicBezTo>
                  <a:lnTo>
                    <a:pt x="400530" y="505446"/>
                  </a:lnTo>
                  <a:lnTo>
                    <a:pt x="400530" y="467346"/>
                  </a:lnTo>
                  <a:cubicBezTo>
                    <a:pt x="400530" y="451153"/>
                    <a:pt x="412912" y="438771"/>
                    <a:pt x="429105" y="438771"/>
                  </a:cubicBezTo>
                  <a:lnTo>
                    <a:pt x="429105" y="438771"/>
                  </a:lnTo>
                  <a:lnTo>
                    <a:pt x="438630" y="438771"/>
                  </a:lnTo>
                  <a:lnTo>
                    <a:pt x="438630" y="333996"/>
                  </a:lnTo>
                  <a:cubicBezTo>
                    <a:pt x="438630" y="323519"/>
                    <a:pt x="431010" y="315898"/>
                    <a:pt x="420533" y="314946"/>
                  </a:cubicBezTo>
                  <a:lnTo>
                    <a:pt x="419580" y="314946"/>
                  </a:lnTo>
                  <a:lnTo>
                    <a:pt x="257655" y="314946"/>
                  </a:lnTo>
                  <a:lnTo>
                    <a:pt x="257655" y="438771"/>
                  </a:lnTo>
                  <a:lnTo>
                    <a:pt x="267180" y="438771"/>
                  </a:lnTo>
                  <a:cubicBezTo>
                    <a:pt x="282420" y="438771"/>
                    <a:pt x="294802" y="450201"/>
                    <a:pt x="295755" y="465441"/>
                  </a:cubicBezTo>
                  <a:lnTo>
                    <a:pt x="295755" y="467346"/>
                  </a:lnTo>
                  <a:lnTo>
                    <a:pt x="295755" y="505446"/>
                  </a:lnTo>
                  <a:cubicBezTo>
                    <a:pt x="295755" y="521639"/>
                    <a:pt x="283373" y="534021"/>
                    <a:pt x="267180" y="534021"/>
                  </a:cubicBezTo>
                  <a:lnTo>
                    <a:pt x="267180" y="534021"/>
                  </a:lnTo>
                  <a:lnTo>
                    <a:pt x="229080" y="534021"/>
                  </a:lnTo>
                  <a:cubicBezTo>
                    <a:pt x="212887" y="534021"/>
                    <a:pt x="200505" y="521639"/>
                    <a:pt x="200505" y="505446"/>
                  </a:cubicBezTo>
                  <a:lnTo>
                    <a:pt x="200505" y="505446"/>
                  </a:lnTo>
                  <a:lnTo>
                    <a:pt x="200505" y="467346"/>
                  </a:lnTo>
                  <a:cubicBezTo>
                    <a:pt x="200505" y="451153"/>
                    <a:pt x="212887" y="438771"/>
                    <a:pt x="229080" y="438771"/>
                  </a:cubicBezTo>
                  <a:lnTo>
                    <a:pt x="229080" y="438771"/>
                  </a:lnTo>
                  <a:lnTo>
                    <a:pt x="238605" y="438771"/>
                  </a:lnTo>
                  <a:lnTo>
                    <a:pt x="238605" y="314946"/>
                  </a:lnTo>
                  <a:lnTo>
                    <a:pt x="76680" y="314946"/>
                  </a:lnTo>
                  <a:cubicBezTo>
                    <a:pt x="66202" y="314946"/>
                    <a:pt x="58583" y="322566"/>
                    <a:pt x="57630" y="333044"/>
                  </a:cubicBezTo>
                  <a:lnTo>
                    <a:pt x="57630" y="333996"/>
                  </a:lnTo>
                  <a:lnTo>
                    <a:pt x="57630" y="438771"/>
                  </a:lnTo>
                  <a:lnTo>
                    <a:pt x="67155" y="438771"/>
                  </a:lnTo>
                  <a:cubicBezTo>
                    <a:pt x="82395" y="438771"/>
                    <a:pt x="94777" y="450201"/>
                    <a:pt x="95730" y="465441"/>
                  </a:cubicBezTo>
                  <a:lnTo>
                    <a:pt x="95730" y="467346"/>
                  </a:lnTo>
                  <a:lnTo>
                    <a:pt x="95730" y="505446"/>
                  </a:lnTo>
                  <a:cubicBezTo>
                    <a:pt x="95730" y="521639"/>
                    <a:pt x="83348" y="534021"/>
                    <a:pt x="67155" y="534021"/>
                  </a:cubicBezTo>
                  <a:lnTo>
                    <a:pt x="67155" y="534021"/>
                  </a:lnTo>
                  <a:lnTo>
                    <a:pt x="29055" y="534021"/>
                  </a:lnTo>
                  <a:cubicBezTo>
                    <a:pt x="12862" y="534021"/>
                    <a:pt x="480" y="521639"/>
                    <a:pt x="480" y="505446"/>
                  </a:cubicBezTo>
                  <a:lnTo>
                    <a:pt x="480" y="505446"/>
                  </a:lnTo>
                  <a:lnTo>
                    <a:pt x="480" y="467346"/>
                  </a:lnTo>
                  <a:cubicBezTo>
                    <a:pt x="480" y="451153"/>
                    <a:pt x="12862" y="438771"/>
                    <a:pt x="29055" y="438771"/>
                  </a:cubicBezTo>
                  <a:lnTo>
                    <a:pt x="29055" y="438771"/>
                  </a:lnTo>
                  <a:lnTo>
                    <a:pt x="38580" y="438771"/>
                  </a:lnTo>
                  <a:lnTo>
                    <a:pt x="38580" y="333996"/>
                  </a:lnTo>
                  <a:cubicBezTo>
                    <a:pt x="38580" y="313994"/>
                    <a:pt x="54773" y="296848"/>
                    <a:pt x="74775" y="295896"/>
                  </a:cubicBezTo>
                  <a:lnTo>
                    <a:pt x="76680" y="295896"/>
                  </a:lnTo>
                  <a:lnTo>
                    <a:pt x="238605" y="295896"/>
                  </a:lnTo>
                  <a:lnTo>
                    <a:pt x="238605" y="162546"/>
                  </a:lnTo>
                  <a:lnTo>
                    <a:pt x="133830" y="162546"/>
                  </a:lnTo>
                  <a:cubicBezTo>
                    <a:pt x="113827" y="162546"/>
                    <a:pt x="96683" y="146353"/>
                    <a:pt x="95730" y="126351"/>
                  </a:cubicBezTo>
                  <a:lnTo>
                    <a:pt x="95730" y="124446"/>
                  </a:lnTo>
                  <a:lnTo>
                    <a:pt x="95730" y="38721"/>
                  </a:lnTo>
                  <a:cubicBezTo>
                    <a:pt x="95730" y="17766"/>
                    <a:pt x="112875" y="621"/>
                    <a:pt x="133830" y="621"/>
                  </a:cubicBezTo>
                  <a:lnTo>
                    <a:pt x="133830" y="621"/>
                  </a:lnTo>
                  <a:lnTo>
                    <a:pt x="362430" y="621"/>
                  </a:lnTo>
                  <a:close/>
                  <a:moveTo>
                    <a:pt x="67155" y="457821"/>
                  </a:moveTo>
                  <a:lnTo>
                    <a:pt x="29055" y="457821"/>
                  </a:lnTo>
                  <a:cubicBezTo>
                    <a:pt x="23340" y="457821"/>
                    <a:pt x="19530" y="461631"/>
                    <a:pt x="19530" y="467346"/>
                  </a:cubicBezTo>
                  <a:lnTo>
                    <a:pt x="19530" y="467346"/>
                  </a:lnTo>
                  <a:lnTo>
                    <a:pt x="19530" y="505446"/>
                  </a:lnTo>
                  <a:cubicBezTo>
                    <a:pt x="19530" y="511161"/>
                    <a:pt x="23340" y="514971"/>
                    <a:pt x="29055" y="514971"/>
                  </a:cubicBezTo>
                  <a:lnTo>
                    <a:pt x="29055" y="514971"/>
                  </a:lnTo>
                  <a:lnTo>
                    <a:pt x="67155" y="514971"/>
                  </a:lnTo>
                  <a:cubicBezTo>
                    <a:pt x="72870" y="514971"/>
                    <a:pt x="76680" y="511161"/>
                    <a:pt x="76680" y="505446"/>
                  </a:cubicBezTo>
                  <a:lnTo>
                    <a:pt x="76680" y="505446"/>
                  </a:lnTo>
                  <a:lnTo>
                    <a:pt x="76680" y="467346"/>
                  </a:lnTo>
                  <a:cubicBezTo>
                    <a:pt x="76680" y="461631"/>
                    <a:pt x="72870" y="457821"/>
                    <a:pt x="67155" y="457821"/>
                  </a:cubicBezTo>
                  <a:lnTo>
                    <a:pt x="67155" y="457821"/>
                  </a:lnTo>
                  <a:close/>
                  <a:moveTo>
                    <a:pt x="267180" y="457821"/>
                  </a:moveTo>
                  <a:lnTo>
                    <a:pt x="229080" y="457821"/>
                  </a:lnTo>
                  <a:cubicBezTo>
                    <a:pt x="223365" y="457821"/>
                    <a:pt x="219555" y="461631"/>
                    <a:pt x="219555" y="467346"/>
                  </a:cubicBezTo>
                  <a:lnTo>
                    <a:pt x="219555" y="467346"/>
                  </a:lnTo>
                  <a:lnTo>
                    <a:pt x="219555" y="505446"/>
                  </a:lnTo>
                  <a:cubicBezTo>
                    <a:pt x="219555" y="511161"/>
                    <a:pt x="223365" y="514971"/>
                    <a:pt x="229080" y="514971"/>
                  </a:cubicBezTo>
                  <a:lnTo>
                    <a:pt x="229080" y="514971"/>
                  </a:lnTo>
                  <a:lnTo>
                    <a:pt x="267180" y="514971"/>
                  </a:lnTo>
                  <a:cubicBezTo>
                    <a:pt x="272895" y="514971"/>
                    <a:pt x="276705" y="511161"/>
                    <a:pt x="276705" y="505446"/>
                  </a:cubicBezTo>
                  <a:lnTo>
                    <a:pt x="276705" y="505446"/>
                  </a:lnTo>
                  <a:lnTo>
                    <a:pt x="276705" y="467346"/>
                  </a:lnTo>
                  <a:cubicBezTo>
                    <a:pt x="276705" y="461631"/>
                    <a:pt x="272895" y="457821"/>
                    <a:pt x="267180" y="457821"/>
                  </a:cubicBezTo>
                  <a:lnTo>
                    <a:pt x="267180" y="457821"/>
                  </a:lnTo>
                  <a:close/>
                  <a:moveTo>
                    <a:pt x="467205" y="457821"/>
                  </a:moveTo>
                  <a:lnTo>
                    <a:pt x="429105" y="457821"/>
                  </a:lnTo>
                  <a:cubicBezTo>
                    <a:pt x="423390" y="457821"/>
                    <a:pt x="419580" y="461631"/>
                    <a:pt x="419580" y="467346"/>
                  </a:cubicBezTo>
                  <a:lnTo>
                    <a:pt x="419580" y="467346"/>
                  </a:lnTo>
                  <a:lnTo>
                    <a:pt x="419580" y="505446"/>
                  </a:lnTo>
                  <a:cubicBezTo>
                    <a:pt x="419580" y="511161"/>
                    <a:pt x="423390" y="514971"/>
                    <a:pt x="429105" y="514971"/>
                  </a:cubicBezTo>
                  <a:lnTo>
                    <a:pt x="429105" y="514971"/>
                  </a:lnTo>
                  <a:lnTo>
                    <a:pt x="467205" y="514971"/>
                  </a:lnTo>
                  <a:cubicBezTo>
                    <a:pt x="472920" y="514971"/>
                    <a:pt x="476730" y="511161"/>
                    <a:pt x="476730" y="505446"/>
                  </a:cubicBezTo>
                  <a:lnTo>
                    <a:pt x="476730" y="505446"/>
                  </a:lnTo>
                  <a:lnTo>
                    <a:pt x="476730" y="467346"/>
                  </a:lnTo>
                  <a:cubicBezTo>
                    <a:pt x="476730" y="461631"/>
                    <a:pt x="472920" y="457821"/>
                    <a:pt x="467205" y="457821"/>
                  </a:cubicBezTo>
                  <a:lnTo>
                    <a:pt x="467205" y="457821"/>
                  </a:lnTo>
                  <a:close/>
                  <a:moveTo>
                    <a:pt x="362430" y="19671"/>
                  </a:moveTo>
                  <a:lnTo>
                    <a:pt x="133830" y="19671"/>
                  </a:lnTo>
                  <a:cubicBezTo>
                    <a:pt x="123352" y="19671"/>
                    <a:pt x="114780" y="28244"/>
                    <a:pt x="114780" y="38721"/>
                  </a:cubicBezTo>
                  <a:lnTo>
                    <a:pt x="114780" y="38721"/>
                  </a:lnTo>
                  <a:lnTo>
                    <a:pt x="114780" y="124446"/>
                  </a:lnTo>
                  <a:cubicBezTo>
                    <a:pt x="114780" y="134923"/>
                    <a:pt x="123352" y="143496"/>
                    <a:pt x="133830" y="143496"/>
                  </a:cubicBezTo>
                  <a:lnTo>
                    <a:pt x="133830" y="143496"/>
                  </a:lnTo>
                  <a:lnTo>
                    <a:pt x="362430" y="143496"/>
                  </a:lnTo>
                  <a:cubicBezTo>
                    <a:pt x="372908" y="143496"/>
                    <a:pt x="381480" y="134923"/>
                    <a:pt x="381480" y="124446"/>
                  </a:cubicBezTo>
                  <a:lnTo>
                    <a:pt x="381480" y="124446"/>
                  </a:lnTo>
                  <a:lnTo>
                    <a:pt x="381480" y="38721"/>
                  </a:lnTo>
                  <a:cubicBezTo>
                    <a:pt x="381480" y="28244"/>
                    <a:pt x="372908" y="19671"/>
                    <a:pt x="362430" y="19671"/>
                  </a:cubicBezTo>
                  <a:lnTo>
                    <a:pt x="362430" y="19671"/>
                  </a:lnTo>
                  <a:close/>
                  <a:moveTo>
                    <a:pt x="157643" y="86346"/>
                  </a:moveTo>
                  <a:cubicBezTo>
                    <a:pt x="165262" y="86346"/>
                    <a:pt x="171930" y="93014"/>
                    <a:pt x="171930" y="100634"/>
                  </a:cubicBezTo>
                  <a:cubicBezTo>
                    <a:pt x="171930" y="108253"/>
                    <a:pt x="165262" y="114921"/>
                    <a:pt x="157643" y="114921"/>
                  </a:cubicBezTo>
                  <a:cubicBezTo>
                    <a:pt x="150023" y="114921"/>
                    <a:pt x="143355" y="108253"/>
                    <a:pt x="143355" y="100634"/>
                  </a:cubicBezTo>
                  <a:cubicBezTo>
                    <a:pt x="143355" y="93014"/>
                    <a:pt x="150023" y="86346"/>
                    <a:pt x="157643" y="8634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/>
            </a:p>
          </p:txBody>
        </p:sp>
      </p:grpSp>
      <p:sp>
        <p:nvSpPr>
          <p:cNvPr id="12" name="íŝḻîḓe"/>
          <p:cNvSpPr/>
          <p:nvPr/>
        </p:nvSpPr>
        <p:spPr>
          <a:xfrm>
            <a:off x="6012112" y="3896392"/>
            <a:ext cx="621665" cy="641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3" name="图片 12" descr="计算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15472" y="4050498"/>
            <a:ext cx="291600" cy="291600"/>
          </a:xfrm>
          <a:prstGeom prst="rect">
            <a:avLst/>
          </a:prstGeom>
        </p:spPr>
      </p:pic>
      <p:pic>
        <p:nvPicPr>
          <p:cNvPr id="14" name="图片 13" descr="灵活扩展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983" y="4038054"/>
            <a:ext cx="362585" cy="362585"/>
          </a:xfrm>
          <a:prstGeom prst="rect">
            <a:avLst/>
          </a:prstGeom>
        </p:spPr>
      </p:pic>
      <p:sp>
        <p:nvSpPr>
          <p:cNvPr id="15" name="ïšḷiḑe"/>
          <p:cNvSpPr txBox="1"/>
          <p:nvPr/>
        </p:nvSpPr>
        <p:spPr>
          <a:xfrm>
            <a:off x="1428247" y="1327618"/>
            <a:ext cx="3958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sym typeface="+mn-ea"/>
              </a:rPr>
              <a:t>单轮问答</a:t>
            </a:r>
            <a:r>
              <a:rPr lang="en-US" altLang="zh-CN" sz="1600" b="1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sym typeface="+mn-ea"/>
              </a:rPr>
              <a:t>——</a:t>
            </a:r>
            <a:r>
              <a:rPr lang="zh-CN" altLang="en-US" sz="1600" b="1" dirty="0">
                <a:solidFill>
                  <a:srgbClr val="006DE8"/>
                </a:solidFill>
                <a:latin typeface="+mn-ea"/>
                <a:cs typeface="+mj-cs"/>
                <a:sym typeface="+mn-ea"/>
              </a:rPr>
              <a:t>强大的理解能力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6" name="iṥḷíḋê"/>
          <p:cNvSpPr txBox="1"/>
          <p:nvPr/>
        </p:nvSpPr>
        <p:spPr>
          <a:xfrm>
            <a:off x="1428247" y="1652738"/>
            <a:ext cx="453580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400" spc="2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能够检索向量库内容来自主理解，返回精简的回答，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让问答更简洁、更高效。</a:t>
            </a:r>
          </a:p>
        </p:txBody>
      </p:sp>
      <p:sp>
        <p:nvSpPr>
          <p:cNvPr id="17" name="íṩḻidè"/>
          <p:cNvSpPr txBox="1"/>
          <p:nvPr/>
        </p:nvSpPr>
        <p:spPr>
          <a:xfrm>
            <a:off x="6889882" y="1337778"/>
            <a:ext cx="3763010" cy="255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多轮问答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——</a:t>
            </a:r>
            <a:r>
              <a:rPr lang="zh-CN" altLang="en-US" sz="1600" b="1" dirty="0">
                <a:solidFill>
                  <a:srgbClr val="006DE8"/>
                </a:solidFill>
                <a:latin typeface="+mn-ea"/>
                <a:cs typeface="+mj-cs"/>
                <a:sym typeface="+mn-ea"/>
              </a:rPr>
              <a:t>优秀的记忆能力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8" name="íS1îdé"/>
          <p:cNvSpPr txBox="1"/>
          <p:nvPr/>
        </p:nvSpPr>
        <p:spPr>
          <a:xfrm>
            <a:off x="6889882" y="1600668"/>
            <a:ext cx="47669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实现上下文感知和理解、指代消解、逻辑判断能力，提供精准的回答，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让问答更流畅、更贴近场景。</a:t>
            </a:r>
          </a:p>
        </p:txBody>
      </p:sp>
      <p:sp>
        <p:nvSpPr>
          <p:cNvPr id="19" name="i$lîḋê"/>
          <p:cNvSpPr txBox="1"/>
          <p:nvPr/>
        </p:nvSpPr>
        <p:spPr>
          <a:xfrm>
            <a:off x="1430152" y="2501733"/>
            <a:ext cx="3458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综合问答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——</a:t>
            </a:r>
            <a:r>
              <a:rPr lang="zh-CN" altLang="en-US" sz="1600" b="1" dirty="0">
                <a:solidFill>
                  <a:srgbClr val="006DE8"/>
                </a:solidFill>
                <a:latin typeface="+mn-ea"/>
                <a:cs typeface="+mj-cs"/>
                <a:sym typeface="+mn-ea"/>
              </a:rPr>
              <a:t>非凡的生成能力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0" name="is1ïḑe"/>
          <p:cNvSpPr txBox="1"/>
          <p:nvPr/>
        </p:nvSpPr>
        <p:spPr>
          <a:xfrm>
            <a:off x="1430152" y="2784943"/>
            <a:ext cx="452437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处理复杂问题、长文本或多问题情境时，模型能够依次进行回答，或者生成一个融合回答，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让问答更智能、更精准。</a:t>
            </a:r>
          </a:p>
        </p:txBody>
      </p:sp>
      <p:sp>
        <p:nvSpPr>
          <p:cNvPr id="21" name="i$lîḋê"/>
          <p:cNvSpPr txBox="1"/>
          <p:nvPr/>
        </p:nvSpPr>
        <p:spPr>
          <a:xfrm>
            <a:off x="6858767" y="2511893"/>
            <a:ext cx="3273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推理问答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——</a:t>
            </a:r>
            <a:r>
              <a:rPr lang="zh-CN" altLang="en-US" sz="1600" b="1" dirty="0">
                <a:solidFill>
                  <a:srgbClr val="006DE8"/>
                </a:solidFill>
                <a:latin typeface="+mn-ea"/>
                <a:cs typeface="+mj-cs"/>
                <a:sym typeface="+mn-ea"/>
              </a:rPr>
              <a:t>出色的推理能力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2" name="is1ïḑe"/>
          <p:cNvSpPr txBox="1"/>
          <p:nvPr/>
        </p:nvSpPr>
        <p:spPr>
          <a:xfrm>
            <a:off x="6858767" y="2807803"/>
            <a:ext cx="47986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50000"/>
              </a:lnSpc>
            </a:pP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能够在复杂的问题里理解用户关键问题，并推理出正确答案，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让问答有深度、更专业。</a:t>
            </a:r>
          </a:p>
        </p:txBody>
      </p:sp>
      <p:sp>
        <p:nvSpPr>
          <p:cNvPr id="23" name="i$lîḋê"/>
          <p:cNvSpPr txBox="1"/>
          <p:nvPr/>
        </p:nvSpPr>
        <p:spPr>
          <a:xfrm>
            <a:off x="1427612" y="3967313"/>
            <a:ext cx="3709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计算问答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——</a:t>
            </a:r>
            <a:r>
              <a:rPr lang="zh-CN" altLang="en-US" sz="1600" b="1" dirty="0">
                <a:solidFill>
                  <a:srgbClr val="006DE8"/>
                </a:solidFill>
                <a:latin typeface="+mn-ea"/>
                <a:cs typeface="+mj-cs"/>
                <a:sym typeface="+mn-ea"/>
              </a:rPr>
              <a:t>不俗的计算能力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4" name="is1ïḑe"/>
          <p:cNvSpPr txBox="1"/>
          <p:nvPr/>
        </p:nvSpPr>
        <p:spPr>
          <a:xfrm>
            <a:off x="1427612" y="4250523"/>
            <a:ext cx="450977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大模型本身具有一定的逻辑计算能力，对于复杂的计税问题可通过对接成熟的计税工具，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让计算更便捷、更</a:t>
            </a:r>
            <a:r>
              <a:rPr lang="zh-CN" altLang="en-US" sz="1400" b="1" spc="2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精准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5" name="i$lîḋê"/>
          <p:cNvSpPr txBox="1"/>
          <p:nvPr/>
        </p:nvSpPr>
        <p:spPr>
          <a:xfrm>
            <a:off x="6867022" y="3962233"/>
            <a:ext cx="43186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双语问答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——</a:t>
            </a:r>
            <a:r>
              <a:rPr lang="zh-CN" altLang="en-US" sz="1600" b="1" dirty="0">
                <a:solidFill>
                  <a:srgbClr val="006DE8"/>
                </a:solidFill>
                <a:latin typeface="+mn-ea"/>
                <a:cs typeface="+mj-cs"/>
                <a:sym typeface="+mn-ea"/>
              </a:rPr>
              <a:t>丰富的语言能力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is1ïḑe"/>
          <p:cNvSpPr txBox="1"/>
          <p:nvPr/>
        </p:nvSpPr>
        <p:spPr>
          <a:xfrm>
            <a:off x="6867022" y="4247348"/>
            <a:ext cx="479869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400" spc="200" dirty="0">
                <a:latin typeface="Arial" panose="020B0604020202020204" pitchFamily="34" charset="0"/>
                <a:ea typeface="微软雅黑" panose="020B0503020204020204" pitchFamily="34" charset="-122"/>
              </a:rPr>
              <a:t>基于大模型的多语种理解能力，能够用中文，英语等语种全面地回答各个领域的问题</a:t>
            </a: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，达到“国际化”的效果，</a:t>
            </a:r>
            <a:r>
              <a:rPr lang="zh-CN" altLang="en-US" sz="1400" b="1" spc="2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让问答更丰富、更全能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37" name="íŝḻîḓe"/>
          <p:cNvSpPr/>
          <p:nvPr/>
        </p:nvSpPr>
        <p:spPr>
          <a:xfrm>
            <a:off x="658627" y="5307798"/>
            <a:ext cx="621665" cy="62166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0947" y="5408906"/>
            <a:ext cx="397023" cy="397023"/>
          </a:xfrm>
          <a:prstGeom prst="rect">
            <a:avLst/>
          </a:prstGeom>
        </p:spPr>
      </p:pic>
      <p:sp>
        <p:nvSpPr>
          <p:cNvPr id="38" name="i$lîḋê"/>
          <p:cNvSpPr txBox="1"/>
          <p:nvPr/>
        </p:nvSpPr>
        <p:spPr>
          <a:xfrm>
            <a:off x="1427612" y="5333833"/>
            <a:ext cx="3709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语音识别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6DE8"/>
                </a:solidFill>
                <a:effectLst/>
                <a:uLnTx/>
                <a:uFillTx/>
                <a:latin typeface="+mn-ea"/>
                <a:cs typeface="+mj-cs"/>
                <a:sym typeface="+mn-ea"/>
              </a:rPr>
              <a:t>突出</a:t>
            </a:r>
            <a:r>
              <a:rPr lang="zh-CN" altLang="en-US" sz="1600" b="1" dirty="0">
                <a:solidFill>
                  <a:srgbClr val="006DE8"/>
                </a:solidFill>
                <a:latin typeface="+mn-ea"/>
                <a:cs typeface="+mj-cs"/>
                <a:sym typeface="+mn-ea"/>
              </a:rPr>
              <a:t>的识别能力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9" name="is1ïḑe"/>
          <p:cNvSpPr txBox="1"/>
          <p:nvPr/>
        </p:nvSpPr>
        <p:spPr>
          <a:xfrm>
            <a:off x="1427612" y="5607418"/>
            <a:ext cx="4414594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大模型通过语音识别（</a:t>
            </a:r>
            <a:r>
              <a:rPr lang="en-US" altLang="zh-CN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ASR</a:t>
            </a: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）技术，精准捕捉用户语音输入并实时转化为文本，返回精简、高效的回答，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让问答更便捷、更高效</a:t>
            </a:r>
          </a:p>
        </p:txBody>
      </p:sp>
      <p:sp>
        <p:nvSpPr>
          <p:cNvPr id="40" name="íŝḻîḓe"/>
          <p:cNvSpPr/>
          <p:nvPr/>
        </p:nvSpPr>
        <p:spPr>
          <a:xfrm>
            <a:off x="6045586" y="5307798"/>
            <a:ext cx="621665" cy="62166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2" name="i$lîḋê"/>
          <p:cNvSpPr txBox="1"/>
          <p:nvPr/>
        </p:nvSpPr>
        <p:spPr>
          <a:xfrm>
            <a:off x="6889882" y="5381467"/>
            <a:ext cx="3709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数据分析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</a:rPr>
              <a:t>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6DE8"/>
                </a:solidFill>
                <a:effectLst/>
                <a:uLnTx/>
                <a:uFillTx/>
                <a:latin typeface="+mn-ea"/>
                <a:cs typeface="+mj-cs"/>
                <a:sym typeface="+mn-ea"/>
              </a:rPr>
              <a:t>深度的分析能力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3" name="is1ïḑe"/>
          <p:cNvSpPr txBox="1"/>
          <p:nvPr/>
        </p:nvSpPr>
        <p:spPr>
          <a:xfrm>
            <a:off x="6889882" y="5621860"/>
            <a:ext cx="4858457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4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大模型分析流程：清洗数据→转换特征→模型推理→生成结果，依托高效计算自动提取关键信息，输出结构化洞察。</a:t>
            </a:r>
            <a:r>
              <a:rPr lang="zh-CN" altLang="en-US" sz="1400" b="1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让分析更透彻、更可靠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205" y="5371307"/>
            <a:ext cx="457147" cy="457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6294" y="372105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495797" y="349119"/>
            <a:ext cx="6024911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功能展示</a:t>
            </a:r>
            <a:r>
              <a:rPr kumimoji="1" lang="en-US" altLang="zh-CN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-</a:t>
            </a: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首页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0995" y="1330961"/>
            <a:ext cx="8683344" cy="47779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矩形: 圆角 4"/>
          <p:cNvSpPr/>
          <p:nvPr/>
        </p:nvSpPr>
        <p:spPr>
          <a:xfrm>
            <a:off x="1774779" y="1845444"/>
            <a:ext cx="1633817" cy="4222376"/>
          </a:xfrm>
          <a:prstGeom prst="roundRect">
            <a:avLst>
              <a:gd name="adj" fmla="val 34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6" name="连接符: 肘形 5"/>
          <p:cNvCxnSpPr>
            <a:endCxn id="10" idx="1"/>
          </p:cNvCxnSpPr>
          <p:nvPr/>
        </p:nvCxnSpPr>
        <p:spPr>
          <a:xfrm flipV="1">
            <a:off x="10067323" y="3012893"/>
            <a:ext cx="578034" cy="382257"/>
          </a:xfrm>
          <a:prstGeom prst="bentConnector3">
            <a:avLst/>
          </a:prstGeom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17"/>
          <p:cNvSpPr txBox="1"/>
          <p:nvPr/>
        </p:nvSpPr>
        <p:spPr>
          <a:xfrm>
            <a:off x="232715" y="2250023"/>
            <a:ext cx="1269686" cy="226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/>
              <a:t>历史会话列表，快速回溯、搜索；同时支持一键编辑及删除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3680974" y="2924318"/>
            <a:ext cx="6394078" cy="1170975"/>
          </a:xfrm>
          <a:prstGeom prst="roundRect">
            <a:avLst>
              <a:gd name="adj" fmla="val 34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9" name="连接符: 肘形 8"/>
          <p:cNvCxnSpPr/>
          <p:nvPr/>
        </p:nvCxnSpPr>
        <p:spPr>
          <a:xfrm>
            <a:off x="1277236" y="3219412"/>
            <a:ext cx="524435" cy="325624"/>
          </a:xfrm>
          <a:prstGeom prst="bentConnector3">
            <a:avLst/>
          </a:prstGeom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20"/>
          <p:cNvSpPr txBox="1"/>
          <p:nvPr/>
        </p:nvSpPr>
        <p:spPr>
          <a:xfrm>
            <a:off x="10645357" y="2250023"/>
            <a:ext cx="1279846" cy="1525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/>
              <a:t>常用问题辅助式咨询，快速进入会话状态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3751494" y="5308059"/>
            <a:ext cx="1633817" cy="310992"/>
          </a:xfrm>
          <a:prstGeom prst="roundRect">
            <a:avLst>
              <a:gd name="adj" fmla="val 34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3751494" y="5645947"/>
            <a:ext cx="6313398" cy="421873"/>
          </a:xfrm>
          <a:prstGeom prst="roundRect">
            <a:avLst>
              <a:gd name="adj" fmla="val 34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3" name="连接符: 肘形 12"/>
          <p:cNvCxnSpPr>
            <a:endCxn id="14" idx="1"/>
          </p:cNvCxnSpPr>
          <p:nvPr/>
        </p:nvCxnSpPr>
        <p:spPr>
          <a:xfrm flipV="1">
            <a:off x="10094216" y="5703937"/>
            <a:ext cx="601986" cy="69670"/>
          </a:xfrm>
          <a:prstGeom prst="bentConnector3">
            <a:avLst/>
          </a:prstGeom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29"/>
          <p:cNvSpPr txBox="1"/>
          <p:nvPr/>
        </p:nvSpPr>
        <p:spPr>
          <a:xfrm>
            <a:off x="10696202" y="5125733"/>
            <a:ext cx="1279846" cy="115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/>
              <a:t>语音及文字两种支持方式，更便捷</a:t>
            </a:r>
          </a:p>
        </p:txBody>
      </p:sp>
      <p:cxnSp>
        <p:nvCxnSpPr>
          <p:cNvPr id="15" name="连接符: 肘形 14"/>
          <p:cNvCxnSpPr>
            <a:stCxn id="16" idx="3"/>
          </p:cNvCxnSpPr>
          <p:nvPr/>
        </p:nvCxnSpPr>
        <p:spPr>
          <a:xfrm flipV="1">
            <a:off x="1495797" y="5240812"/>
            <a:ext cx="2204852" cy="50520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35"/>
          <p:cNvSpPr txBox="1"/>
          <p:nvPr/>
        </p:nvSpPr>
        <p:spPr>
          <a:xfrm>
            <a:off x="215951" y="4983142"/>
            <a:ext cx="1279846" cy="1525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/>
              <a:t>多种附件上传方式，数据应用分析能力更强大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7745" y="297674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517248" y="274688"/>
            <a:ext cx="6024911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功能展示</a:t>
            </a:r>
            <a:r>
              <a:rPr kumimoji="1" lang="en-US" altLang="zh-CN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-</a:t>
            </a: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会话能力加强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íS1îdé"/>
          <p:cNvSpPr txBox="1"/>
          <p:nvPr/>
        </p:nvSpPr>
        <p:spPr>
          <a:xfrm>
            <a:off x="345144" y="2679757"/>
            <a:ext cx="3383280" cy="189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spc="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实现上下文感知和理解、指代消解、逻辑判断能力，提供精准的回答</a:t>
            </a:r>
            <a:endParaRPr lang="en-US" altLang="zh-CN" sz="1600" spc="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实时收集、分析国家及地方各类最新政策法规，为用户提供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37219" y="1981743"/>
            <a:ext cx="2820670" cy="534035"/>
          </a:xfrm>
          <a:prstGeom prst="roundRect">
            <a:avLst/>
          </a:prstGeom>
          <a:solidFill>
            <a:srgbClr val="006DE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2000" b="1" dirty="0">
                <a:sym typeface="+mn-ea"/>
              </a:rPr>
              <a:t>核心技术能力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4885254" y="5522664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上下文理解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9654733" y="5518498"/>
            <a:ext cx="1475251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计算及表格生成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6412849" y="5522665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综合性回答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7940444" y="5518498"/>
            <a:ext cx="1418737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政策发文链接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5" y="1336888"/>
            <a:ext cx="8463575" cy="4657827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11" name="矩形 10"/>
          <p:cNvSpPr/>
          <p:nvPr/>
        </p:nvSpPr>
        <p:spPr>
          <a:xfrm>
            <a:off x="11268076" y="4315460"/>
            <a:ext cx="209550" cy="168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stCxn id="11" idx="1"/>
          </p:cNvCxnSpPr>
          <p:nvPr/>
        </p:nvCxnSpPr>
        <p:spPr>
          <a:xfrm flipH="1">
            <a:off x="11045825" y="4399598"/>
            <a:ext cx="22225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649812" y="4245708"/>
            <a:ext cx="3126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指代消解能力：这个</a:t>
            </a:r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=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数电票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131528" y="5103002"/>
            <a:ext cx="2395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上下文理解能力：识别是否可以用“数电票”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5779334" y="6160608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上下文理解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7264747" y="6160607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指代消解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8750160" y="6155250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逻辑判断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381729" y="359383"/>
            <a:ext cx="6035071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功能展示</a:t>
            </a:r>
            <a:r>
              <a:rPr kumimoji="1" lang="en-US" altLang="zh-CN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-</a:t>
            </a: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语音灵活识别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39873" y="1442720"/>
            <a:ext cx="8365947" cy="4657868"/>
            <a:chOff x="3689073" y="1442720"/>
            <a:chExt cx="8365947" cy="465786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50" t="7141" r="3638" b="-546"/>
            <a:stretch>
              <a:fillRect/>
            </a:stretch>
          </p:blipFill>
          <p:spPr>
            <a:xfrm>
              <a:off x="3689073" y="1442720"/>
              <a:ext cx="8365947" cy="4657868"/>
            </a:xfrm>
            <a:prstGeom prst="rect">
              <a:avLst/>
            </a:prstGeom>
            <a:ln w="15875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8" name="矩形 17"/>
            <p:cNvSpPr/>
            <p:nvPr/>
          </p:nvSpPr>
          <p:spPr>
            <a:xfrm>
              <a:off x="4013200" y="5664200"/>
              <a:ext cx="7965440" cy="410988"/>
            </a:xfrm>
            <a:prstGeom prst="rect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íS1îdé"/>
          <p:cNvSpPr txBox="1"/>
          <p:nvPr/>
        </p:nvSpPr>
        <p:spPr>
          <a:xfrm>
            <a:off x="274023" y="2691927"/>
            <a:ext cx="3394729" cy="226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实现用户通过语音输入问题，能够实时将语音转换为文本，为用户提供精准的文本输出。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结合自然语言处理技术，实现对语音内容的语义理解，能够准确把握用户的意图和需求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5779334" y="6262208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语音识别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7264747" y="6262207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文本转换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8750160" y="6256850"/>
            <a:ext cx="1232044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分析语义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737219" y="1981743"/>
            <a:ext cx="2820670" cy="534035"/>
          </a:xfrm>
          <a:prstGeom prst="roundRect">
            <a:avLst/>
          </a:prstGeom>
          <a:solidFill>
            <a:srgbClr val="006DE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2000" b="1" dirty="0">
                <a:sym typeface="+mn-ea"/>
              </a:rPr>
              <a:t>核心技术能力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381729" y="363582"/>
            <a:ext cx="7874031" cy="57778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功能展示</a:t>
            </a:r>
            <a:r>
              <a:rPr kumimoji="1" lang="en-US" altLang="zh-CN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-</a:t>
            </a: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最新政策解读能力、表格能力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íS1îdé"/>
          <p:cNvSpPr txBox="1"/>
          <p:nvPr/>
        </p:nvSpPr>
        <p:spPr>
          <a:xfrm>
            <a:off x="223223" y="2773207"/>
            <a:ext cx="3789977" cy="3378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能实时收集、分析国家及地方各类最新政策法规，通过深度语义理解，精准提取关键信息。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实现表格数据可视化，以通过自然语言指令，将复杂表格数据以直观形象的图表形式呈现，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能自动化分析表格数据，快速提取关键信息和洞察，并自动生成分析报告。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737219" y="1981743"/>
            <a:ext cx="2820670" cy="534035"/>
          </a:xfrm>
          <a:prstGeom prst="roundRect">
            <a:avLst/>
          </a:prstGeom>
          <a:solidFill>
            <a:srgbClr val="006DE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2000" b="1" dirty="0">
                <a:sym typeface="+mn-ea"/>
              </a:rPr>
              <a:t>核心技术能力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4728157" y="6139980"/>
            <a:ext cx="132925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最新政策解读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7762191" y="6139980"/>
            <a:ext cx="1454423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政策发文链接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9404374" y="6139980"/>
            <a:ext cx="164762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计算及表格生成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6245174" y="6139980"/>
            <a:ext cx="132925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表格数据分析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18" y="1208310"/>
            <a:ext cx="6835142" cy="4664727"/>
          </a:xfrm>
          <a:prstGeom prst="rect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</p:pic>
      <p:sp>
        <p:nvSpPr>
          <p:cNvPr id="23" name="矩形 22"/>
          <p:cNvSpPr/>
          <p:nvPr/>
        </p:nvSpPr>
        <p:spPr>
          <a:xfrm>
            <a:off x="4572000" y="1270000"/>
            <a:ext cx="4175760" cy="3251200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381729" y="359383"/>
            <a:ext cx="6035071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功能展示</a:t>
            </a:r>
            <a:r>
              <a:rPr kumimoji="1" lang="en-US" altLang="zh-CN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-</a:t>
            </a: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公文写作能力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íS1îdé"/>
          <p:cNvSpPr txBox="1"/>
          <p:nvPr/>
        </p:nvSpPr>
        <p:spPr>
          <a:xfrm>
            <a:off x="223224" y="2773207"/>
            <a:ext cx="3556296" cy="2634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实时导入各类数据表格，运用智能算法对数据进行多维度分析，精准提取关键信息。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实现基于数据分析结果，自动生成格式规范、内容详实的报告，可直接用于公文撰写，为政务人员提供数据支持和内容参考。</a:t>
            </a:r>
            <a:endParaRPr lang="zh-CN" altLang="en-US" sz="1600" b="0" i="0" dirty="0">
              <a:solidFill>
                <a:srgbClr val="060607"/>
              </a:solidFill>
              <a:effectLst/>
              <a:latin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37219" y="1981743"/>
            <a:ext cx="2820670" cy="534035"/>
          </a:xfrm>
          <a:prstGeom prst="roundRect">
            <a:avLst/>
          </a:prstGeom>
          <a:solidFill>
            <a:srgbClr val="006DE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2000" b="1" dirty="0">
                <a:sym typeface="+mn-ea"/>
              </a:rPr>
              <a:t>核心技术能力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4728157" y="6139980"/>
            <a:ext cx="132925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政策解读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7762191" y="6139980"/>
            <a:ext cx="1454423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公文协作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9404374" y="6139980"/>
            <a:ext cx="164762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报告撰写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6245174" y="6139980"/>
            <a:ext cx="132925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表格数据分析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7" t="65638" r="3750"/>
          <a:stretch>
            <a:fillRect/>
          </a:stretch>
        </p:blipFill>
        <p:spPr>
          <a:xfrm>
            <a:off x="4728156" y="1027987"/>
            <a:ext cx="6389369" cy="1417829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" r="581"/>
          <a:stretch>
            <a:fillRect/>
          </a:stretch>
        </p:blipFill>
        <p:spPr>
          <a:xfrm>
            <a:off x="4728157" y="2601613"/>
            <a:ext cx="6389369" cy="3382569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381729" y="359383"/>
            <a:ext cx="6035071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功能展示</a:t>
            </a:r>
            <a:r>
              <a:rPr kumimoji="1" lang="en-US" altLang="zh-CN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-</a:t>
            </a: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决策辅助能力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íS1îdé"/>
          <p:cNvSpPr txBox="1"/>
          <p:nvPr/>
        </p:nvSpPr>
        <p:spPr>
          <a:xfrm>
            <a:off x="193040" y="2669085"/>
            <a:ext cx="3586480" cy="226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60607"/>
                </a:solidFill>
                <a:latin typeface="-apple-system"/>
              </a:rPr>
              <a:t>实现表格上传功能，支持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导入多</a:t>
            </a:r>
            <a:r>
              <a:rPr lang="zh-CN" altLang="en-US" sz="1600" dirty="0">
                <a:solidFill>
                  <a:srgbClr val="060607"/>
                </a:solidFill>
                <a:latin typeface="-apple-system"/>
              </a:rPr>
              <a:t>表格，通过</a:t>
            </a:r>
            <a:r>
              <a:rPr lang="en-US" altLang="zh-CN" sz="1600" dirty="0" err="1">
                <a:solidFill>
                  <a:srgbClr val="060607"/>
                </a:solidFill>
                <a:latin typeface="-apple-system"/>
              </a:rPr>
              <a:t>Echarts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一键生成可视化图表，高效辅助决策。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结合大模型深度剖析政务数据，基于历史政策与社会经济数据，预测新政策效果，辅助科学决策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37219" y="1981743"/>
            <a:ext cx="2820670" cy="534035"/>
          </a:xfrm>
          <a:prstGeom prst="roundRect">
            <a:avLst/>
          </a:prstGeom>
          <a:solidFill>
            <a:srgbClr val="006DE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2000" b="1" dirty="0">
                <a:sym typeface="+mn-ea"/>
              </a:rPr>
              <a:t>核心技术能力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4728157" y="6139980"/>
            <a:ext cx="132925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表格上传</a:t>
            </a:r>
            <a:r>
              <a:rPr lang="en-US" altLang="zh-CN" sz="1400" dirty="0"/>
              <a:t>·</a:t>
            </a:r>
            <a:endParaRPr lang="zh-CN" altLang="en-US" sz="1400" dirty="0"/>
          </a:p>
        </p:txBody>
      </p:sp>
      <p:sp>
        <p:nvSpPr>
          <p:cNvPr id="8" name="矩形: 圆角 7"/>
          <p:cNvSpPr/>
          <p:nvPr/>
        </p:nvSpPr>
        <p:spPr>
          <a:xfrm>
            <a:off x="7762191" y="6139980"/>
            <a:ext cx="1454423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决策辅助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9404374" y="6139980"/>
            <a:ext cx="164762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数据可视化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6245174" y="6139980"/>
            <a:ext cx="1329256" cy="432177"/>
          </a:xfrm>
          <a:prstGeom prst="roundRect">
            <a:avLst>
              <a:gd name="adj" fmla="val 34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数据分析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263" y="1480341"/>
            <a:ext cx="7055517" cy="4374379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03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381729" y="359383"/>
            <a:ext cx="6035071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后台管理页面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íS1îdé"/>
          <p:cNvSpPr txBox="1"/>
          <p:nvPr/>
        </p:nvSpPr>
        <p:spPr>
          <a:xfrm>
            <a:off x="111760" y="2973183"/>
            <a:ext cx="3501350" cy="226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kern="100" dirty="0">
                <a:effectLst/>
                <a:latin typeface="+mn-ea"/>
                <a:cs typeface="Times New Roman" panose="02020603050405020304" pitchFamily="18" charset="0"/>
              </a:rPr>
              <a:t>可视化数据大屏以实时咨询量模块为核心，通过动态图表、柱状图、折线图展示不同时段的咨询量变化及分渠道的咨询来源分布，为运营团队实时调整服务策略、优化客服资源配置、提升用户体验提供有力支撑。</a:t>
            </a:r>
            <a:endParaRPr lang="zh-CN" altLang="en-US" sz="1400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444188" y="2382144"/>
            <a:ext cx="2820670" cy="534035"/>
          </a:xfrm>
          <a:prstGeom prst="roundRect">
            <a:avLst/>
          </a:prstGeom>
          <a:solidFill>
            <a:srgbClr val="006DE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</a:pPr>
            <a:r>
              <a:rPr lang="zh-CN" altLang="en-US" sz="2000" b="1" dirty="0">
                <a:sym typeface="+mn-ea"/>
              </a:rPr>
              <a:t>后台数据中心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690" y="2077810"/>
            <a:ext cx="8295310" cy="3184647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椭圆 993"/>
          <p:cNvSpPr/>
          <p:nvPr/>
        </p:nvSpPr>
        <p:spPr>
          <a:xfrm>
            <a:off x="-1246356" y="2020719"/>
            <a:ext cx="2728686" cy="27286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42900" dist="38100" dir="2700000" sx="101000" sy="101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5" name="椭圆 994"/>
          <p:cNvSpPr/>
          <p:nvPr/>
        </p:nvSpPr>
        <p:spPr>
          <a:xfrm>
            <a:off x="-2207273" y="1059802"/>
            <a:ext cx="4650522" cy="4650522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6" name="椭圆 995"/>
          <p:cNvSpPr/>
          <p:nvPr/>
        </p:nvSpPr>
        <p:spPr>
          <a:xfrm>
            <a:off x="-2938180" y="321643"/>
            <a:ext cx="6199418" cy="61994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7" name="椭圆 996"/>
          <p:cNvSpPr/>
          <p:nvPr/>
        </p:nvSpPr>
        <p:spPr>
          <a:xfrm>
            <a:off x="-3719230" y="-459407"/>
            <a:ext cx="7761518" cy="7761518"/>
          </a:xfrm>
          <a:prstGeom prst="ellipse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  <a:effectLst>
            <a:outerShdw blurRad="50800" dist="50800" dir="5400000" algn="ctr" rotWithShape="0">
              <a:schemeClr val="tx1"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0" name="椭圆 999"/>
          <p:cNvSpPr/>
          <p:nvPr/>
        </p:nvSpPr>
        <p:spPr>
          <a:xfrm>
            <a:off x="2241333" y="161986"/>
            <a:ext cx="319314" cy="319314"/>
          </a:xfrm>
          <a:prstGeom prst="ellipse">
            <a:avLst/>
          </a:prstGeom>
          <a:gradFill flip="none" rotWithShape="1">
            <a:gsLst>
              <a:gs pos="3000">
                <a:schemeClr val="accent1">
                  <a:lumMod val="75000"/>
                </a:schemeClr>
              </a:gs>
              <a:gs pos="93000">
                <a:schemeClr val="accent1">
                  <a:lumMod val="100000"/>
                </a:schemeClr>
              </a:gs>
            </a:gsLst>
            <a:path path="circle">
              <a:fillToRect l="100000" t="10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1" name="椭圆 1000"/>
          <p:cNvSpPr/>
          <p:nvPr/>
        </p:nvSpPr>
        <p:spPr>
          <a:xfrm>
            <a:off x="3510575" y="4925918"/>
            <a:ext cx="319314" cy="319314"/>
          </a:xfrm>
          <a:prstGeom prst="ellipse">
            <a:avLst/>
          </a:prstGeom>
          <a:gradFill>
            <a:gsLst>
              <a:gs pos="3000">
                <a:schemeClr val="accent3">
                  <a:lumMod val="75000"/>
                </a:schemeClr>
              </a:gs>
              <a:gs pos="93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38100" dir="2700000" algn="t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Freeform: Shape 685"/>
          <p:cNvSpPr/>
          <p:nvPr/>
        </p:nvSpPr>
        <p:spPr>
          <a:xfrm>
            <a:off x="-606218" y="2640115"/>
            <a:ext cx="1448412" cy="1448412"/>
          </a:xfrm>
          <a:custGeom>
            <a:avLst/>
            <a:gdLst>
              <a:gd name="connsiteX0" fmla="*/ 1328357 w 1328356"/>
              <a:gd name="connsiteY0" fmla="*/ 664178 h 1328356"/>
              <a:gd name="connsiteX1" fmla="*/ 664178 w 1328356"/>
              <a:gd name="connsiteY1" fmla="*/ 1328357 h 1328356"/>
              <a:gd name="connsiteX2" fmla="*/ 0 w 1328356"/>
              <a:gd name="connsiteY2" fmla="*/ 664178 h 1328356"/>
              <a:gd name="connsiteX3" fmla="*/ 664178 w 1328356"/>
              <a:gd name="connsiteY3" fmla="*/ 0 h 1328356"/>
              <a:gd name="connsiteX4" fmla="*/ 1328357 w 1328356"/>
              <a:gd name="connsiteY4" fmla="*/ 664178 h 13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356" h="1328356">
                <a:moveTo>
                  <a:pt x="1328357" y="664178"/>
                </a:moveTo>
                <a:cubicBezTo>
                  <a:pt x="1328357" y="1030994"/>
                  <a:pt x="1030994" y="1328357"/>
                  <a:pt x="664178" y="1328357"/>
                </a:cubicBezTo>
                <a:cubicBezTo>
                  <a:pt x="297363" y="1328357"/>
                  <a:pt x="0" y="1030994"/>
                  <a:pt x="0" y="664178"/>
                </a:cubicBezTo>
                <a:cubicBezTo>
                  <a:pt x="0" y="297363"/>
                  <a:pt x="297363" y="0"/>
                  <a:pt x="664178" y="0"/>
                </a:cubicBezTo>
                <a:cubicBezTo>
                  <a:pt x="1030994" y="0"/>
                  <a:pt x="1328357" y="297363"/>
                  <a:pt x="1328357" y="664178"/>
                </a:cubicBez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0"/>
                </a:schemeClr>
              </a:gs>
              <a:gs pos="74000">
                <a:schemeClr val="accent1"/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635000" dist="444500" dir="8100000" sx="90000" sy="90000" algn="tr" rotWithShape="0">
              <a:prstClr val="black">
                <a:alpha val="8000"/>
              </a:prstClr>
            </a:outerShdw>
            <a:softEdge rad="0"/>
          </a:effectLst>
        </p:spPr>
        <p:txBody>
          <a:bodyPr rtlCol="0" anchor="ctr"/>
          <a:lstStyle/>
          <a:p>
            <a:pPr algn="ctr">
              <a:defRPr/>
            </a:pPr>
            <a:endParaRPr lang="en-ID" sz="4400" b="1" kern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40" name="标题 1"/>
          <p:cNvSpPr txBox="1"/>
          <p:nvPr/>
        </p:nvSpPr>
        <p:spPr>
          <a:xfrm>
            <a:off x="5824486" y="3046664"/>
            <a:ext cx="5645081" cy="98911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项目总结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053875" y="4189076"/>
            <a:ext cx="2235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  <a:alpha val="52000"/>
                  </a:schemeClr>
                </a:solidFill>
                <a:latin typeface="+mn-ea"/>
              </a:rPr>
              <a:t>Project Summary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923016" y="4650148"/>
            <a:ext cx="5012594" cy="76182"/>
            <a:chOff x="867506" y="2506993"/>
            <a:chExt cx="5012594" cy="76182"/>
          </a:xfrm>
        </p:grpSpPr>
        <p:cxnSp>
          <p:nvCxnSpPr>
            <p:cNvPr id="3" name="直接连接符"/>
            <p:cNvCxnSpPr/>
            <p:nvPr/>
          </p:nvCxnSpPr>
          <p:spPr>
            <a:xfrm>
              <a:off x="867506" y="2550808"/>
              <a:ext cx="50125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"/>
            <p:cNvSpPr/>
            <p:nvPr/>
          </p:nvSpPr>
          <p:spPr>
            <a:xfrm>
              <a:off x="872586" y="2506993"/>
              <a:ext cx="2251614" cy="7618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accent2"/>
                </a:solidFill>
                <a:latin typeface="+mj-ea"/>
                <a:ea typeface="+mj-ea"/>
                <a:cs typeface="OPPOSans B" panose="00020600040101010101" pitchFamily="18" charset="-122"/>
              </a:endParaRPr>
            </a:p>
          </p:txBody>
        </p:sp>
      </p:grpSp>
      <p:sp>
        <p:nvSpPr>
          <p:cNvPr id="5" name="圆角矩形"/>
          <p:cNvSpPr/>
          <p:nvPr/>
        </p:nvSpPr>
        <p:spPr>
          <a:xfrm>
            <a:off x="5824487" y="2232228"/>
            <a:ext cx="2253732" cy="528081"/>
          </a:xfrm>
          <a:prstGeom prst="roundRect">
            <a:avLst>
              <a:gd name="adj" fmla="val 50000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OPPOSans B" panose="00020600040101010101" pitchFamily="18" charset="-122"/>
              </a:rPr>
              <a:t>第四部分</a:t>
            </a:r>
          </a:p>
        </p:txBody>
      </p:sp>
      <p:sp>
        <p:nvSpPr>
          <p:cNvPr id="23" name="觅知网-不倒翁ID:189359941"/>
          <p:cNvSpPr/>
          <p:nvPr/>
        </p:nvSpPr>
        <p:spPr>
          <a:xfrm>
            <a:off x="10828423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4" name="觅知网-不倒翁ID:189359941"/>
          <p:cNvSpPr/>
          <p:nvPr/>
        </p:nvSpPr>
        <p:spPr>
          <a:xfrm>
            <a:off x="1108991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5" name="觅知网-不倒翁ID:189359941"/>
          <p:cNvSpPr/>
          <p:nvPr/>
        </p:nvSpPr>
        <p:spPr>
          <a:xfrm>
            <a:off x="11351404" y="5901365"/>
            <a:ext cx="254058" cy="418814"/>
          </a:xfrm>
          <a:custGeom>
            <a:avLst/>
            <a:gdLst>
              <a:gd name="connsiteX0" fmla="*/ 3428524 w 3428523"/>
              <a:gd name="connsiteY0" fmla="*/ 2590610 h 5200078"/>
              <a:gd name="connsiteX1" fmla="*/ 3428524 w 3428523"/>
              <a:gd name="connsiteY1" fmla="*/ 2609660 h 5200078"/>
              <a:gd name="connsiteX2" fmla="*/ 3195638 w 3428523"/>
              <a:gd name="connsiteY2" fmla="*/ 2665286 h 5200078"/>
              <a:gd name="connsiteX3" fmla="*/ 2579561 w 3428523"/>
              <a:gd name="connsiteY3" fmla="*/ 3017330 h 5200078"/>
              <a:gd name="connsiteX4" fmla="*/ 1915859 w 3428523"/>
              <a:gd name="connsiteY4" fmla="*/ 4070890 h 5200078"/>
              <a:gd name="connsiteX5" fmla="*/ 1770412 w 3428523"/>
              <a:gd name="connsiteY5" fmla="*/ 4714399 h 5200078"/>
              <a:gd name="connsiteX6" fmla="*/ 1723739 w 3428523"/>
              <a:gd name="connsiteY6" fmla="*/ 5200079 h 5200078"/>
              <a:gd name="connsiteX7" fmla="*/ 1704689 w 3428523"/>
              <a:gd name="connsiteY7" fmla="*/ 5200079 h 5200078"/>
              <a:gd name="connsiteX8" fmla="*/ 1694783 w 3428523"/>
              <a:gd name="connsiteY8" fmla="*/ 5020151 h 5200078"/>
              <a:gd name="connsiteX9" fmla="*/ 1634014 w 3428523"/>
              <a:gd name="connsiteY9" fmla="*/ 4541044 h 5200078"/>
              <a:gd name="connsiteX10" fmla="*/ 1360361 w 3428523"/>
              <a:gd name="connsiteY10" fmla="*/ 3693986 h 5200078"/>
              <a:gd name="connsiteX11" fmla="*/ 966788 w 3428523"/>
              <a:gd name="connsiteY11" fmla="*/ 3128391 h 5200078"/>
              <a:gd name="connsiteX12" fmla="*/ 340233 w 3428523"/>
              <a:gd name="connsiteY12" fmla="*/ 2701385 h 5200078"/>
              <a:gd name="connsiteX13" fmla="*/ 0 w 3428523"/>
              <a:gd name="connsiteY13" fmla="*/ 2609564 h 5200078"/>
              <a:gd name="connsiteX14" fmla="*/ 0 w 3428523"/>
              <a:gd name="connsiteY14" fmla="*/ 2590514 h 5200078"/>
              <a:gd name="connsiteX15" fmla="*/ 47339 w 3428523"/>
              <a:gd name="connsiteY15" fmla="*/ 2588609 h 5200078"/>
              <a:gd name="connsiteX16" fmla="*/ 430816 w 3428523"/>
              <a:gd name="connsiteY16" fmla="*/ 2457831 h 5200078"/>
              <a:gd name="connsiteX17" fmla="*/ 1286637 w 3428523"/>
              <a:gd name="connsiteY17" fmla="*/ 1644110 h 5200078"/>
              <a:gd name="connsiteX18" fmla="*/ 1559528 w 3428523"/>
              <a:gd name="connsiteY18" fmla="*/ 976408 h 5200078"/>
              <a:gd name="connsiteX19" fmla="*/ 1646873 w 3428523"/>
              <a:gd name="connsiteY19" fmla="*/ 555974 h 5200078"/>
              <a:gd name="connsiteX20" fmla="*/ 1704785 w 3428523"/>
              <a:gd name="connsiteY20" fmla="*/ 0 h 5200078"/>
              <a:gd name="connsiteX21" fmla="*/ 1723835 w 3428523"/>
              <a:gd name="connsiteY21" fmla="*/ 0 h 5200078"/>
              <a:gd name="connsiteX22" fmla="*/ 1733836 w 3428523"/>
              <a:gd name="connsiteY22" fmla="*/ 180023 h 5200078"/>
              <a:gd name="connsiteX23" fmla="*/ 1794796 w 3428523"/>
              <a:gd name="connsiteY23" fmla="*/ 658940 h 5200078"/>
              <a:gd name="connsiteX24" fmla="*/ 1999869 w 3428523"/>
              <a:gd name="connsiteY24" fmla="*/ 1355122 h 5200078"/>
              <a:gd name="connsiteX25" fmla="*/ 2372487 w 3428523"/>
              <a:gd name="connsiteY25" fmla="*/ 1973580 h 5200078"/>
              <a:gd name="connsiteX26" fmla="*/ 3102197 w 3428523"/>
              <a:gd name="connsiteY26" fmla="*/ 2503075 h 5200078"/>
              <a:gd name="connsiteX27" fmla="*/ 3428524 w 3428523"/>
              <a:gd name="connsiteY27" fmla="*/ 2590610 h 52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428523" h="5200078">
                <a:moveTo>
                  <a:pt x="3428524" y="2590610"/>
                </a:moveTo>
                <a:cubicBezTo>
                  <a:pt x="3428524" y="2596992"/>
                  <a:pt x="3428524" y="2603278"/>
                  <a:pt x="3428524" y="2609660"/>
                </a:cubicBezTo>
                <a:cubicBezTo>
                  <a:pt x="3350800" y="2627948"/>
                  <a:pt x="3272028" y="2642711"/>
                  <a:pt x="3195638" y="2665286"/>
                </a:cubicBezTo>
                <a:cubicBezTo>
                  <a:pt x="2962942" y="2734151"/>
                  <a:pt x="2760726" y="2858834"/>
                  <a:pt x="2579561" y="3017330"/>
                </a:cubicBezTo>
                <a:cubicBezTo>
                  <a:pt x="2253996" y="3302222"/>
                  <a:pt x="2049494" y="3665030"/>
                  <a:pt x="1915859" y="4070890"/>
                </a:cubicBezTo>
                <a:cubicBezTo>
                  <a:pt x="1846898" y="4280440"/>
                  <a:pt x="1792700" y="4494086"/>
                  <a:pt x="1770412" y="4714399"/>
                </a:cubicBezTo>
                <a:cubicBezTo>
                  <a:pt x="1754029" y="4876229"/>
                  <a:pt x="1739265" y="5038154"/>
                  <a:pt x="1723739" y="5200079"/>
                </a:cubicBezTo>
                <a:cubicBezTo>
                  <a:pt x="1717358" y="5200079"/>
                  <a:pt x="1711071" y="5200079"/>
                  <a:pt x="1704689" y="5200079"/>
                </a:cubicBezTo>
                <a:cubicBezTo>
                  <a:pt x="1701546" y="5140071"/>
                  <a:pt x="1701546" y="5079683"/>
                  <a:pt x="1694783" y="5020151"/>
                </a:cubicBezTo>
                <a:cubicBezTo>
                  <a:pt x="1676591" y="4860131"/>
                  <a:pt x="1663160" y="4699064"/>
                  <a:pt x="1634014" y="4541044"/>
                </a:cubicBezTo>
                <a:cubicBezTo>
                  <a:pt x="1579817" y="4247388"/>
                  <a:pt x="1494282" y="3962495"/>
                  <a:pt x="1360361" y="3693986"/>
                </a:cubicBezTo>
                <a:cubicBezTo>
                  <a:pt x="1256729" y="3486341"/>
                  <a:pt x="1128903" y="3295555"/>
                  <a:pt x="966788" y="3128391"/>
                </a:cubicBezTo>
                <a:cubicBezTo>
                  <a:pt x="787051" y="2943130"/>
                  <a:pt x="579977" y="2797493"/>
                  <a:pt x="340233" y="2701385"/>
                </a:cubicBezTo>
                <a:cubicBezTo>
                  <a:pt x="230981" y="2657570"/>
                  <a:pt x="120206" y="2614898"/>
                  <a:pt x="0" y="2609564"/>
                </a:cubicBezTo>
                <a:cubicBezTo>
                  <a:pt x="0" y="2603183"/>
                  <a:pt x="0" y="2596896"/>
                  <a:pt x="0" y="2590514"/>
                </a:cubicBezTo>
                <a:cubicBezTo>
                  <a:pt x="15812" y="2590038"/>
                  <a:pt x="32861" y="2593277"/>
                  <a:pt x="47339" y="2588609"/>
                </a:cubicBezTo>
                <a:cubicBezTo>
                  <a:pt x="175736" y="2546509"/>
                  <a:pt x="309086" y="2514600"/>
                  <a:pt x="430816" y="2457831"/>
                </a:cubicBezTo>
                <a:cubicBezTo>
                  <a:pt x="805625" y="2283047"/>
                  <a:pt x="1081088" y="1999583"/>
                  <a:pt x="1286637" y="1644110"/>
                </a:cubicBezTo>
                <a:cubicBezTo>
                  <a:pt x="1408176" y="1433894"/>
                  <a:pt x="1497616" y="1210247"/>
                  <a:pt x="1559528" y="976408"/>
                </a:cubicBezTo>
                <a:cubicBezTo>
                  <a:pt x="1596200" y="838200"/>
                  <a:pt x="1626775" y="697516"/>
                  <a:pt x="1646873" y="555974"/>
                </a:cubicBezTo>
                <a:cubicBezTo>
                  <a:pt x="1673066" y="371665"/>
                  <a:pt x="1686116" y="185452"/>
                  <a:pt x="1704785" y="0"/>
                </a:cubicBezTo>
                <a:cubicBezTo>
                  <a:pt x="1711166" y="0"/>
                  <a:pt x="1717453" y="0"/>
                  <a:pt x="1723835" y="0"/>
                </a:cubicBezTo>
                <a:cubicBezTo>
                  <a:pt x="1726978" y="60008"/>
                  <a:pt x="1727073" y="120396"/>
                  <a:pt x="1733836" y="180023"/>
                </a:cubicBezTo>
                <a:cubicBezTo>
                  <a:pt x="1752029" y="339947"/>
                  <a:pt x="1765078" y="501110"/>
                  <a:pt x="1794796" y="658940"/>
                </a:cubicBezTo>
                <a:cubicBezTo>
                  <a:pt x="1839563" y="897255"/>
                  <a:pt x="1904714" y="1130713"/>
                  <a:pt x="1999869" y="1355122"/>
                </a:cubicBezTo>
                <a:cubicBezTo>
                  <a:pt x="2094833" y="1579150"/>
                  <a:pt x="2214753" y="1788224"/>
                  <a:pt x="2372487" y="1973580"/>
                </a:cubicBezTo>
                <a:cubicBezTo>
                  <a:pt x="2572512" y="2208562"/>
                  <a:pt x="2812066" y="2393061"/>
                  <a:pt x="3102197" y="2503075"/>
                </a:cubicBezTo>
                <a:cubicBezTo>
                  <a:pt x="3206877" y="2542889"/>
                  <a:pt x="3319558" y="2562035"/>
                  <a:pt x="3428524" y="2590610"/>
                </a:cubicBezTo>
                <a:close/>
              </a:path>
            </a:pathLst>
          </a:custGeom>
          <a:solidFill>
            <a:schemeClr val="accent1">
              <a:lumMod val="75000"/>
              <a:alpha val="86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64922" tIns="32461" rIns="64922" bIns="32461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28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6" name="8"/>
          <p:cNvSpPr/>
          <p:nvPr/>
        </p:nvSpPr>
        <p:spPr>
          <a:xfrm>
            <a:off x="295228" y="-142653"/>
            <a:ext cx="928928" cy="928592"/>
          </a:xfrm>
          <a:prstGeom prst="ellipse">
            <a:avLst/>
          </a:prstGeom>
          <a:gradFill flip="none" rotWithShape="1">
            <a:gsLst>
              <a:gs pos="1000">
                <a:schemeClr val="accent1">
                  <a:lumMod val="10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7" name="8"/>
          <p:cNvSpPr/>
          <p:nvPr/>
        </p:nvSpPr>
        <p:spPr>
          <a:xfrm>
            <a:off x="2122468" y="3287559"/>
            <a:ext cx="526678" cy="526488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8" name="8"/>
          <p:cNvSpPr/>
          <p:nvPr/>
        </p:nvSpPr>
        <p:spPr>
          <a:xfrm>
            <a:off x="2500149" y="1494231"/>
            <a:ext cx="335200" cy="33507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sp>
        <p:nvSpPr>
          <p:cNvPr id="9" name="8"/>
          <p:cNvSpPr/>
          <p:nvPr/>
        </p:nvSpPr>
        <p:spPr>
          <a:xfrm>
            <a:off x="1109519" y="6005663"/>
            <a:ext cx="442980" cy="44282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13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kern="0" dirty="0">
              <a:solidFill>
                <a:srgbClr val="C00000"/>
              </a:solidFill>
              <a:latin typeface="思源黑体 CN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281" y="218315"/>
            <a:ext cx="858608" cy="85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323835" y="1674021"/>
            <a:ext cx="4165600" cy="4090987"/>
            <a:chOff x="1036637" y="1383507"/>
            <a:chExt cx="4165600" cy="4090987"/>
          </a:xfrm>
        </p:grpSpPr>
        <p:sp>
          <p:nvSpPr>
            <p:cNvPr id="2" name="空心弧 40"/>
            <p:cNvSpPr/>
            <p:nvPr/>
          </p:nvSpPr>
          <p:spPr bwMode="auto">
            <a:xfrm rot="5400000">
              <a:off x="1036637" y="1383507"/>
              <a:ext cx="4090987" cy="4090988"/>
            </a:xfrm>
            <a:custGeom>
              <a:avLst/>
              <a:gdLst>
                <a:gd name="T0" fmla="*/ 25473 w 4091171"/>
                <a:gd name="T1" fmla="*/ 2044203 h 4091173"/>
                <a:gd name="T2" fmla="*/ 4062946 w 4091171"/>
                <a:gd name="T3" fmla="*/ 2048278 h 4091173"/>
                <a:gd name="T4" fmla="*/ 2044221 w 4091171"/>
                <a:gd name="T5" fmla="*/ 2044206 h 4091173"/>
                <a:gd name="T6" fmla="*/ 5898240 60000 65536"/>
                <a:gd name="T7" fmla="*/ 5898240 60000 65536"/>
                <a:gd name="T8" fmla="*/ 5898240 60000 65536"/>
                <a:gd name="T9" fmla="*/ 0 w 4091171"/>
                <a:gd name="T10" fmla="*/ 0 h 4091173"/>
                <a:gd name="T11" fmla="*/ 4091171 w 4091171"/>
                <a:gd name="T12" fmla="*/ 2049726 h 40911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91171" h="4091173">
                  <a:moveTo>
                    <a:pt x="0" y="2045584"/>
                  </a:moveTo>
                  <a:lnTo>
                    <a:pt x="0" y="2045584"/>
                  </a:lnTo>
                  <a:cubicBezTo>
                    <a:pt x="1" y="915838"/>
                    <a:pt x="915840" y="-2"/>
                    <a:pt x="2045586" y="-1"/>
                  </a:cubicBezTo>
                  <a:cubicBezTo>
                    <a:pt x="3175331" y="-1"/>
                    <a:pt x="4091172" y="915839"/>
                    <a:pt x="4091172" y="2045586"/>
                  </a:cubicBezTo>
                  <a:cubicBezTo>
                    <a:pt x="4091172" y="2046966"/>
                    <a:pt x="4091170" y="2048347"/>
                    <a:pt x="4091167" y="2049727"/>
                  </a:cubicBezTo>
                  <a:lnTo>
                    <a:pt x="4040191" y="2049621"/>
                  </a:lnTo>
                  <a:lnTo>
                    <a:pt x="4040190" y="2049620"/>
                  </a:lnTo>
                  <a:cubicBezTo>
                    <a:pt x="4040193" y="2048276"/>
                    <a:pt x="4040195" y="2046931"/>
                    <a:pt x="4040195" y="2045587"/>
                  </a:cubicBezTo>
                  <a:cubicBezTo>
                    <a:pt x="4040195" y="943993"/>
                    <a:pt x="3147177" y="50976"/>
                    <a:pt x="2045585" y="50976"/>
                  </a:cubicBezTo>
                  <a:cubicBezTo>
                    <a:pt x="943992" y="50976"/>
                    <a:pt x="50975" y="943993"/>
                    <a:pt x="50975" y="2045587"/>
                  </a:cubicBezTo>
                  <a:cubicBezTo>
                    <a:pt x="50974" y="2045587"/>
                    <a:pt x="50975" y="2045588"/>
                    <a:pt x="50975" y="2045589"/>
                  </a:cubicBezTo>
                  <a:close/>
                </a:path>
              </a:pathLst>
            </a:custGeom>
            <a:solidFill>
              <a:srgbClr val="0848AF"/>
            </a:solidFill>
            <a:ln w="25400" cap="flat" cmpd="sng" algn="ctr">
              <a:solidFill>
                <a:srgbClr val="0848AF"/>
              </a:solidFill>
              <a:prstDash val="solid"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" name="椭圆 2"/>
            <p:cNvSpPr>
              <a:spLocks noChangeArrowheads="1"/>
            </p:cNvSpPr>
            <p:nvPr/>
          </p:nvSpPr>
          <p:spPr bwMode="auto">
            <a:xfrm>
              <a:off x="3814762" y="1421607"/>
              <a:ext cx="512763" cy="512762"/>
            </a:xfrm>
            <a:prstGeom prst="ellipse">
              <a:avLst/>
            </a:prstGeom>
            <a:solidFill>
              <a:srgbClr val="808080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" name="椭圆 3"/>
            <p:cNvSpPr>
              <a:spLocks noChangeArrowheads="1"/>
            </p:cNvSpPr>
            <p:nvPr/>
          </p:nvSpPr>
          <p:spPr bwMode="auto">
            <a:xfrm>
              <a:off x="4678362" y="2507457"/>
              <a:ext cx="512763" cy="512762"/>
            </a:xfrm>
            <a:prstGeom prst="ellipse">
              <a:avLst/>
            </a:prstGeom>
            <a:solidFill>
              <a:srgbClr val="808080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" name="椭圆 4"/>
            <p:cNvSpPr>
              <a:spLocks noChangeArrowheads="1"/>
            </p:cNvSpPr>
            <p:nvPr/>
          </p:nvSpPr>
          <p:spPr bwMode="auto">
            <a:xfrm>
              <a:off x="4689475" y="3775869"/>
              <a:ext cx="512762" cy="512763"/>
            </a:xfrm>
            <a:prstGeom prst="ellipse">
              <a:avLst/>
            </a:prstGeom>
            <a:solidFill>
              <a:srgbClr val="808080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" name="椭圆 5"/>
            <p:cNvSpPr>
              <a:spLocks noChangeArrowheads="1"/>
            </p:cNvSpPr>
            <p:nvPr/>
          </p:nvSpPr>
          <p:spPr bwMode="auto">
            <a:xfrm>
              <a:off x="3819525" y="4891882"/>
              <a:ext cx="512762" cy="512762"/>
            </a:xfrm>
            <a:prstGeom prst="ellipse">
              <a:avLst/>
            </a:prstGeom>
            <a:solidFill>
              <a:srgbClr val="808080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auto">
            <a:xfrm>
              <a:off x="1379537" y="1834357"/>
              <a:ext cx="3160713" cy="3160712"/>
            </a:xfrm>
            <a:prstGeom prst="ellipse">
              <a:avLst/>
            </a:prstGeom>
            <a:solidFill>
              <a:srgbClr val="0848AF"/>
            </a:solidFill>
            <a:ln w="12700" algn="ctr">
              <a:solidFill>
                <a:schemeClr val="accent1">
                  <a:lumMod val="40000"/>
                  <a:lumOff val="60000"/>
                </a:schemeClr>
              </a:solidFill>
              <a:miter lim="800000"/>
            </a:ln>
          </p:spPr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>
              <a:spLocks noChangeArrowheads="1"/>
            </p:cNvSpPr>
            <p:nvPr/>
          </p:nvSpPr>
          <p:spPr bwMode="auto">
            <a:xfrm>
              <a:off x="1944239" y="3105839"/>
              <a:ext cx="2185195" cy="6463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1431" tIns="45716" rIns="91431" bIns="45716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defTabSz="912495"/>
              <a:r>
                <a:rPr lang="zh-CN" altLang="en-US" sz="3600" b="1" spc="300" dirty="0">
                  <a:solidFill>
                    <a:schemeClr val="bg1"/>
                  </a:solidFill>
                  <a:latin typeface="+mj-ea"/>
                  <a:ea typeface="+mj-ea"/>
                </a:rPr>
                <a:t>可推广性</a:t>
              </a: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562225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04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8" name="标题 1"/>
          <p:cNvSpPr txBox="1"/>
          <p:nvPr/>
        </p:nvSpPr>
        <p:spPr>
          <a:xfrm>
            <a:off x="1381729" y="355600"/>
            <a:ext cx="3088671" cy="593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  <a:cs typeface="OPPOSans H"/>
              </a:rPr>
              <a:t>可推广性</a:t>
            </a:r>
            <a:endParaRPr kumimoji="1" lang="zh-CN" altLang="en-US" sz="11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177979" y="1834243"/>
            <a:ext cx="2704957" cy="1256030"/>
            <a:chOff x="8756" y="4561"/>
            <a:chExt cx="5157" cy="1978"/>
          </a:xfrm>
        </p:grpSpPr>
        <p:sp>
          <p:nvSpPr>
            <p:cNvPr id="41" name="文本框 40"/>
            <p:cNvSpPr txBox="1"/>
            <p:nvPr/>
          </p:nvSpPr>
          <p:spPr>
            <a:xfrm>
              <a:off x="8756" y="4561"/>
              <a:ext cx="4903" cy="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10000"/>
                </a:lnSpc>
                <a:defRPr b="1" spc="16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阿里巴巴普惠体" panose="00020600040101010101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bg1">
                      <a:lumMod val="65000"/>
                    </a:schemeClr>
                  </a:solidFill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bg1">
                      <a:lumMod val="65000"/>
                    </a:schemeClr>
                  </a:solidFill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  <a:sym typeface="阿里巴巴普惠体" panose="00020600040101010101" charset="-122"/>
                </a:rPr>
                <a:t>降本增效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756" y="5069"/>
              <a:ext cx="5157" cy="14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200" spc="16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</a:defRPr>
              </a:lvl1pPr>
            </a:lstStyle>
            <a:p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替代部分人工咨询工作，</a:t>
              </a:r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减少人力成本</a:t>
              </a:r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，同时提升响应效率，</a:t>
              </a:r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支持</a:t>
              </a:r>
              <a:r>
                <a:rPr lang="en-US" altLang="zh-CN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24/7</a:t>
              </a:r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全天候服务</a:t>
              </a:r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。 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181375" y="3674516"/>
            <a:ext cx="2948697" cy="1537335"/>
            <a:chOff x="8756" y="4521"/>
            <a:chExt cx="4903" cy="2421"/>
          </a:xfrm>
        </p:grpSpPr>
        <p:sp>
          <p:nvSpPr>
            <p:cNvPr id="44" name="文本框 43"/>
            <p:cNvSpPr txBox="1"/>
            <p:nvPr/>
          </p:nvSpPr>
          <p:spPr>
            <a:xfrm>
              <a:off x="8756" y="4521"/>
              <a:ext cx="4903" cy="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10000"/>
                </a:lnSpc>
                <a:defRPr b="1" spc="16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阿里巴巴普惠体" panose="00020600040101010101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bg1">
                      <a:lumMod val="65000"/>
                    </a:schemeClr>
                  </a:solidFill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bg1">
                      <a:lumMod val="65000"/>
                    </a:schemeClr>
                  </a:solidFill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  <a:sym typeface="阿里巴巴普惠体" panose="00020600040101010101" charset="-122"/>
                </a:rPr>
                <a:t>高效服务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756" y="5101"/>
              <a:ext cx="4787" cy="18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200" spc="16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</a:defRPr>
              </a:lvl1pPr>
            </a:lstStyle>
            <a:p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通过精准回答用户问题、业务流程解答等功能，满足公众需求，</a:t>
              </a:r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全面提升政务服务效率与公众满意度</a:t>
              </a:r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。 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471924" y="3649121"/>
            <a:ext cx="2860980" cy="979170"/>
            <a:chOff x="8701" y="4537"/>
            <a:chExt cx="4958" cy="1542"/>
          </a:xfrm>
        </p:grpSpPr>
        <p:sp>
          <p:nvSpPr>
            <p:cNvPr id="47" name="文本框 46"/>
            <p:cNvSpPr txBox="1"/>
            <p:nvPr/>
          </p:nvSpPr>
          <p:spPr>
            <a:xfrm>
              <a:off x="8756" y="4537"/>
              <a:ext cx="4903" cy="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10000"/>
                </a:lnSpc>
                <a:defRPr b="1" spc="16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阿里巴巴普惠体" panose="00020600040101010101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bg1">
                      <a:lumMod val="65000"/>
                    </a:schemeClr>
                  </a:solidFill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bg1">
                      <a:lumMod val="65000"/>
                    </a:schemeClr>
                  </a:solidFill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  <a:sym typeface="阿里巴巴普惠体" panose="00020600040101010101" charset="-122"/>
                </a:rPr>
                <a:t>助力政府决策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701" y="5120"/>
              <a:ext cx="4663" cy="9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200" spc="16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</a:defRPr>
              </a:lvl1pPr>
            </a:lstStyle>
            <a:p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通过收集和分析数据，</a:t>
              </a:r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识别民生痛点，为政府决策提供数据支持</a:t>
              </a:r>
              <a:endParaRPr lang="zh-CN" altLang="en-US" sz="14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8450904" y="1834243"/>
            <a:ext cx="3067327" cy="1257300"/>
            <a:chOff x="8756" y="4521"/>
            <a:chExt cx="4903" cy="1980"/>
          </a:xfrm>
        </p:grpSpPr>
        <p:sp>
          <p:nvSpPr>
            <p:cNvPr id="50" name="文本框 49"/>
            <p:cNvSpPr txBox="1"/>
            <p:nvPr/>
          </p:nvSpPr>
          <p:spPr>
            <a:xfrm>
              <a:off x="8756" y="4521"/>
              <a:ext cx="4903" cy="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10000"/>
                </a:lnSpc>
                <a:defRPr b="1" spc="16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阿里巴巴普惠体" panose="00020600040101010101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1200">
                  <a:solidFill>
                    <a:schemeClr val="bg1">
                      <a:lumMod val="65000"/>
                    </a:schemeClr>
                  </a:solidFill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100">
                  <a:solidFill>
                    <a:schemeClr val="bg1">
                      <a:lumMod val="65000"/>
                    </a:schemeClr>
                  </a:solidFill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050">
                  <a:solidFill>
                    <a:schemeClr val="bg1">
                      <a:lumMod val="65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  <a:sym typeface="阿里巴巴普惠体" panose="00020600040101010101" charset="-122"/>
                </a:rPr>
                <a:t>方便快捷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756" y="5101"/>
              <a:ext cx="4787" cy="14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200" spc="16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</a:defRPr>
              </a:lvl1pPr>
            </a:lstStyle>
            <a:p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部署便捷</a:t>
              </a:r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，</a:t>
              </a:r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功能全面</a:t>
              </a:r>
              <a:r>
                <a:rPr lang="zh-CN" altLang="en-US" sz="1400" spc="16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，涵盖政策解读与文件处理，满足多元政务需求，</a:t>
              </a:r>
              <a:r>
                <a:rPr lang="zh-CN" altLang="en-US" sz="1600" b="1" spc="160" dirty="0">
                  <a:solidFill>
                    <a:srgbClr val="FF0000"/>
                  </a:solidFill>
                  <a:latin typeface="+mn-ea"/>
                  <a:cs typeface="阿里巴巴普惠体" panose="00020600040101010101" charset="-122"/>
                  <a:sym typeface="阿里巴巴普惠体" panose="00020600040101010101" charset="-122"/>
                </a:rPr>
                <a:t>操作简便，交互友好。</a:t>
              </a:r>
              <a:endParaRPr lang="zh-CN" altLang="en-US" sz="1400" b="1" spc="160" dirty="0">
                <a:solidFill>
                  <a:srgbClr val="FF0000"/>
                </a:solidFill>
                <a:latin typeface="+mn-ea"/>
                <a:cs typeface="阿里巴巴普惠体" panose="00020600040101010101" charset="-122"/>
                <a:sym typeface="阿里巴巴普惠体" panose="00020600040101010101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 flipH="1">
            <a:off x="7627178" y="5728199"/>
            <a:ext cx="6736366" cy="2156119"/>
            <a:chOff x="0" y="4480"/>
            <a:chExt cx="11185" cy="3580"/>
          </a:xfrm>
        </p:grpSpPr>
        <p:sp>
          <p:nvSpPr>
            <p:cNvPr id="57" name="五边形 3"/>
            <p:cNvSpPr>
              <a:spLocks noChangeArrowheads="1"/>
            </p:cNvSpPr>
            <p:nvPr/>
          </p:nvSpPr>
          <p:spPr bwMode="auto">
            <a:xfrm>
              <a:off x="0" y="5103"/>
              <a:ext cx="11185" cy="1835"/>
            </a:xfrm>
            <a:prstGeom prst="homePlate">
              <a:avLst>
                <a:gd name="adj" fmla="val 47973"/>
              </a:avLst>
            </a:prstGeom>
            <a:noFill/>
            <a:ln w="25400" algn="ctr">
              <a:solidFill>
                <a:srgbClr val="0848AF"/>
              </a:solidFill>
              <a:prstDash val="dash"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/>
            </a:p>
          </p:txBody>
        </p:sp>
        <p:sp>
          <p:nvSpPr>
            <p:cNvPr id="58" name="燕尾形 2"/>
            <p:cNvSpPr>
              <a:spLocks noChangeArrowheads="1"/>
            </p:cNvSpPr>
            <p:nvPr/>
          </p:nvSpPr>
          <p:spPr bwMode="auto">
            <a:xfrm>
              <a:off x="1508" y="5098"/>
              <a:ext cx="1675" cy="1820"/>
            </a:xfrm>
            <a:prstGeom prst="chevron">
              <a:avLst>
                <a:gd name="adj" fmla="val 54431"/>
              </a:avLst>
            </a:prstGeom>
            <a:solidFill>
              <a:srgbClr val="0848AF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latin typeface="Calibri" panose="020F0502020204030204" pitchFamily="34" charset="0"/>
              </a:endParaRPr>
            </a:p>
          </p:txBody>
        </p:sp>
        <p:sp>
          <p:nvSpPr>
            <p:cNvPr id="59" name="燕尾形 4"/>
            <p:cNvSpPr>
              <a:spLocks noChangeArrowheads="1"/>
            </p:cNvSpPr>
            <p:nvPr/>
          </p:nvSpPr>
          <p:spPr bwMode="auto">
            <a:xfrm>
              <a:off x="2678" y="5098"/>
              <a:ext cx="1677" cy="1820"/>
            </a:xfrm>
            <a:prstGeom prst="chevron">
              <a:avLst>
                <a:gd name="adj" fmla="val 54431"/>
              </a:avLst>
            </a:prstGeom>
            <a:solidFill>
              <a:srgbClr val="0848AF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latin typeface="Calibri" panose="020F0502020204030204" pitchFamily="34" charset="0"/>
              </a:endParaRPr>
            </a:p>
          </p:txBody>
        </p:sp>
        <p:sp>
          <p:nvSpPr>
            <p:cNvPr id="60" name="燕尾形 5"/>
            <p:cNvSpPr>
              <a:spLocks noChangeArrowheads="1"/>
            </p:cNvSpPr>
            <p:nvPr/>
          </p:nvSpPr>
          <p:spPr bwMode="auto">
            <a:xfrm>
              <a:off x="3848" y="5098"/>
              <a:ext cx="1677" cy="1820"/>
            </a:xfrm>
            <a:prstGeom prst="chevron">
              <a:avLst>
                <a:gd name="adj" fmla="val 54431"/>
              </a:avLst>
            </a:prstGeom>
            <a:solidFill>
              <a:srgbClr val="0848AF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latin typeface="Calibri" panose="020F0502020204030204" pitchFamily="34" charset="0"/>
              </a:endParaRPr>
            </a:p>
          </p:txBody>
        </p:sp>
        <p:sp>
          <p:nvSpPr>
            <p:cNvPr id="61" name="燕尾形 6"/>
            <p:cNvSpPr>
              <a:spLocks noChangeArrowheads="1"/>
            </p:cNvSpPr>
            <p:nvPr/>
          </p:nvSpPr>
          <p:spPr bwMode="auto">
            <a:xfrm>
              <a:off x="5018" y="5098"/>
              <a:ext cx="1677" cy="1820"/>
            </a:xfrm>
            <a:prstGeom prst="chevron">
              <a:avLst>
                <a:gd name="adj" fmla="val 54431"/>
              </a:avLst>
            </a:prstGeom>
            <a:solidFill>
              <a:srgbClr val="0848AF"/>
            </a:solidFill>
            <a:ln w="25400" algn="ctr">
              <a:noFill/>
              <a:miter lim="800000"/>
            </a:ln>
          </p:spPr>
          <p:txBody>
            <a:bodyPr lIns="91431" tIns="45716" rIns="91431" bIns="45716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2495"/>
              <a:endParaRPr lang="zh-CN" altLang="en-US" sz="2400">
                <a:latin typeface="Calibri" panose="020F0502020204030204" pitchFamily="34" charset="0"/>
              </a:endParaRPr>
            </a:p>
          </p:txBody>
        </p:sp>
        <p:pic>
          <p:nvPicPr>
            <p:cNvPr id="62" name="组合 30"/>
            <p:cNvPicPr preferRelativeResize="0">
              <a:picLocks noChangeAspect="1" noChangeArrowheads="1"/>
            </p:cNvPicPr>
            <p:nvPr/>
          </p:nvPicPr>
          <p:blipFill>
            <a:blip r:embed="rId2">
              <a:lum bright="-100000"/>
            </a:blip>
            <a:srcRect/>
            <a:stretch>
              <a:fillRect/>
            </a:stretch>
          </p:blipFill>
          <p:spPr bwMode="auto">
            <a:xfrm>
              <a:off x="6643" y="4480"/>
              <a:ext cx="3707" cy="358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226" y="3823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04</a:t>
            </a:r>
            <a:endParaRPr lang="zh-CN" altLang="en-US" sz="3600" b="1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81729" y="359383"/>
            <a:ext cx="6035071" cy="58618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200" b="1" spc="300" dirty="0">
                <a:ln w="12700">
                  <a:noFill/>
                </a:ln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项目成果</a:t>
            </a:r>
            <a:endParaRPr kumimoji="1" lang="zh-CN" altLang="en-US" sz="1100" b="1" spc="3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21001" y="1109332"/>
            <a:ext cx="7576359" cy="162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现阶段</a:t>
            </a:r>
            <a:endParaRPr lang="en-US" altLang="zh-CN" b="1" dirty="0">
              <a:solidFill>
                <a:srgbClr val="060607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1600" i="0" dirty="0">
                <a:effectLst/>
                <a:latin typeface="-apple-system"/>
              </a:rPr>
              <a:t>目前已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基于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DeepSeek 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大模型</a:t>
            </a:r>
            <a:r>
              <a:rPr lang="zh-CN" altLang="en-US" sz="1600" i="0" dirty="0">
                <a:effectLst/>
                <a:latin typeface="-apple-system"/>
              </a:rPr>
              <a:t>构建了卓越的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智能问答系统，整合多模态数据和实时交互技术，支持智能公文处理</a:t>
            </a:r>
            <a:r>
              <a:rPr lang="zh-CN" altLang="en-US" sz="1600" b="1" dirty="0">
                <a:solidFill>
                  <a:srgbClr val="FF0000"/>
                </a:solidFill>
                <a:latin typeface="-apple-system"/>
              </a:rPr>
              <a:t>、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公有云和私有</a:t>
            </a:r>
            <a:r>
              <a:rPr lang="zh-CN" altLang="en-US" sz="1600" b="1" dirty="0">
                <a:solidFill>
                  <a:srgbClr val="FF0000"/>
                </a:solidFill>
                <a:latin typeface="-apple-system"/>
              </a:rPr>
              <a:t>云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部署，语音识别及数据整合分析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，保障数据安全并优化算力资源。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42" y="1727097"/>
            <a:ext cx="3167343" cy="3167343"/>
          </a:xfrm>
          <a:prstGeom prst="rect">
            <a:avLst/>
          </a:prstGeom>
          <a:effectLst/>
        </p:spPr>
      </p:pic>
      <p:sp>
        <p:nvSpPr>
          <p:cNvPr id="6" name="文本框 5"/>
          <p:cNvSpPr txBox="1"/>
          <p:nvPr/>
        </p:nvSpPr>
        <p:spPr>
          <a:xfrm>
            <a:off x="799734" y="5004669"/>
            <a:ext cx="3283759" cy="584775"/>
          </a:xfrm>
          <a:prstGeom prst="rect">
            <a:avLst/>
          </a:prstGeom>
          <a:noFill/>
          <a:effectLst>
            <a:outerShdw blurRad="12700" dist="38100" dir="5400000" algn="t" rotWithShape="0">
              <a:schemeClr val="accent1">
                <a:lumMod val="50000"/>
                <a:alpha val="30000"/>
              </a:scheme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政小智</a:t>
            </a:r>
            <a:r>
              <a:rPr lang="en-US" altLang="zh-CN" sz="3200" b="1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Seek</a:t>
            </a:r>
            <a:r>
              <a:rPr lang="en-US" altLang="zh-CN" sz="3200" b="1" dirty="0">
                <a:solidFill>
                  <a:srgbClr val="036DD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Gov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21001" y="4690801"/>
            <a:ext cx="7576358" cy="161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未来展望</a:t>
            </a:r>
            <a:endParaRPr lang="en-US" altLang="zh-CN" b="1" i="0" dirty="0">
              <a:solidFill>
                <a:srgbClr val="060607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项目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将持续优化政小智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SeekGov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的性能和功能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，深耕复杂政务任务处理，无论是办理业务、咨询政策，还是获取公共服务，政小智都将提供精准、快速、贴心的支持，成为公众与政府之间的智能桥梁。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4321000" y="3087009"/>
            <a:ext cx="7576359" cy="12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不足之处</a:t>
            </a:r>
            <a:endParaRPr lang="en-US" altLang="zh-CN" b="1" i="0" dirty="0">
              <a:solidFill>
                <a:srgbClr val="060607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en-US" altLang="zh-CN" b="0" i="0" dirty="0" err="1">
                <a:solidFill>
                  <a:srgbClr val="060607"/>
                </a:solidFill>
                <a:effectLst/>
                <a:latin typeface="-apple-system"/>
              </a:rPr>
              <a:t>SeekGov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基座在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-apple-system"/>
              </a:rPr>
              <a:t>推理链条、长文本处理、多模态协同及运维效率等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方面存在不足，需优化推理算法、提升长文本效率、增强模态融合能力，并完善自动化运维机制。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6510659" y="4108771"/>
            <a:ext cx="453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spc="300" dirty="0">
                <a:solidFill>
                  <a:schemeClr val="accent1">
                    <a:lumMod val="60000"/>
                    <a:lumOff val="40000"/>
                    <a:alpha val="62000"/>
                  </a:schemeClr>
                </a:solidFill>
                <a:latin typeface="+mn-ea"/>
              </a:rPr>
              <a:t>THANKS FOR YOU WATCHING</a:t>
            </a:r>
            <a:endParaRPr lang="zh-CN" altLang="en-US" sz="2000" spc="300" dirty="0">
              <a:solidFill>
                <a:schemeClr val="accent1">
                  <a:lumMod val="60000"/>
                  <a:lumOff val="40000"/>
                  <a:alpha val="62000"/>
                </a:schemeClr>
              </a:solidFill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430637" y="2697461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感谢观看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31638" y="1412098"/>
            <a:ext cx="5843430" cy="4859408"/>
            <a:chOff x="611724" y="1257930"/>
            <a:chExt cx="6214204" cy="516774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hqprint"/>
            <a:srcRect l="37505" t="15449" r="2784" b="10067"/>
            <a:stretch>
              <a:fillRect/>
            </a:stretch>
          </p:blipFill>
          <p:spPr>
            <a:xfrm>
              <a:off x="611724" y="1257930"/>
              <a:ext cx="6214204" cy="5167744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6195" y="2246102"/>
              <a:ext cx="4315860" cy="366716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5f7c0f4d-90a7-4271-b925-23673f9ed55f&quot;,&quot;Name&quot;:&quot;222&quot;,&quot;Kind&quot;:1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84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0A81FC"/>
      </a:accent1>
      <a:accent2>
        <a:srgbClr val="0A81FC"/>
      </a:accent2>
      <a:accent3>
        <a:srgbClr val="494AEC"/>
      </a:accent3>
      <a:accent4>
        <a:srgbClr val="F3C563"/>
      </a:accent4>
      <a:accent5>
        <a:srgbClr val="D65879"/>
      </a:accent5>
      <a:accent6>
        <a:srgbClr val="D65879"/>
      </a:accent6>
      <a:hlink>
        <a:srgbClr val="467886"/>
      </a:hlink>
      <a:folHlink>
        <a:srgbClr val="96607D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1CFEC6">
                <a:alpha val="0"/>
              </a:srgbClr>
            </a:gs>
            <a:gs pos="0">
              <a:schemeClr val="accent1">
                <a:alpha val="53000"/>
              </a:schemeClr>
            </a:gs>
          </a:gsLst>
          <a:lin ang="0" scaled="1"/>
          <a:tileRect/>
        </a:gradFill>
        <a:ln>
          <a:noFill/>
        </a:ln>
      </a:spPr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3908</Words>
  <Application>Microsoft Office PowerPoint</Application>
  <PresentationFormat>宽屏</PresentationFormat>
  <Paragraphs>691</Paragraphs>
  <Slides>31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-apple-system</vt:lpstr>
      <vt:lpstr>Helvetica Light</vt:lpstr>
      <vt:lpstr>Huawei Sans</vt:lpstr>
      <vt:lpstr>Inter</vt:lpstr>
      <vt:lpstr>阿里巴巴普惠体</vt:lpstr>
      <vt:lpstr>等线</vt:lpstr>
      <vt:lpstr>思源黑体 CN</vt:lpstr>
      <vt:lpstr>思源黑体 CN Regular</vt:lpstr>
      <vt:lpstr>微软雅黑</vt:lpstr>
      <vt:lpstr>微软雅黑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范冰冰</dc:creator>
  <cp:lastModifiedBy>相跃 李</cp:lastModifiedBy>
  <cp:revision>154</cp:revision>
  <dcterms:created xsi:type="dcterms:W3CDTF">2025-01-03T03:21:00Z</dcterms:created>
  <dcterms:modified xsi:type="dcterms:W3CDTF">2025-04-07T04:05:44Z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B127AA73847244D0B875146F5FB0928E_12</vt:lpwstr>
  </property>
  <property fmtid="{D5CDD505-2E9C-101B-9397-08002B2CF9AE}" pid="3" name="KSOProductBuildVer">
    <vt:lpwstr>2052-12.1.0.20305</vt:lpwstr>
  </property>
</Properties>
</file>